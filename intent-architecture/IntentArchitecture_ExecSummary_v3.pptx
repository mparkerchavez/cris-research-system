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
</a:t>
            </a:r>
            <a:pPr indent="0" marL="0">
              <a:buNone/>
            </a:pPr>
            <a:r>
              <a:rPr lang="en-US" sz="5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3657600" cy="0"/>
          </a:xfrm>
          <a:prstGeom prst="line">
            <a:avLst/>
          </a:prstGeom>
          <a:noFill/>
          <a:ln w="25400">
            <a:solidFill>
              <a:srgbClr val="E879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by Design  ·  Maicol Parker-Chavez  ·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Deployed the Tool. Is It Working?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Fortune 500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Copilot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41732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41732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5544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520440" y="22402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M365 users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paid users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772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businesses are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for AI tools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3154680"/>
            <a:ext cx="2514600" cy="155448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3154680"/>
            <a:ext cx="251460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2918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3520440" y="39776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using AI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Microsoft FY26 Q1 Earnings; The Register/Microsoft FY26 Q2.  [3] Section, AI Proficiency Report, Jan 2026.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 SHOWED UP.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STRATEGY DIDN'T.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7315200" cy="0"/>
          </a:xfrm>
          <a:prstGeom prst="line">
            <a:avLst/>
          </a:prstGeom>
          <a:noFill/>
          <a:ln w="12700">
            <a:solidFill>
              <a:srgbClr val="7A8B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is not impact. Organizations generating AI activity without defined organizational intent are paying for tools that produce adoption metrics but not business outcomes.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731520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794760"/>
            <a:ext cx="54864" cy="8229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8404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looks like higher productivity in the short run can mask silent workload creep and growing cognitive strain."</a:t>
            </a:r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Ranganathan &amp; Ye, “AI Doesn’t Reduce Work — It Intensifies It,” HBR, Feb 2026 [5]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PROFICIENCY REALITY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70% Problem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201875" cy="1097280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22018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841955" y="1463040"/>
            <a:ext cx="5504688" cy="1097280"/>
          </a:xfrm>
          <a:prstGeom prst="rect">
            <a:avLst/>
          </a:prstGeom>
          <a:solidFill>
            <a:srgbClr val="243352"/>
          </a:solidFill>
          <a:ln/>
        </p:spPr>
      </p:sp>
      <p:sp>
        <p:nvSpPr>
          <p:cNvPr id="8" name="Shape 6"/>
          <p:cNvSpPr/>
          <p:nvPr/>
        </p:nvSpPr>
        <p:spPr>
          <a:xfrm>
            <a:off x="2841955" y="1463040"/>
            <a:ext cx="5504688" cy="54864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9" name="Text 7"/>
          <p:cNvSpPr/>
          <p:nvPr/>
        </p:nvSpPr>
        <p:spPr>
          <a:xfrm>
            <a:off x="2841955" y="1554480"/>
            <a:ext cx="5504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Experimenter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8346643" y="1463040"/>
            <a:ext cx="157277" cy="1097280"/>
          </a:xfrm>
          <a:prstGeom prst="rect">
            <a:avLst/>
          </a:prstGeom>
          <a:solidFill>
            <a:srgbClr val="1A2A4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~2% </a:t>
            </a:r>
            <a:pPr algn="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Practitioner    </a:t>
            </a:r>
            <a:pPr algn="r" indent="0" marL="0">
              <a:buNone/>
            </a:pPr>
            <a:r>
              <a:rPr lang="en-US" sz="1100" b="1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0.1% </a:t>
            </a:r>
            <a:pPr algn="r" indent="0" marL="0">
              <a:buNone/>
            </a:pPr>
            <a:r>
              <a:rPr lang="en-US" sz="10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70% majority uses AI for basic tasks: summaries, rewrites, quick answers. They have not connected it to their specific workflows, team goals, or business outcomes.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8229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54864" cy="8229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 (&lt;3%) put AI to use in their workflows and see significant productivity gains. The gap between Experimenter and Practitioner is the gap between basic use and business results.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Section, AI Proficiency Report, Jan 2026.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Intent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modules. Each produces a decision, not just an insight.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240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AI supposed to accomplish?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556" y="3026664"/>
            <a:ext cx="164592" cy="1645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313432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313432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1"/>
          <p:cNvSpPr/>
          <p:nvPr/>
        </p:nvSpPr>
        <p:spPr>
          <a:xfrm>
            <a:off x="2313432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8648" y="2240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404872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the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404872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proficiency, and measurement.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908" y="3026664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986784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3986784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2" name="Text 16"/>
          <p:cNvSpPr/>
          <p:nvPr/>
        </p:nvSpPr>
        <p:spPr>
          <a:xfrm>
            <a:off x="3986784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240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078224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078224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ceiling, measurement, or intent.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9260" y="3026664"/>
            <a:ext cx="164592" cy="16459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660136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660136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9" name="Text 21"/>
          <p:cNvSpPr/>
          <p:nvPr/>
        </p:nvSpPr>
        <p:spPr>
          <a:xfrm>
            <a:off x="5660136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224028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51576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</a:t>
            </a:r>
            <a:endParaRPr lang="en-US" sz="1200" dirty="0"/>
          </a:p>
        </p:txBody>
      </p:sp>
      <p:sp>
        <p:nvSpPr>
          <p:cNvPr id="32" name="Text 23"/>
          <p:cNvSpPr/>
          <p:nvPr/>
        </p:nvSpPr>
        <p:spPr>
          <a:xfrm>
            <a:off x="5751576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sequenced intentionally.</a:t>
            </a:r>
            <a:endParaRPr lang="en-US" sz="10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2612" y="3026664"/>
            <a:ext cx="164592" cy="164592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333488" y="1691640"/>
            <a:ext cx="1536192" cy="28346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333488" y="1691640"/>
            <a:ext cx="1536192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6" name="Text 26"/>
          <p:cNvSpPr/>
          <p:nvPr/>
        </p:nvSpPr>
        <p:spPr>
          <a:xfrm>
            <a:off x="7333488" y="1828800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8704" y="2240280"/>
            <a:ext cx="365760" cy="36576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24928" y="274320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</a:t>
            </a:r>
            <a:endParaRPr lang="en-US" sz="1200" dirty="0"/>
          </a:p>
        </p:txBody>
      </p:sp>
      <p:sp>
        <p:nvSpPr>
          <p:cNvPr id="39" name="Text 28"/>
          <p:cNvSpPr/>
          <p:nvPr/>
        </p:nvSpPr>
        <p:spPr>
          <a:xfrm>
            <a:off x="7424928" y="347472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the agentic future.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03: NAME THE GAP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Gaps. Three Prescriptions.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Ceiling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productivity is real, but the tool has reached its ceiling. You need the next phase.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individual augmentation to workflow automation.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2900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6118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Gap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1188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activity is happening. Results are invisible. Level 2 feels like you are done. You are not.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1188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three-pillar KPI system: Usage → Automations → Department Impact.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1417320"/>
            <a:ext cx="2606040" cy="3200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5544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Gap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0" y="2423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deepest gap. Activity is happening. Nobody defined what it is supposed to accomplish.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3832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7033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Module 1. Define the intent before expanding further.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04: DESIGN THE PATH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 Sequenced Intentionally.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5544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 Your Workforce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7–8%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77724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equivalent savings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70% Experimenter majority toward repeatable AI use. Build adoption infrastructure.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2900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2900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5448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1188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1188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Workflows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42900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 FTE</a:t>
            </a:r>
            <a:endParaRPr lang="en-US" sz="3400" dirty="0"/>
          </a:p>
        </p:txBody>
      </p:sp>
      <p:sp>
        <p:nvSpPr>
          <p:cNvPr id="22" name="Text 18"/>
          <p:cNvSpPr/>
          <p:nvPr/>
        </p:nvSpPr>
        <p:spPr>
          <a:xfrm>
            <a:off x="356616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per 1K employees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61188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1188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worker-to-agent ratio. 1–3 agentic applications per division with consistent weekly usage.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217920" y="1417320"/>
            <a:ext cx="2606040" cy="3291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217920" y="1417320"/>
            <a:ext cx="2606040" cy="4572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7" name="Text 23"/>
          <p:cNvSpPr/>
          <p:nvPr/>
        </p:nvSpPr>
        <p:spPr>
          <a:xfrm>
            <a:off x="64008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554480"/>
            <a:ext cx="320040" cy="3200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00800" y="19202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400800" y="21945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Core Processes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217920" y="260604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$5.5M</a:t>
            </a:r>
            <a:endParaRPr lang="en-US" sz="3400" dirty="0"/>
          </a:p>
        </p:txBody>
      </p:sp>
      <p:sp>
        <p:nvSpPr>
          <p:cNvPr id="32" name="Text 27"/>
          <p:cNvSpPr/>
          <p:nvPr/>
        </p:nvSpPr>
        <p:spPr>
          <a:xfrm>
            <a:off x="6355080" y="31546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savings (ServiceNow)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400800" y="3611880"/>
            <a:ext cx="224028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400800" y="37490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ticket deflection, 20% case avoidance, incidents closed in half the time. AI reshapes how an entire function operates.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4008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Section, AI Proficiency Report &amp; Measure AI Success, 2026.  [9] ServiceNow, Now on Now internal deployment.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E879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Step Is a Conversation.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conversation to roadmap in four to six weeks.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intent session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740" y="2880360"/>
            <a:ext cx="137160" cy="1371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65176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3" name="Text 9"/>
          <p:cNvSpPr/>
          <p:nvPr/>
        </p:nvSpPr>
        <p:spPr>
          <a:xfrm>
            <a:off x="278892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8892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audit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20" y="2880360"/>
            <a:ext cx="137160" cy="1371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6344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18" name="Text 13"/>
          <p:cNvSpPr/>
          <p:nvPr/>
        </p:nvSpPr>
        <p:spPr>
          <a:xfrm>
            <a:off x="480060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0060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diagnosis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100" y="2880360"/>
            <a:ext cx="137160" cy="1371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675120" y="2468880"/>
            <a:ext cx="1828800" cy="100584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675120" y="2468880"/>
            <a:ext cx="1828800" cy="36576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23" name="Text 17"/>
          <p:cNvSpPr/>
          <p:nvPr/>
        </p:nvSpPr>
        <p:spPr>
          <a:xfrm>
            <a:off x="6812280" y="25786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81228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design workshop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794760"/>
            <a:ext cx="7772400" cy="0"/>
          </a:xfrm>
          <a:prstGeom prst="line">
            <a:avLst/>
          </a:prstGeom>
          <a:noFill/>
          <a:ln w="6350">
            <a:solidFill>
              <a:srgbClr val="7A8BA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79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BY DESIGN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4008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Maicol Parker-Chavez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400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mparkerchavez@gmail.com  ·  superbydesign.com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5303520" y="3840480"/>
            <a:ext cx="3520440" cy="105156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303520" y="3840480"/>
            <a:ext cx="45720" cy="1051560"/>
          </a:xfrm>
          <a:prstGeom prst="rect">
            <a:avLst/>
          </a:prstGeom>
          <a:solidFill>
            <a:srgbClr val="E8792A"/>
          </a:solidFill>
          <a:ln/>
        </p:spPr>
      </p:sp>
      <p:sp>
        <p:nvSpPr>
          <p:cNvPr id="31" name="Text 25"/>
          <p:cNvSpPr/>
          <p:nvPr/>
        </p:nvSpPr>
        <p:spPr>
          <a:xfrm>
            <a:off x="553212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Super by Design offers: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5532120" y="41605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Facilitated Intent Architecture workshops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audits and gap diagnosis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C8D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design for pilot-to-scale transformation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Intent Architecture — Executive Summary</dc:title>
  <dc:subject>PptxGenJS Presentation</dc:subject>
  <dc:creator>Maicol Parker-Chavez</dc:creator>
  <cp:lastModifiedBy>Maicol Parker-Chavez</cp:lastModifiedBy>
  <cp:revision>1</cp:revision>
  <dcterms:created xsi:type="dcterms:W3CDTF">2026-03-11T22:55:00Z</dcterms:created>
  <dcterms:modified xsi:type="dcterms:W3CDTF">2026-03-11T22:55:00Z</dcterms:modified>
</cp:coreProperties>
</file>