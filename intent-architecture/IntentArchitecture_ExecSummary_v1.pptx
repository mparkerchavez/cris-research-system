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
</a:t>
            </a:r>
            <a:pPr indent="0" marL="0">
              <a:buNone/>
            </a:pPr>
            <a:r>
              <a:rPr lang="en-US" sz="5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25400">
            <a:solidFill>
              <a:srgbClr val="E879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by Design  ·  Maicol Parker-Chavez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Deployed the Tool. Is It Working?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Fortune 500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Copilot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from pilot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1732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6364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M365 users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paid users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5468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AI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15468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15468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3520440" y="3977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using AI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263640" y="3977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yet to see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value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Nate B Jones, AI News &amp; Strategy Daily, Feb 2026.  [3] Section, AI Proficiency Report, Jan 2026.  [4] Nate B Jones, Feb 2026.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SHOWED UP.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STRATEGY DIDN'T.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731520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is not impact. Organizations generating AI activity without defined organizational intent are paying for tools that produce adoption metrics but not business outcomes.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731520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794760"/>
            <a:ext cx="54864" cy="8229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40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"Without intention, AI makes it easier to do more — but harder to stop."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Business Review, Feb 2026 [5]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PROFICIENCY REALITY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70%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201875" cy="1097280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20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841955" y="1463040"/>
            <a:ext cx="5504688" cy="1097280"/>
          </a:xfrm>
          <a:prstGeom prst="rect">
            <a:avLst/>
          </a:prstGeom>
          <a:solidFill>
            <a:srgbClr val="243352"/>
          </a:solidFill>
          <a:ln/>
        </p:spPr>
      </p:sp>
      <p:sp>
        <p:nvSpPr>
          <p:cNvPr id="8" name="Shape 6"/>
          <p:cNvSpPr/>
          <p:nvPr/>
        </p:nvSpPr>
        <p:spPr>
          <a:xfrm>
            <a:off x="2841955" y="1463040"/>
            <a:ext cx="5504688" cy="54864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9" name="Text 7"/>
          <p:cNvSpPr/>
          <p:nvPr/>
        </p:nvSpPr>
        <p:spPr>
          <a:xfrm>
            <a:off x="2841955" y="1554480"/>
            <a:ext cx="5504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Experimenter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8346643" y="1463040"/>
            <a:ext cx="157277" cy="1097280"/>
          </a:xfrm>
          <a:prstGeom prst="rect">
            <a:avLst/>
          </a:prstGeom>
          <a:solidFill>
            <a:srgbClr val="1A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</a:t>
            </a:r>
            <a:pPr algn="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   </a:t>
            </a:r>
            <a:pPr algn="r" indent="0" marL="0">
              <a:buNone/>
            </a:pPr>
            <a:r>
              <a:rPr lang="en-US" sz="11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</a:t>
            </a:r>
            <a:pPr algn="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70% majority knows how to open the tool. They do not know what to use it for in their specific job, on their specific team, connected to their specific business goals.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54864" cy="8229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Experimenter and Practitioner is the gap between individual productivity and organizational results.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Section, AI Proficiency Report, Jan 2026.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modules. Each produces a decision, not just an insight.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240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supposed to accomplish?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56" y="302666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13432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313432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1"/>
          <p:cNvSpPr/>
          <p:nvPr/>
        </p:nvSpPr>
        <p:spPr>
          <a:xfrm>
            <a:off x="2313432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2240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04872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404872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proficiency, and measurement.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3026664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986784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986784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2" name="Text 16"/>
          <p:cNvSpPr/>
          <p:nvPr/>
        </p:nvSpPr>
        <p:spPr>
          <a:xfrm>
            <a:off x="3986784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402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78224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078224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ceiling, measurement, or intent.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260" y="3026664"/>
            <a:ext cx="164592" cy="16459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660136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660136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9" name="Text 21"/>
          <p:cNvSpPr/>
          <p:nvPr/>
        </p:nvSpPr>
        <p:spPr>
          <a:xfrm>
            <a:off x="5660136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224028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751576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5751576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sequenced intentionally.</a:t>
            </a:r>
            <a:endParaRPr lang="en-US" sz="10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2612" y="3026664"/>
            <a:ext cx="164592" cy="16459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333488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333488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6" name="Text 26"/>
          <p:cNvSpPr/>
          <p:nvPr/>
        </p:nvSpPr>
        <p:spPr>
          <a:xfrm>
            <a:off x="7333488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8704" y="2240280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24928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7424928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the agentic future.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Gaps. Three Prescriptions.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Ceiling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productivity is real, but the tool has reached its ceiling. You need the next phase.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individual augmentation to workflow automation.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1188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Gap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activity is happening. Results are invisible. Level 2 feels like you are done. You are not.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1188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three-pillar KPI system: Usage → Automations → Department Impact.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Gap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gap. Activity is happening. Nobody defined what it is supposed to accomplish.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Module 1. Define the intent before expanding further.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 Sequenced Intentionally.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5544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Your Workforce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7–8%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equivalent savings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70% Experimenter majority toward repeatable AI use. Build adoption infrastructure.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900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2900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1188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1188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Workflows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2900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FTE</a:t>
            </a:r>
            <a:endParaRPr lang="en-US" sz="3400" dirty="0"/>
          </a:p>
        </p:txBody>
      </p:sp>
      <p:sp>
        <p:nvSpPr>
          <p:cNvPr id="22" name="Text 18"/>
          <p:cNvSpPr/>
          <p:nvPr/>
        </p:nvSpPr>
        <p:spPr>
          <a:xfrm>
            <a:off x="356616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per 1K employees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61188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1188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worker-to-agent ratio. 1–3 agentic applications per division with consistent weekly usage.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21792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55448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080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40080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Core Processes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1792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400" dirty="0"/>
          </a:p>
        </p:txBody>
      </p:sp>
      <p:sp>
        <p:nvSpPr>
          <p:cNvPr id="32" name="Text 27"/>
          <p:cNvSpPr/>
          <p:nvPr/>
        </p:nvSpPr>
        <p:spPr>
          <a:xfrm>
            <a:off x="6355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downtime (Siemens)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0080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moves from productivity to business strategy. Measure at the functional level. Vertical agents drive substantial impact.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400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Section, AI Proficiency Report &amp; Measure AI Success, 2026.  [9] Section, AI:ROI Playbook (Siemens, Zapier segments).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Step Is a Conversation.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conversation to roadmap in four to six weeks.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intent session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40" y="2880360"/>
            <a:ext cx="137160" cy="137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5176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5176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3" name="Text 9"/>
          <p:cNvSpPr/>
          <p:nvPr/>
        </p:nvSpPr>
        <p:spPr>
          <a:xfrm>
            <a:off x="278892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8892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audit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880360"/>
            <a:ext cx="137160" cy="1371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6344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8" name="Text 13"/>
          <p:cNvSpPr/>
          <p:nvPr/>
        </p:nvSpPr>
        <p:spPr>
          <a:xfrm>
            <a:off x="480060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0060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diagnosis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880360"/>
            <a:ext cx="137160" cy="1371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67512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17"/>
          <p:cNvSpPr/>
          <p:nvPr/>
        </p:nvSpPr>
        <p:spPr>
          <a:xfrm>
            <a:off x="681228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1228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design workshop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794760"/>
            <a:ext cx="777240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BY DESIGN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Maicol Parker-Chavez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400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mparkerchavez@gmail.com  ·  superbydesign.com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303520" y="3840480"/>
            <a:ext cx="3520440" cy="10515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303520" y="3840480"/>
            <a:ext cx="45720" cy="10515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1" name="Text 25"/>
          <p:cNvSpPr/>
          <p:nvPr/>
        </p:nvSpPr>
        <p:spPr>
          <a:xfrm>
            <a:off x="553212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Super by Design offers: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53212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Intent Architecture workshops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audits and gap diagnosis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design for pilot-to-scale transformation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Intent Architecture — Executive Summary</dc:title>
  <dc:subject>PptxGenJS Presentation</dc:subject>
  <dc:creator>Maicol Parker-Chavez</dc:creator>
  <cp:lastModifiedBy>Maicol Parker-Chavez</cp:lastModifiedBy>
  <cp:revision>1</cp:revision>
  <dcterms:created xsi:type="dcterms:W3CDTF">2026-03-11T22:55:00Z</dcterms:created>
  <dcterms:modified xsi:type="dcterms:W3CDTF">2026-03-11T22:55:00Z</dcterms:modified>
</cp:coreProperties>
</file>