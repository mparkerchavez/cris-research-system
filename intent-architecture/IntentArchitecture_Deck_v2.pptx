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Shape 1"/>
          <p:cNvSpPr/>
          <p:nvPr/>
        </p:nvSpPr>
        <p:spPr>
          <a:xfrm>
            <a:off x="6858000" y="0"/>
            <a:ext cx="2286000" cy="2926080"/>
          </a:xfrm>
          <a:prstGeom prst="rect">
            <a:avLst/>
          </a:prstGeom>
          <a:solidFill>
            <a:srgbClr val="090F1A"/>
          </a:solidFill>
          <a:ln w="12700">
            <a:solidFill>
              <a:srgbClr val="090F1A"/>
            </a:solidFill>
            <a:prstDash val="solid"/>
          </a:ln>
        </p:spPr>
      </p:sp>
      <p:sp>
        <p:nvSpPr>
          <p:cNvPr id="4" name="Text 2"/>
          <p:cNvSpPr/>
          <p:nvPr/>
        </p:nvSpPr>
        <p:spPr>
          <a:xfrm>
            <a:off x="457200" y="502920"/>
            <a:ext cx="6400800" cy="274320"/>
          </a:xfrm>
          <a:prstGeom prst="rect">
            <a:avLst/>
          </a:prstGeom>
          <a:noFill/>
          <a:ln/>
        </p:spPr>
        <p:txBody>
          <a:bodyPr wrap="square" lIns="0" tIns="0" rIns="0" bIns="0" rtlCol="0" anchor="ctr"/>
          <a:lstStyle/>
          <a:p>
            <a:pPr algn="l" indent="0" marL="0">
              <a:buNone/>
            </a:pPr>
            <a:r>
              <a:rPr lang="en-US" sz="1050" b="1" spc="350" kern="0" dirty="0">
                <a:solidFill>
                  <a:srgbClr val="E85D04"/>
                </a:solidFill>
                <a:latin typeface="Calibri" pitchFamily="34" charset="0"/>
                <a:ea typeface="Calibri" pitchFamily="34" charset="-122"/>
                <a:cs typeface="Calibri" pitchFamily="34" charset="-120"/>
              </a:rPr>
              <a:t>AI STRATEGY FRAMEWORK</a:t>
            </a:r>
            <a:endParaRPr lang="en-US" sz="1050" dirty="0"/>
          </a:p>
        </p:txBody>
      </p:sp>
      <p:sp>
        <p:nvSpPr>
          <p:cNvPr id="5" name="Text 3"/>
          <p:cNvSpPr/>
          <p:nvPr/>
        </p:nvSpPr>
        <p:spPr>
          <a:xfrm>
            <a:off x="457200" y="960120"/>
            <a:ext cx="7772400" cy="1051560"/>
          </a:xfrm>
          <a:prstGeom prst="rect">
            <a:avLst/>
          </a:prstGeom>
          <a:noFill/>
          <a:ln/>
        </p:spPr>
        <p:txBody>
          <a:bodyPr wrap="square" lIns="0" tIns="0" rIns="0" bIns="0" rtlCol="0" anchor="ctr"/>
          <a:lstStyle/>
          <a:p>
            <a:pPr algn="l" indent="0" marL="0">
              <a:buNone/>
            </a:pPr>
            <a:r>
              <a:rPr lang="en-US" sz="6800" b="1" dirty="0">
                <a:solidFill>
                  <a:srgbClr val="FFFFFF"/>
                </a:solidFill>
                <a:latin typeface="Georgia" pitchFamily="34" charset="0"/>
                <a:ea typeface="Georgia" pitchFamily="34" charset="-122"/>
                <a:cs typeface="Georgia" pitchFamily="34" charset="-120"/>
              </a:rPr>
              <a:t>THE INTENT</a:t>
            </a:r>
            <a:endParaRPr lang="en-US" sz="6800" dirty="0"/>
          </a:p>
        </p:txBody>
      </p:sp>
      <p:sp>
        <p:nvSpPr>
          <p:cNvPr id="6" name="Text 4"/>
          <p:cNvSpPr/>
          <p:nvPr/>
        </p:nvSpPr>
        <p:spPr>
          <a:xfrm>
            <a:off x="457200" y="1920240"/>
            <a:ext cx="7772400" cy="1051560"/>
          </a:xfrm>
          <a:prstGeom prst="rect">
            <a:avLst/>
          </a:prstGeom>
          <a:noFill/>
          <a:ln/>
        </p:spPr>
        <p:txBody>
          <a:bodyPr wrap="square" lIns="0" tIns="0" rIns="0" bIns="0" rtlCol="0" anchor="ctr"/>
          <a:lstStyle/>
          <a:p>
            <a:pPr algn="l" indent="0" marL="0">
              <a:buNone/>
            </a:pPr>
            <a:r>
              <a:rPr lang="en-US" sz="6800" b="1" dirty="0">
                <a:solidFill>
                  <a:srgbClr val="F9C74F"/>
                </a:solidFill>
                <a:latin typeface="Georgia" pitchFamily="34" charset="0"/>
                <a:ea typeface="Georgia" pitchFamily="34" charset="-122"/>
                <a:cs typeface="Georgia" pitchFamily="34" charset="-120"/>
              </a:rPr>
              <a:t>ARCHITECTURE</a:t>
            </a:r>
            <a:endParaRPr lang="en-US" sz="6800" dirty="0"/>
          </a:p>
        </p:txBody>
      </p:sp>
      <p:sp>
        <p:nvSpPr>
          <p:cNvPr id="7" name="Text 5"/>
          <p:cNvSpPr/>
          <p:nvPr/>
        </p:nvSpPr>
        <p:spPr>
          <a:xfrm>
            <a:off x="457200" y="3127248"/>
            <a:ext cx="6583680" cy="822960"/>
          </a:xfrm>
          <a:prstGeom prst="rect">
            <a:avLst/>
          </a:prstGeom>
          <a:noFill/>
          <a:ln/>
        </p:spPr>
        <p:txBody>
          <a:bodyPr wrap="square" lIns="0" tIns="0" rIns="0" bIns="0" rtlCol="0" anchor="t"/>
          <a:lstStyle/>
          <a:p>
            <a:pPr algn="l" indent="0" marL="0">
              <a:buNone/>
            </a:pPr>
            <a:r>
              <a:rPr lang="en-US" sz="1500" dirty="0">
                <a:solidFill>
                  <a:srgbClr val="8BA3C0"/>
                </a:solidFill>
                <a:latin typeface="Calibri" pitchFamily="34" charset="0"/>
                <a:ea typeface="Calibri" pitchFamily="34" charset="-122"/>
                <a:cs typeface="Calibri" pitchFamily="34" charset="-120"/>
              </a:rPr>
              <a:t>A Framework for Organizations That Have Deployed AI and Want to Know What Comes Next</a:t>
            </a:r>
            <a:endParaRPr lang="en-US" sz="1500" dirty="0"/>
          </a:p>
        </p:txBody>
      </p:sp>
      <p:sp>
        <p:nvSpPr>
          <p:cNvPr id="8" name="Shape 6"/>
          <p:cNvSpPr/>
          <p:nvPr/>
        </p:nvSpPr>
        <p:spPr>
          <a:xfrm>
            <a:off x="457200" y="4617720"/>
            <a:ext cx="7772400" cy="22860"/>
          </a:xfrm>
          <a:prstGeom prst="rect">
            <a:avLst/>
          </a:prstGeom>
          <a:solidFill>
            <a:srgbClr val="E85D04"/>
          </a:solidFill>
          <a:ln w="12700">
            <a:solidFill>
              <a:srgbClr val="E85D04"/>
            </a:solidFill>
            <a:prstDash val="solid"/>
          </a:ln>
        </p:spPr>
      </p:sp>
      <p:sp>
        <p:nvSpPr>
          <p:cNvPr id="9" name="Text 7"/>
          <p:cNvSpPr/>
          <p:nvPr/>
        </p:nvSpPr>
        <p:spPr>
          <a:xfrm>
            <a:off x="457200" y="4681728"/>
            <a:ext cx="7772400" cy="22860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Super by Design  ·  Maicol Parker-Chavez  ·  March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THE STARTING POINT</a:t>
            </a:r>
            <a:endParaRPr lang="en-US" sz="1000" dirty="0"/>
          </a:p>
        </p:txBody>
      </p:sp>
      <p:sp>
        <p:nvSpPr>
          <p:cNvPr id="4" name="Text 2"/>
          <p:cNvSpPr/>
          <p:nvPr/>
        </p:nvSpPr>
        <p:spPr>
          <a:xfrm>
            <a:off x="457200" y="502920"/>
            <a:ext cx="8229600" cy="640080"/>
          </a:xfrm>
          <a:prstGeom prst="rect">
            <a:avLst/>
          </a:prstGeom>
          <a:noFill/>
          <a:ln/>
        </p:spPr>
        <p:txBody>
          <a:bodyPr wrap="square" lIns="0" tIns="0" rIns="0" bIns="0" rtlCol="0" anchor="ctr"/>
          <a:lstStyle/>
          <a:p>
            <a:pPr algn="l" indent="0" marL="0">
              <a:buNone/>
            </a:pPr>
            <a:r>
              <a:rPr lang="en-US" sz="3400" b="1" dirty="0">
                <a:solidFill>
                  <a:srgbClr val="FFFFFF"/>
                </a:solidFill>
                <a:latin typeface="Georgia" pitchFamily="34" charset="0"/>
                <a:ea typeface="Georgia" pitchFamily="34" charset="-122"/>
                <a:cs typeface="Georgia" pitchFamily="34" charset="-120"/>
              </a:rPr>
              <a:t>The Copilot Reality</a:t>
            </a:r>
            <a:endParaRPr lang="en-US" sz="3400" dirty="0"/>
          </a:p>
        </p:txBody>
      </p:sp>
      <p:sp>
        <p:nvSpPr>
          <p:cNvPr id="5" name="Shape 3"/>
          <p:cNvSpPr/>
          <p:nvPr/>
        </p:nvSpPr>
        <p:spPr>
          <a:xfrm>
            <a:off x="411480" y="1371600"/>
            <a:ext cx="2606040" cy="3200400"/>
          </a:xfrm>
          <a:prstGeom prst="rect">
            <a:avLst/>
          </a:prstGeom>
          <a:solidFill>
            <a:srgbClr val="1A2B44"/>
          </a:solidFill>
          <a:ln w="12700">
            <a:solidFill>
              <a:srgbClr val="1A2B44"/>
            </a:solidFill>
            <a:prstDash val="solid"/>
          </a:ln>
        </p:spPr>
      </p:sp>
      <p:sp>
        <p:nvSpPr>
          <p:cNvPr id="6" name="Shape 4"/>
          <p:cNvSpPr/>
          <p:nvPr/>
        </p:nvSpPr>
        <p:spPr>
          <a:xfrm>
            <a:off x="411480" y="1371600"/>
            <a:ext cx="2606040" cy="73152"/>
          </a:xfrm>
          <a:prstGeom prst="rect">
            <a:avLst/>
          </a:prstGeom>
          <a:solidFill>
            <a:srgbClr val="E85D04"/>
          </a:solidFill>
          <a:ln w="12700">
            <a:solidFill>
              <a:srgbClr val="E85D04"/>
            </a:solidFill>
            <a:prstDash val="solid"/>
          </a:ln>
        </p:spPr>
      </p:sp>
      <p:sp>
        <p:nvSpPr>
          <p:cNvPr id="7" name="Text 5"/>
          <p:cNvSpPr/>
          <p:nvPr/>
        </p:nvSpPr>
        <p:spPr>
          <a:xfrm>
            <a:off x="411480" y="1417320"/>
            <a:ext cx="2606040" cy="1417320"/>
          </a:xfrm>
          <a:prstGeom prst="rect">
            <a:avLst/>
          </a:prstGeom>
          <a:noFill/>
          <a:ln/>
        </p:spPr>
        <p:txBody>
          <a:bodyPr wrap="square" lIns="0" tIns="0" rIns="0" bIns="0" rtlCol="0" anchor="ctr"/>
          <a:lstStyle/>
          <a:p>
            <a:pPr algn="ctr" indent="0" marL="0">
              <a:buNone/>
            </a:pPr>
            <a:r>
              <a:rPr lang="en-US" sz="8000" b="1" dirty="0">
                <a:solidFill>
                  <a:srgbClr val="F9C74F"/>
                </a:solidFill>
                <a:latin typeface="Georgia" pitchFamily="34" charset="0"/>
                <a:ea typeface="Georgia" pitchFamily="34" charset="-122"/>
                <a:cs typeface="Georgia" pitchFamily="34" charset="-120"/>
              </a:rPr>
              <a:t>90%</a:t>
            </a:r>
            <a:endParaRPr lang="en-US" sz="8000" dirty="0"/>
          </a:p>
        </p:txBody>
      </p:sp>
      <p:sp>
        <p:nvSpPr>
          <p:cNvPr id="8" name="Text 6"/>
          <p:cNvSpPr/>
          <p:nvPr/>
        </p:nvSpPr>
        <p:spPr>
          <a:xfrm>
            <a:off x="548640" y="2880360"/>
            <a:ext cx="2331720" cy="1097280"/>
          </a:xfrm>
          <a:prstGeom prst="rect">
            <a:avLst/>
          </a:prstGeom>
          <a:noFill/>
          <a:ln/>
        </p:spPr>
        <p:txBody>
          <a:bodyPr wrap="square" lIns="0" tIns="0" rIns="0" bIns="0" rtlCol="0" anchor="t"/>
          <a:lstStyle/>
          <a:p>
            <a:pPr algn="ctr" indent="0" marL="0">
              <a:buNone/>
            </a:pPr>
            <a:r>
              <a:rPr lang="en-US" sz="1250" dirty="0">
                <a:solidFill>
                  <a:srgbClr val="FFFFFF"/>
                </a:solidFill>
                <a:latin typeface="Calibri" pitchFamily="34" charset="0"/>
                <a:ea typeface="Calibri" pitchFamily="34" charset="-122"/>
                <a:cs typeface="Calibri" pitchFamily="34" charset="-120"/>
              </a:rPr>
              <a:t>of Fortune 500 companies</a:t>
            </a:r>
            <a:endParaRPr lang="en-US" sz="1250" dirty="0"/>
          </a:p>
          <a:p>
            <a:pPr algn="ctr" indent="0" marL="0">
              <a:buNone/>
            </a:pPr>
            <a:r>
              <a:rPr lang="en-US" sz="1250" dirty="0">
                <a:solidFill>
                  <a:srgbClr val="FFFFFF"/>
                </a:solidFill>
                <a:latin typeface="Calibri" pitchFamily="34" charset="0"/>
                <a:ea typeface="Calibri" pitchFamily="34" charset="-122"/>
                <a:cs typeface="Calibri" pitchFamily="34" charset="-120"/>
              </a:rPr>
              <a:t>use Microsoft Copilot</a:t>
            </a:r>
            <a:endParaRPr lang="en-US" sz="1250" dirty="0"/>
          </a:p>
        </p:txBody>
      </p:sp>
      <p:sp>
        <p:nvSpPr>
          <p:cNvPr id="13" name="Shape 11"/>
          <p:cNvSpPr/>
          <p:nvPr/>
        </p:nvSpPr>
        <p:spPr>
          <a:xfrm>
            <a:off x="3246120" y="1371600"/>
            <a:ext cx="2606040" cy="3200400"/>
          </a:xfrm>
          <a:prstGeom prst="rect">
            <a:avLst/>
          </a:prstGeom>
          <a:solidFill>
            <a:srgbClr val="1A2B44"/>
          </a:solidFill>
          <a:ln w="12700">
            <a:solidFill>
              <a:srgbClr val="1A2B44"/>
            </a:solidFill>
            <a:prstDash val="solid"/>
          </a:ln>
        </p:spPr>
      </p:sp>
      <p:sp>
        <p:nvSpPr>
          <p:cNvPr id="14" name="Shape 12"/>
          <p:cNvSpPr/>
          <p:nvPr/>
        </p:nvSpPr>
        <p:spPr>
          <a:xfrm>
            <a:off x="3246120" y="1371600"/>
            <a:ext cx="2606040" cy="73152"/>
          </a:xfrm>
          <a:prstGeom prst="rect">
            <a:avLst/>
          </a:prstGeom>
          <a:solidFill>
            <a:srgbClr val="E85D04"/>
          </a:solidFill>
          <a:ln w="12700">
            <a:solidFill>
              <a:srgbClr val="E85D04"/>
            </a:solidFill>
            <a:prstDash val="solid"/>
          </a:ln>
        </p:spPr>
      </p:sp>
      <p:sp>
        <p:nvSpPr>
          <p:cNvPr id="15" name="Text 13"/>
          <p:cNvSpPr/>
          <p:nvPr/>
        </p:nvSpPr>
        <p:spPr>
          <a:xfrm>
            <a:off x="3246120" y="1417320"/>
            <a:ext cx="2606040" cy="1417320"/>
          </a:xfrm>
          <a:prstGeom prst="rect">
            <a:avLst/>
          </a:prstGeom>
          <a:noFill/>
          <a:ln/>
        </p:spPr>
        <p:txBody>
          <a:bodyPr wrap="square" lIns="0" tIns="0" rIns="0" bIns="0" rtlCol="0" anchor="ctr"/>
          <a:lstStyle/>
          <a:p>
            <a:pPr algn="ctr" indent="0" marL="0">
              <a:buNone/>
            </a:pPr>
            <a:r>
              <a:rPr lang="en-US" sz="8000" b="1" dirty="0">
                <a:solidFill>
                  <a:srgbClr val="F9C74F"/>
                </a:solidFill>
                <a:latin typeface="Georgia" pitchFamily="34" charset="0"/>
                <a:ea typeface="Georgia" pitchFamily="34" charset="-122"/>
                <a:cs typeface="Georgia" pitchFamily="34" charset="-120"/>
              </a:rPr>
              <a:t>3%</a:t>
            </a:r>
            <a:endParaRPr lang="en-US" sz="8000" dirty="0"/>
          </a:p>
        </p:txBody>
      </p:sp>
      <p:sp>
        <p:nvSpPr>
          <p:cNvPr id="16" name="Text 14"/>
          <p:cNvSpPr/>
          <p:nvPr/>
        </p:nvSpPr>
        <p:spPr>
          <a:xfrm>
            <a:off x="3383280" y="2880360"/>
            <a:ext cx="2331720" cy="1097280"/>
          </a:xfrm>
          <a:prstGeom prst="rect">
            <a:avLst/>
          </a:prstGeom>
          <a:noFill/>
          <a:ln/>
        </p:spPr>
        <p:txBody>
          <a:bodyPr wrap="square" lIns="0" tIns="0" rIns="0" bIns="0" rtlCol="0" anchor="t"/>
          <a:lstStyle/>
          <a:p>
            <a:pPr algn="ctr" indent="0" marL="0">
              <a:buNone/>
            </a:pPr>
            <a:r>
              <a:rPr lang="en-US" sz="1250" dirty="0">
                <a:solidFill>
                  <a:srgbClr val="FFFFFF"/>
                </a:solidFill>
                <a:latin typeface="Calibri" pitchFamily="34" charset="0"/>
                <a:ea typeface="Calibri" pitchFamily="34" charset="-122"/>
                <a:cs typeface="Calibri" pitchFamily="34" charset="-120"/>
              </a:rPr>
              <a:t>of Microsoft 365 users</a:t>
            </a:r>
            <a:endParaRPr lang="en-US" sz="1250" dirty="0"/>
          </a:p>
          <a:p>
            <a:pPr algn="ctr" indent="0" marL="0">
              <a:buNone/>
            </a:pPr>
            <a:r>
              <a:rPr lang="en-US" sz="1250" dirty="0">
                <a:solidFill>
                  <a:srgbClr val="FFFFFF"/>
                </a:solidFill>
                <a:latin typeface="Calibri" pitchFamily="34" charset="0"/>
                <a:ea typeface="Calibri" pitchFamily="34" charset="-122"/>
                <a:cs typeface="Calibri" pitchFamily="34" charset="-120"/>
              </a:rPr>
              <a:t>are active paid users</a:t>
            </a:r>
            <a:endParaRPr lang="en-US" sz="1250" dirty="0"/>
          </a:p>
        </p:txBody>
      </p:sp>
      <p:sp>
        <p:nvSpPr>
          <p:cNvPr id="17" name="Text 15"/>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[1] Microsoft, FY26 Q1 Earnings Conference Call, Oct 2025.  [2] The Register / Microsoft FY26 Q2 Earnings, Feb 2026.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731520"/>
            <a:ext cx="8412480" cy="777240"/>
          </a:xfrm>
          <a:prstGeom prst="rect">
            <a:avLst/>
          </a:prstGeom>
          <a:noFill/>
          <a:ln/>
        </p:spPr>
        <p:txBody>
          <a:bodyPr wrap="square" lIns="0" tIns="0" rIns="0" bIns="0" rtlCol="0" anchor="ctr"/>
          <a:lstStyle/>
          <a:p>
            <a:pPr algn="l" indent="0" marL="0">
              <a:buNone/>
            </a:pPr>
            <a:r>
              <a:rPr lang="en-US" sz="4600" b="1" dirty="0">
                <a:solidFill>
                  <a:srgbClr val="FFFFFF"/>
                </a:solidFill>
                <a:latin typeface="Georgia" pitchFamily="34" charset="0"/>
                <a:ea typeface="Georgia" pitchFamily="34" charset="-122"/>
                <a:cs typeface="Georgia" pitchFamily="34" charset="-120"/>
              </a:rPr>
              <a:t>THE TOOL SHOWED UP.</a:t>
            </a:r>
            <a:endParaRPr lang="en-US" sz="4600" dirty="0"/>
          </a:p>
        </p:txBody>
      </p:sp>
      <p:sp>
        <p:nvSpPr>
          <p:cNvPr id="4" name="Text 2"/>
          <p:cNvSpPr/>
          <p:nvPr/>
        </p:nvSpPr>
        <p:spPr>
          <a:xfrm>
            <a:off x="457200" y="1920240"/>
            <a:ext cx="8412480" cy="777240"/>
          </a:xfrm>
          <a:prstGeom prst="rect">
            <a:avLst/>
          </a:prstGeom>
          <a:noFill/>
          <a:ln/>
        </p:spPr>
        <p:txBody>
          <a:bodyPr wrap="square" lIns="0" tIns="0" rIns="0" bIns="0" rtlCol="0" anchor="ctr"/>
          <a:lstStyle/>
          <a:p>
            <a:pPr algn="l" indent="0" marL="0">
              <a:buNone/>
            </a:pPr>
            <a:r>
              <a:rPr lang="en-US" sz="4600" b="1" dirty="0">
                <a:solidFill>
                  <a:srgbClr val="E85D04"/>
                </a:solidFill>
                <a:latin typeface="Georgia" pitchFamily="34" charset="0"/>
                <a:ea typeface="Georgia" pitchFamily="34" charset="-122"/>
                <a:cs typeface="Georgia" pitchFamily="34" charset="-120"/>
              </a:rPr>
              <a:t>THE STRATEGY DIDN'T.</a:t>
            </a:r>
            <a:endParaRPr lang="en-US" sz="4600" dirty="0"/>
          </a:p>
        </p:txBody>
      </p:sp>
      <p:sp>
        <p:nvSpPr>
          <p:cNvPr id="5" name="Shape 3"/>
          <p:cNvSpPr/>
          <p:nvPr/>
        </p:nvSpPr>
        <p:spPr>
          <a:xfrm>
            <a:off x="457200" y="2907792"/>
            <a:ext cx="7772400" cy="22860"/>
          </a:xfrm>
          <a:prstGeom prst="rect">
            <a:avLst/>
          </a:prstGeom>
          <a:solidFill>
            <a:srgbClr val="2A3F5E"/>
          </a:solidFill>
          <a:ln w="12700">
            <a:solidFill>
              <a:srgbClr val="2A3F5E"/>
            </a:solidFill>
            <a:prstDash val="solid"/>
          </a:ln>
        </p:spPr>
      </p:sp>
      <p:sp>
        <p:nvSpPr>
          <p:cNvPr id="6" name="Text 4"/>
          <p:cNvSpPr/>
          <p:nvPr/>
        </p:nvSpPr>
        <p:spPr>
          <a:xfrm>
            <a:off x="457200" y="3017520"/>
            <a:ext cx="8046720" cy="1600200"/>
          </a:xfrm>
          <a:prstGeom prst="rect">
            <a:avLst/>
          </a:prstGeom>
          <a:noFill/>
          <a:ln/>
        </p:spPr>
        <p:txBody>
          <a:bodyPr wrap="square" lIns="0" tIns="0" rIns="0" bIns="0" rtlCol="0" anchor="t"/>
          <a:lstStyle/>
          <a:p>
            <a:pPr algn="l" indent="0" marL="0">
              <a:buNone/>
            </a:pPr>
            <a:r>
              <a:rPr lang="en-US" sz="1400" dirty="0">
                <a:solidFill>
                  <a:srgbClr val="8BA3C0"/>
                </a:solidFill>
                <a:latin typeface="Calibri" pitchFamily="34" charset="0"/>
                <a:ea typeface="Calibri" pitchFamily="34" charset="-122"/>
                <a:cs typeface="Calibri" pitchFamily="34" charset="-120"/>
              </a:rPr>
              <a:t>Deploying an AI tool across an organization without organizational intent alignment is like hiring 40,000 new employees and never telling them what the company does, what it values, or how to make decisions.</a:t>
            </a:r>
            <a:endParaRPr lang="en-US" sz="1400" dirty="0"/>
          </a:p>
        </p:txBody>
      </p:sp>
      <p:sp>
        <p:nvSpPr>
          <p:cNvPr id="7" name="Text 5"/>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[1] Nate B Jones, "Intent Engineering," AI News &amp; Strategy Daily, Feb 24, 2026.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rgbClr val="1A1F2E"/>
                </a:solidFill>
                <a:latin typeface="Georgia" pitchFamily="34" charset="0"/>
                <a:ea typeface="Georgia" pitchFamily="34" charset="-122"/>
                <a:cs typeface="Georgia" pitchFamily="34" charset="-120"/>
              </a:rPr>
              <a:t>The Same Pattern, Every Tool</a:t>
            </a:r>
            <a:endParaRPr lang="en-US" sz="2600" dirty="0"/>
          </a:p>
        </p:txBody>
      </p:sp>
      <p:sp>
        <p:nvSpPr>
          <p:cNvPr id="4" name="Text 2"/>
          <p:cNvSpPr/>
          <p:nvPr/>
        </p:nvSpPr>
        <p:spPr>
          <a:xfrm>
            <a:off x="457200" y="914400"/>
            <a:ext cx="8229600" cy="411480"/>
          </a:xfrm>
          <a:prstGeom prst="rect">
            <a:avLst/>
          </a:prstGeom>
          <a:noFill/>
          <a:ln/>
        </p:spPr>
        <p:txBody>
          <a:bodyPr wrap="square" lIns="0" tIns="0" rIns="0" bIns="0" rtlCol="0" anchor="ctr"/>
          <a:lstStyle/>
          <a:p>
            <a:pPr algn="l" indent="0" marL="0">
              <a:buNone/>
            </a:pPr>
            <a:r>
              <a:rPr lang="en-US" sz="1350" dirty="0">
                <a:solidFill>
                  <a:srgbClr val="6B7280"/>
                </a:solidFill>
                <a:latin typeface="Calibri" pitchFamily="34" charset="0"/>
                <a:ea typeface="Calibri" pitchFamily="34" charset="-122"/>
                <a:cs typeface="Calibri" pitchFamily="34" charset="-120"/>
              </a:rPr>
              <a:t>The deployment gap is not a Copilot problem. It plays out across every enterprise AI platform.</a:t>
            </a:r>
            <a:endParaRPr lang="en-US" sz="1350" dirty="0"/>
          </a:p>
        </p:txBody>
      </p:sp>
      <p:sp>
        <p:nvSpPr>
          <p:cNvPr id="5" name="Shape 3"/>
          <p:cNvSpPr/>
          <p:nvPr/>
        </p:nvSpPr>
        <p:spPr>
          <a:xfrm>
            <a:off x="365760" y="1463040"/>
            <a:ext cx="3840480" cy="3108960"/>
          </a:xfrm>
          <a:prstGeom prst="rect">
            <a:avLst/>
          </a:prstGeom>
          <a:solidFill>
            <a:srgbClr val="FFFFFF"/>
          </a:solidFill>
          <a:ln w="12700">
            <a:solidFill>
              <a:srgbClr val="FFFFFF"/>
            </a:solidFill>
            <a:prstDash val="solid"/>
          </a:ln>
        </p:spPr>
      </p:sp>
      <p:sp>
        <p:nvSpPr>
          <p:cNvPr id="6" name="Shape 4"/>
          <p:cNvSpPr/>
          <p:nvPr/>
        </p:nvSpPr>
        <p:spPr>
          <a:xfrm>
            <a:off x="365760" y="1463040"/>
            <a:ext cx="91440" cy="3108960"/>
          </a:xfrm>
          <a:prstGeom prst="rect">
            <a:avLst/>
          </a:prstGeom>
          <a:solidFill>
            <a:srgbClr val="0D9488"/>
          </a:solidFill>
          <a:ln w="12700">
            <a:solidFill>
              <a:srgbClr val="0D9488"/>
            </a:solidFill>
            <a:prstDash val="solid"/>
          </a:ln>
        </p:spPr>
      </p:sp>
      <p:sp>
        <p:nvSpPr>
          <p:cNvPr id="7" name="Text 5"/>
          <p:cNvSpPr/>
          <p:nvPr/>
        </p:nvSpPr>
        <p:spPr>
          <a:xfrm>
            <a:off x="594360" y="1572768"/>
            <a:ext cx="3474720" cy="411480"/>
          </a:xfrm>
          <a:prstGeom prst="rect">
            <a:avLst/>
          </a:prstGeom>
          <a:noFill/>
          <a:ln/>
        </p:spPr>
        <p:txBody>
          <a:bodyPr wrap="square" lIns="0" tIns="0" rIns="0" bIns="0" rtlCol="0" anchor="ctr"/>
          <a:lstStyle/>
          <a:p>
            <a:pPr algn="l" indent="0" marL="0">
              <a:buNone/>
            </a:pPr>
            <a:r>
              <a:rPr lang="en-US" sz="1600" b="1" dirty="0">
                <a:solidFill>
                  <a:srgbClr val="1A1F2E"/>
                </a:solidFill>
                <a:latin typeface="Georgia" pitchFamily="34" charset="0"/>
                <a:ea typeface="Georgia" pitchFamily="34" charset="-122"/>
                <a:cs typeface="Georgia" pitchFamily="34" charset="-120"/>
              </a:rPr>
              <a:t>Microsoft Copilot</a:t>
            </a:r>
            <a:endParaRPr lang="en-US" sz="1600" dirty="0"/>
          </a:p>
        </p:txBody>
      </p:sp>
      <p:sp>
        <p:nvSpPr>
          <p:cNvPr id="8" name="Text 6"/>
          <p:cNvSpPr/>
          <p:nvPr/>
        </p:nvSpPr>
        <p:spPr>
          <a:xfrm>
            <a:off x="594360" y="2029968"/>
            <a:ext cx="3474720" cy="2331720"/>
          </a:xfrm>
          <a:prstGeom prst="rect">
            <a:avLst/>
          </a:prstGeom>
          <a:noFill/>
          <a:ln/>
        </p:spPr>
        <p:txBody>
          <a:bodyPr wrap="square" lIns="0" tIns="0" rIns="0" bIns="0" rtlCol="0" anchor="t"/>
          <a:lstStyle/>
          <a:p>
            <a:pPr algn="l" indent="0" marL="0">
              <a:buNone/>
            </a:pPr>
            <a:r>
              <a:rPr lang="en-US" sz="1250" dirty="0">
                <a:solidFill>
                  <a:srgbClr val="1A1F2E"/>
                </a:solidFill>
                <a:latin typeface="Calibri" pitchFamily="34" charset="0"/>
                <a:ea typeface="Calibri" pitchFamily="34" charset="-122"/>
                <a:cs typeface="Calibri" pitchFamily="34" charset="-120"/>
              </a:rPr>
              <a:t>Built-in workflow touchpoints give employees a starting context: drafting in Word, summarizing in Outlook, generating in Teams.</a:t>
            </a:r>
            <a:endParaRPr lang="en-US" sz="1250" dirty="0"/>
          </a:p>
          <a:p>
            <a:pPr algn="l" indent="0" marL="0">
              <a:buNone/>
            </a:pPr>
            <a:endParaRPr lang="en-US" sz="1250" dirty="0"/>
          </a:p>
          <a:p>
            <a:pPr algn="l" indent="0" marL="0">
              <a:buNone/>
            </a:pPr>
            <a:r>
              <a:rPr lang="en-US" sz="1250" dirty="0">
                <a:solidFill>
                  <a:srgbClr val="1A1F2E"/>
                </a:solidFill>
                <a:latin typeface="Calibri" pitchFamily="34" charset="0"/>
                <a:ea typeface="Calibri" pitchFamily="34" charset="-122"/>
                <a:cs typeface="Calibri" pitchFamily="34" charset="-120"/>
              </a:rPr>
              <a:t>Despite this scaffolding, 85% of users have no ROI-driving use cases. The tool has a home. The intent is still missing.</a:t>
            </a:r>
            <a:endParaRPr lang="en-US" sz="1250" dirty="0"/>
          </a:p>
        </p:txBody>
      </p:sp>
      <p:sp>
        <p:nvSpPr>
          <p:cNvPr id="9" name="Shape 7"/>
          <p:cNvSpPr/>
          <p:nvPr/>
        </p:nvSpPr>
        <p:spPr>
          <a:xfrm>
            <a:off x="4663440" y="1463040"/>
            <a:ext cx="4114800" cy="3108960"/>
          </a:xfrm>
          <a:prstGeom prst="rect">
            <a:avLst/>
          </a:prstGeom>
          <a:solidFill>
            <a:srgbClr val="FFFFFF"/>
          </a:solidFill>
          <a:ln w="12700">
            <a:solidFill>
              <a:srgbClr val="FFFFFF"/>
            </a:solidFill>
            <a:prstDash val="solid"/>
          </a:ln>
        </p:spPr>
      </p:sp>
      <p:sp>
        <p:nvSpPr>
          <p:cNvPr id="10" name="Shape 8"/>
          <p:cNvSpPr/>
          <p:nvPr/>
        </p:nvSpPr>
        <p:spPr>
          <a:xfrm>
            <a:off x="4663440" y="1463040"/>
            <a:ext cx="91440" cy="3108960"/>
          </a:xfrm>
          <a:prstGeom prst="rect">
            <a:avLst/>
          </a:prstGeom>
          <a:solidFill>
            <a:srgbClr val="E85D04"/>
          </a:solidFill>
          <a:ln w="12700">
            <a:solidFill>
              <a:srgbClr val="E85D04"/>
            </a:solidFill>
            <a:prstDash val="solid"/>
          </a:ln>
        </p:spPr>
      </p:sp>
      <p:sp>
        <p:nvSpPr>
          <p:cNvPr id="11" name="Text 9"/>
          <p:cNvSpPr/>
          <p:nvPr/>
        </p:nvSpPr>
        <p:spPr>
          <a:xfrm>
            <a:off x="4892040" y="1572768"/>
            <a:ext cx="3749040" cy="411480"/>
          </a:xfrm>
          <a:prstGeom prst="rect">
            <a:avLst/>
          </a:prstGeom>
          <a:noFill/>
          <a:ln/>
        </p:spPr>
        <p:txBody>
          <a:bodyPr wrap="square" lIns="0" tIns="0" rIns="0" bIns="0" rtlCol="0" anchor="ctr"/>
          <a:lstStyle/>
          <a:p>
            <a:pPr algn="l" indent="0" marL="0">
              <a:buNone/>
            </a:pPr>
            <a:r>
              <a:rPr lang="en-US" sz="1600" b="1" dirty="0">
                <a:solidFill>
                  <a:srgbClr val="1A1F2E"/>
                </a:solidFill>
                <a:latin typeface="Georgia" pitchFamily="34" charset="0"/>
                <a:ea typeface="Georgia" pitchFamily="34" charset="-122"/>
                <a:cs typeface="Georgia" pitchFamily="34" charset="-120"/>
              </a:rPr>
              <a:t>ChatGPT Enterprise  ·  Claude</a:t>
            </a:r>
            <a:endParaRPr lang="en-US" sz="1600" dirty="0"/>
          </a:p>
        </p:txBody>
      </p:sp>
      <p:sp>
        <p:nvSpPr>
          <p:cNvPr id="12" name="Text 10"/>
          <p:cNvSpPr/>
          <p:nvPr/>
        </p:nvSpPr>
        <p:spPr>
          <a:xfrm>
            <a:off x="4892040" y="2029968"/>
            <a:ext cx="3749040" cy="2331720"/>
          </a:xfrm>
          <a:prstGeom prst="rect">
            <a:avLst/>
          </a:prstGeom>
          <a:noFill/>
          <a:ln/>
        </p:spPr>
        <p:txBody>
          <a:bodyPr wrap="square" lIns="0" tIns="0" rIns="0" bIns="0" rtlCol="0" anchor="t"/>
          <a:lstStyle/>
          <a:p>
            <a:pPr algn="l" indent="0" marL="0">
              <a:buNone/>
            </a:pPr>
            <a:r>
              <a:rPr lang="en-US" sz="1250" dirty="0">
                <a:solidFill>
                  <a:srgbClr val="1A1F2E"/>
                </a:solidFill>
                <a:latin typeface="Calibri" pitchFamily="34" charset="0"/>
                <a:ea typeface="Calibri" pitchFamily="34" charset="-122"/>
                <a:cs typeface="Calibri" pitchFamily="34" charset="-120"/>
              </a:rPr>
              <a:t>More capable tools. Broader use cases. No built-in workflow scaffolding.</a:t>
            </a:r>
            <a:endParaRPr lang="en-US" sz="1250" dirty="0"/>
          </a:p>
          <a:p>
            <a:pPr algn="l" indent="0" marL="0">
              <a:buNone/>
            </a:pPr>
            <a:endParaRPr lang="en-US" sz="1250" dirty="0"/>
          </a:p>
          <a:p>
            <a:pPr algn="l" indent="0" marL="0">
              <a:buNone/>
            </a:pPr>
            <a:r>
              <a:rPr lang="en-US" sz="1250" dirty="0">
                <a:solidFill>
                  <a:srgbClr val="1A1F2E"/>
                </a:solidFill>
                <a:latin typeface="Calibri" pitchFamily="34" charset="0"/>
                <a:ea typeface="Calibri" pitchFamily="34" charset="-122"/>
                <a:cs typeface="Calibri" pitchFamily="34" charset="-120"/>
              </a:rPr>
              <a:t>The blank canvas is wider — which means the use case desert is wider too. More possible applications do not resolve the question of which applications matter for this organization, on this team, in this role.</a:t>
            </a:r>
            <a:endParaRPr lang="en-US" sz="1250" dirty="0"/>
          </a:p>
          <a:p>
            <a:pPr algn="l" indent="0" marL="0">
              <a:buNone/>
            </a:pPr>
            <a:endParaRPr lang="en-US" sz="1250" dirty="0"/>
          </a:p>
          <a:p>
            <a:pPr algn="l" indent="0" marL="0">
              <a:buNone/>
            </a:pPr>
            <a:r>
              <a:rPr lang="en-US" sz="1250" dirty="0">
                <a:solidFill>
                  <a:srgbClr val="1A1F2E"/>
                </a:solidFill>
                <a:latin typeface="Calibri" pitchFamily="34" charset="0"/>
                <a:ea typeface="Calibri" pitchFamily="34" charset="-122"/>
                <a:cs typeface="Calibri" pitchFamily="34" charset="-120"/>
              </a:rPr>
              <a:t>The problem is not the tool's capability. It is the absence of intent.</a:t>
            </a:r>
            <a:endParaRPr lang="en-US" sz="1250" dirty="0"/>
          </a:p>
        </p:txBody>
      </p:sp>
      <p:sp>
        <p:nvSpPr>
          <p:cNvPr id="13" name="Text 11"/>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[3] Section, "AI Proficiency Report," Jan 2026.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THE DATA</a:t>
            </a:r>
            <a:endParaRPr lang="en-US" sz="1000" dirty="0"/>
          </a:p>
        </p:txBody>
      </p:sp>
      <p:sp>
        <p:nvSpPr>
          <p:cNvPr id="4" name="Text 2"/>
          <p:cNvSpPr/>
          <p:nvPr/>
        </p:nvSpPr>
        <p:spPr>
          <a:xfrm>
            <a:off x="457200" y="502920"/>
            <a:ext cx="822960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Paying for AI. Not Benefiting from It.</a:t>
            </a:r>
            <a:endParaRPr lang="en-US" sz="2600" dirty="0"/>
          </a:p>
        </p:txBody>
      </p:sp>
      <p:sp>
        <p:nvSpPr>
          <p:cNvPr id="5" name="Shape 3"/>
          <p:cNvSpPr/>
          <p:nvPr/>
        </p:nvSpPr>
        <p:spPr>
          <a:xfrm>
            <a:off x="365760" y="1280160"/>
            <a:ext cx="3931920" cy="1371600"/>
          </a:xfrm>
          <a:prstGeom prst="rect">
            <a:avLst/>
          </a:prstGeom>
          <a:solidFill>
            <a:srgbClr val="1A2B44"/>
          </a:solidFill>
          <a:ln w="12700">
            <a:solidFill>
              <a:srgbClr val="1A2B44"/>
            </a:solidFill>
            <a:prstDash val="solid"/>
          </a:ln>
        </p:spPr>
      </p:sp>
      <p:sp>
        <p:nvSpPr>
          <p:cNvPr id="6" name="Shape 4"/>
          <p:cNvSpPr/>
          <p:nvPr/>
        </p:nvSpPr>
        <p:spPr>
          <a:xfrm>
            <a:off x="365760" y="1280160"/>
            <a:ext cx="3931920" cy="54864"/>
          </a:xfrm>
          <a:prstGeom prst="rect">
            <a:avLst/>
          </a:prstGeom>
          <a:solidFill>
            <a:srgbClr val="E85D04"/>
          </a:solidFill>
          <a:ln w="12700">
            <a:solidFill>
              <a:srgbClr val="E85D04"/>
            </a:solidFill>
            <a:prstDash val="solid"/>
          </a:ln>
        </p:spPr>
      </p:sp>
      <p:sp>
        <p:nvSpPr>
          <p:cNvPr id="7" name="Text 5"/>
          <p:cNvSpPr/>
          <p:nvPr/>
        </p:nvSpPr>
        <p:spPr>
          <a:xfrm>
            <a:off x="502920" y="1389888"/>
            <a:ext cx="1828800" cy="868680"/>
          </a:xfrm>
          <a:prstGeom prst="rect">
            <a:avLst/>
          </a:prstGeom>
          <a:noFill/>
          <a:ln/>
        </p:spPr>
        <p:txBody>
          <a:bodyPr wrap="square" lIns="0" tIns="0" rIns="0" bIns="0" rtlCol="0" anchor="t"/>
          <a:lstStyle/>
          <a:p>
            <a:pPr algn="l" indent="0" marL="0">
              <a:buNone/>
            </a:pPr>
            <a:r>
              <a:rPr lang="en-US" sz="6400" b="1" dirty="0">
                <a:solidFill>
                  <a:srgbClr val="F9C74F"/>
                </a:solidFill>
                <a:latin typeface="Georgia" pitchFamily="34" charset="0"/>
                <a:ea typeface="Georgia" pitchFamily="34" charset="-122"/>
                <a:cs typeface="Georgia" pitchFamily="34" charset="-120"/>
              </a:rPr>
              <a:t>45</a:t>
            </a:r>
            <a:pPr algn="l" indent="0" marL="0">
              <a:buNone/>
            </a:pPr>
            <a:r>
              <a:rPr lang="en-US" sz="3000" b="1" dirty="0">
                <a:solidFill>
                  <a:srgbClr val="F9C74F"/>
                </a:solidFill>
                <a:latin typeface="Georgia" pitchFamily="34" charset="0"/>
                <a:ea typeface="Georgia" pitchFamily="34" charset="-122"/>
                <a:cs typeface="Georgia" pitchFamily="34" charset="-120"/>
              </a:rPr>
              <a:t>%</a:t>
            </a:r>
            <a:endParaRPr lang="en-US" sz="6400" dirty="0"/>
          </a:p>
        </p:txBody>
      </p:sp>
      <p:sp>
        <p:nvSpPr>
          <p:cNvPr id="8" name="Text 6"/>
          <p:cNvSpPr/>
          <p:nvPr/>
        </p:nvSpPr>
        <p:spPr>
          <a:xfrm>
            <a:off x="2103120" y="1554480"/>
            <a:ext cx="2057400" cy="100584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of businesses are paying</a:t>
            </a: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for AI tools</a:t>
            </a:r>
            <a:endParaRPr lang="en-US" sz="1200" dirty="0"/>
          </a:p>
        </p:txBody>
      </p:sp>
      <p:sp>
        <p:nvSpPr>
          <p:cNvPr id="9" name="Shape 7"/>
          <p:cNvSpPr/>
          <p:nvPr/>
        </p:nvSpPr>
        <p:spPr>
          <a:xfrm>
            <a:off x="4663440" y="1280160"/>
            <a:ext cx="3931920" cy="1371600"/>
          </a:xfrm>
          <a:prstGeom prst="rect">
            <a:avLst/>
          </a:prstGeom>
          <a:solidFill>
            <a:srgbClr val="1A2B44"/>
          </a:solidFill>
          <a:ln w="12700">
            <a:solidFill>
              <a:srgbClr val="1A2B44"/>
            </a:solidFill>
            <a:prstDash val="solid"/>
          </a:ln>
        </p:spPr>
      </p:sp>
      <p:sp>
        <p:nvSpPr>
          <p:cNvPr id="10" name="Shape 8"/>
          <p:cNvSpPr/>
          <p:nvPr/>
        </p:nvSpPr>
        <p:spPr>
          <a:xfrm>
            <a:off x="4663440" y="1280160"/>
            <a:ext cx="3931920" cy="54864"/>
          </a:xfrm>
          <a:prstGeom prst="rect">
            <a:avLst/>
          </a:prstGeom>
          <a:solidFill>
            <a:srgbClr val="E85D04"/>
          </a:solidFill>
          <a:ln w="12700">
            <a:solidFill>
              <a:srgbClr val="E85D04"/>
            </a:solidFill>
            <a:prstDash val="solid"/>
          </a:ln>
        </p:spPr>
      </p:sp>
      <p:sp>
        <p:nvSpPr>
          <p:cNvPr id="11" name="Text 9"/>
          <p:cNvSpPr/>
          <p:nvPr/>
        </p:nvSpPr>
        <p:spPr>
          <a:xfrm>
            <a:off x="4800600" y="1389888"/>
            <a:ext cx="1828800" cy="868680"/>
          </a:xfrm>
          <a:prstGeom prst="rect">
            <a:avLst/>
          </a:prstGeom>
          <a:noFill/>
          <a:ln/>
        </p:spPr>
        <p:txBody>
          <a:bodyPr wrap="square" lIns="0" tIns="0" rIns="0" bIns="0" rtlCol="0" anchor="t"/>
          <a:lstStyle/>
          <a:p>
            <a:pPr algn="l" indent="0" marL="0">
              <a:buNone/>
            </a:pPr>
            <a:r>
              <a:rPr lang="en-US" sz="6400" b="1" dirty="0">
                <a:solidFill>
                  <a:srgbClr val="F9C74F"/>
                </a:solidFill>
                <a:latin typeface="Georgia" pitchFamily="34" charset="0"/>
                <a:ea typeface="Georgia" pitchFamily="34" charset="-122"/>
                <a:cs typeface="Georgia" pitchFamily="34" charset="-120"/>
              </a:rPr>
              <a:t>12</a:t>
            </a:r>
            <a:pPr algn="l" indent="0" marL="0">
              <a:buNone/>
            </a:pPr>
            <a:r>
              <a:rPr lang="en-US" sz="3000" b="1" dirty="0">
                <a:solidFill>
                  <a:srgbClr val="F9C74F"/>
                </a:solidFill>
                <a:latin typeface="Georgia" pitchFamily="34" charset="0"/>
                <a:ea typeface="Georgia" pitchFamily="34" charset="-122"/>
                <a:cs typeface="Georgia" pitchFamily="34" charset="-120"/>
              </a:rPr>
              <a:t>%</a:t>
            </a:r>
            <a:endParaRPr lang="en-US" sz="6400" dirty="0"/>
          </a:p>
        </p:txBody>
      </p:sp>
      <p:sp>
        <p:nvSpPr>
          <p:cNvPr id="12" name="Text 10"/>
          <p:cNvSpPr/>
          <p:nvPr/>
        </p:nvSpPr>
        <p:spPr>
          <a:xfrm>
            <a:off x="6400800" y="1554480"/>
            <a:ext cx="2057400" cy="100584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are using AI in ways that produce</a:t>
            </a: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measurable business impact</a:t>
            </a:r>
            <a:endParaRPr lang="en-US" sz="1200" dirty="0"/>
          </a:p>
        </p:txBody>
      </p:sp>
      <p:sp>
        <p:nvSpPr>
          <p:cNvPr id="13" name="Shape 11"/>
          <p:cNvSpPr/>
          <p:nvPr/>
        </p:nvSpPr>
        <p:spPr>
          <a:xfrm>
            <a:off x="365760" y="2743200"/>
            <a:ext cx="3931920" cy="1371600"/>
          </a:xfrm>
          <a:prstGeom prst="rect">
            <a:avLst/>
          </a:prstGeom>
          <a:solidFill>
            <a:srgbClr val="1A2B44"/>
          </a:solidFill>
          <a:ln w="12700">
            <a:solidFill>
              <a:srgbClr val="1A2B44"/>
            </a:solidFill>
            <a:prstDash val="solid"/>
          </a:ln>
        </p:spPr>
      </p:sp>
      <p:sp>
        <p:nvSpPr>
          <p:cNvPr id="14" name="Shape 12"/>
          <p:cNvSpPr/>
          <p:nvPr/>
        </p:nvSpPr>
        <p:spPr>
          <a:xfrm>
            <a:off x="365760" y="2743200"/>
            <a:ext cx="3931920" cy="54864"/>
          </a:xfrm>
          <a:prstGeom prst="rect">
            <a:avLst/>
          </a:prstGeom>
          <a:solidFill>
            <a:srgbClr val="E85D04"/>
          </a:solidFill>
          <a:ln w="12700">
            <a:solidFill>
              <a:srgbClr val="E85D04"/>
            </a:solidFill>
            <a:prstDash val="solid"/>
          </a:ln>
        </p:spPr>
      </p:sp>
      <p:sp>
        <p:nvSpPr>
          <p:cNvPr id="15" name="Text 13"/>
          <p:cNvSpPr/>
          <p:nvPr/>
        </p:nvSpPr>
        <p:spPr>
          <a:xfrm>
            <a:off x="502920" y="2852928"/>
            <a:ext cx="1828800" cy="868680"/>
          </a:xfrm>
          <a:prstGeom prst="rect">
            <a:avLst/>
          </a:prstGeom>
          <a:noFill/>
          <a:ln/>
        </p:spPr>
        <p:txBody>
          <a:bodyPr wrap="square" lIns="0" tIns="0" rIns="0" bIns="0" rtlCol="0" anchor="t"/>
          <a:lstStyle/>
          <a:p>
            <a:pPr algn="l" indent="0" marL="0">
              <a:buNone/>
            </a:pPr>
            <a:r>
              <a:rPr lang="en-US" sz="6400" b="1" dirty="0">
                <a:solidFill>
                  <a:srgbClr val="F9C74F"/>
                </a:solidFill>
                <a:latin typeface="Georgia" pitchFamily="34" charset="0"/>
                <a:ea typeface="Georgia" pitchFamily="34" charset="-122"/>
                <a:cs typeface="Georgia" pitchFamily="34" charset="-120"/>
              </a:rPr>
              <a:t>85</a:t>
            </a:r>
            <a:pPr algn="l" indent="0" marL="0">
              <a:buNone/>
            </a:pPr>
            <a:r>
              <a:rPr lang="en-US" sz="3000" b="1" dirty="0">
                <a:solidFill>
                  <a:srgbClr val="F9C74F"/>
                </a:solidFill>
                <a:latin typeface="Georgia" pitchFamily="34" charset="0"/>
                <a:ea typeface="Georgia" pitchFamily="34" charset="-122"/>
                <a:cs typeface="Georgia" pitchFamily="34" charset="-120"/>
              </a:rPr>
              <a:t>%</a:t>
            </a:r>
            <a:endParaRPr lang="en-US" sz="6400" dirty="0"/>
          </a:p>
        </p:txBody>
      </p:sp>
      <p:sp>
        <p:nvSpPr>
          <p:cNvPr id="16" name="Text 14"/>
          <p:cNvSpPr/>
          <p:nvPr/>
        </p:nvSpPr>
        <p:spPr>
          <a:xfrm>
            <a:off x="2103120" y="3017520"/>
            <a:ext cx="2057400" cy="100584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of AI users have no</a:t>
            </a: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ROI-driving use cases</a:t>
            </a:r>
            <a:endParaRPr lang="en-US" sz="1200" dirty="0"/>
          </a:p>
        </p:txBody>
      </p:sp>
      <p:sp>
        <p:nvSpPr>
          <p:cNvPr id="17" name="Shape 15"/>
          <p:cNvSpPr/>
          <p:nvPr/>
        </p:nvSpPr>
        <p:spPr>
          <a:xfrm>
            <a:off x="4663440" y="2743200"/>
            <a:ext cx="3931920" cy="1371600"/>
          </a:xfrm>
          <a:prstGeom prst="rect">
            <a:avLst/>
          </a:prstGeom>
          <a:solidFill>
            <a:srgbClr val="1A2B44"/>
          </a:solidFill>
          <a:ln w="12700">
            <a:solidFill>
              <a:srgbClr val="1A2B44"/>
            </a:solidFill>
            <a:prstDash val="solid"/>
          </a:ln>
        </p:spPr>
      </p:sp>
      <p:sp>
        <p:nvSpPr>
          <p:cNvPr id="18" name="Shape 16"/>
          <p:cNvSpPr/>
          <p:nvPr/>
        </p:nvSpPr>
        <p:spPr>
          <a:xfrm>
            <a:off x="4663440" y="2743200"/>
            <a:ext cx="3931920" cy="54864"/>
          </a:xfrm>
          <a:prstGeom prst="rect">
            <a:avLst/>
          </a:prstGeom>
          <a:solidFill>
            <a:srgbClr val="E85D04"/>
          </a:solidFill>
          <a:ln w="12700">
            <a:solidFill>
              <a:srgbClr val="E85D04"/>
            </a:solidFill>
            <a:prstDash val="solid"/>
          </a:ln>
        </p:spPr>
      </p:sp>
      <p:sp>
        <p:nvSpPr>
          <p:cNvPr id="19" name="Text 17"/>
          <p:cNvSpPr/>
          <p:nvPr/>
        </p:nvSpPr>
        <p:spPr>
          <a:xfrm>
            <a:off x="4800600" y="2852928"/>
            <a:ext cx="1828800" cy="868680"/>
          </a:xfrm>
          <a:prstGeom prst="rect">
            <a:avLst/>
          </a:prstGeom>
          <a:noFill/>
          <a:ln/>
        </p:spPr>
        <p:txBody>
          <a:bodyPr wrap="square" lIns="0" tIns="0" rIns="0" bIns="0" rtlCol="0" anchor="t"/>
          <a:lstStyle/>
          <a:p>
            <a:pPr algn="l" indent="0" marL="0">
              <a:buNone/>
            </a:pPr>
            <a:r>
              <a:rPr lang="en-US" sz="6400" b="1" dirty="0">
                <a:solidFill>
                  <a:srgbClr val="F9C74F"/>
                </a:solidFill>
                <a:latin typeface="Georgia" pitchFamily="34" charset="0"/>
                <a:ea typeface="Georgia" pitchFamily="34" charset="-122"/>
                <a:cs typeface="Georgia" pitchFamily="34" charset="-120"/>
              </a:rPr>
              <a:t>74</a:t>
            </a:r>
            <a:pPr algn="l" indent="0" marL="0">
              <a:buNone/>
            </a:pPr>
            <a:r>
              <a:rPr lang="en-US" sz="3000" b="1" dirty="0">
                <a:solidFill>
                  <a:srgbClr val="F9C74F"/>
                </a:solidFill>
                <a:latin typeface="Georgia" pitchFamily="34" charset="0"/>
                <a:ea typeface="Georgia" pitchFamily="34" charset="-122"/>
                <a:cs typeface="Georgia" pitchFamily="34" charset="-120"/>
              </a:rPr>
              <a:t>%</a:t>
            </a:r>
            <a:endParaRPr lang="en-US" sz="6400" dirty="0"/>
          </a:p>
        </p:txBody>
      </p:sp>
      <p:sp>
        <p:nvSpPr>
          <p:cNvPr id="20" name="Text 18"/>
          <p:cNvSpPr/>
          <p:nvPr/>
        </p:nvSpPr>
        <p:spPr>
          <a:xfrm>
            <a:off x="6400800" y="3017520"/>
            <a:ext cx="2057400" cy="100584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of leaders hope AI will</a:t>
            </a: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deliver value, only 20% see results</a:t>
            </a:r>
            <a:endParaRPr lang="en-US" sz="1200" dirty="0"/>
          </a:p>
        </p:txBody>
      </p:sp>
      <p:sp>
        <p:nvSpPr>
          <p:cNvPr id="21" name="Text 19"/>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[3] Section, "How to Measure AI Success" (Coatue/Census/Macrobond/Apollo), 2026.  [13] Deloitte, "State of Generative AI in the Enterprise," Q4 2024.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THE HIDDEN COST</a:t>
            </a:r>
            <a:endParaRPr lang="en-US" sz="1000" dirty="0"/>
          </a:p>
        </p:txBody>
      </p:sp>
      <p:sp>
        <p:nvSpPr>
          <p:cNvPr id="4" name="Text 2"/>
          <p:cNvSpPr/>
          <p:nvPr/>
        </p:nvSpPr>
        <p:spPr>
          <a:xfrm>
            <a:off x="457200" y="640080"/>
            <a:ext cx="8229600" cy="731520"/>
          </a:xfrm>
          <a:prstGeom prst="rect">
            <a:avLst/>
          </a:prstGeom>
          <a:noFill/>
          <a:ln/>
        </p:spPr>
        <p:txBody>
          <a:bodyPr wrap="square" lIns="0" tIns="0" rIns="0" bIns="0" rtlCol="0" anchor="ctr"/>
          <a:lstStyle/>
          <a:p>
            <a:pPr algn="l" indent="0" marL="0">
              <a:buNone/>
            </a:pPr>
            <a:r>
              <a:rPr lang="en-US" sz="4000" b="1" dirty="0">
                <a:solidFill>
                  <a:srgbClr val="FFFFFF"/>
                </a:solidFill>
                <a:latin typeface="Georgia" pitchFamily="34" charset="0"/>
                <a:ea typeface="Georgia" pitchFamily="34" charset="-122"/>
                <a:cs typeface="Georgia" pitchFamily="34" charset="-120"/>
              </a:rPr>
              <a:t>AI does not reduce work.</a:t>
            </a:r>
            <a:endParaRPr lang="en-US" sz="4000" dirty="0"/>
          </a:p>
        </p:txBody>
      </p:sp>
      <p:sp>
        <p:nvSpPr>
          <p:cNvPr id="5" name="Text 3"/>
          <p:cNvSpPr/>
          <p:nvPr/>
        </p:nvSpPr>
        <p:spPr>
          <a:xfrm>
            <a:off x="457200" y="1298448"/>
            <a:ext cx="8229600" cy="731520"/>
          </a:xfrm>
          <a:prstGeom prst="rect">
            <a:avLst/>
          </a:prstGeom>
          <a:noFill/>
          <a:ln/>
        </p:spPr>
        <p:txBody>
          <a:bodyPr wrap="square" lIns="0" tIns="0" rIns="0" bIns="0" rtlCol="0" anchor="ctr"/>
          <a:lstStyle/>
          <a:p>
            <a:pPr algn="l" indent="0" marL="0">
              <a:buNone/>
            </a:pPr>
            <a:r>
              <a:rPr lang="en-US" sz="4000" b="1" dirty="0">
                <a:solidFill>
                  <a:srgbClr val="E85D04"/>
                </a:solidFill>
                <a:latin typeface="Georgia" pitchFamily="34" charset="0"/>
                <a:ea typeface="Georgia" pitchFamily="34" charset="-122"/>
                <a:cs typeface="Georgia" pitchFamily="34" charset="-120"/>
              </a:rPr>
              <a:t>It intensifies it.</a:t>
            </a:r>
            <a:endParaRPr lang="en-US" sz="4000" dirty="0"/>
          </a:p>
        </p:txBody>
      </p:sp>
      <p:sp>
        <p:nvSpPr>
          <p:cNvPr id="6" name="Shape 4"/>
          <p:cNvSpPr/>
          <p:nvPr/>
        </p:nvSpPr>
        <p:spPr>
          <a:xfrm>
            <a:off x="457200" y="2176272"/>
            <a:ext cx="7772400" cy="22860"/>
          </a:xfrm>
          <a:prstGeom prst="rect">
            <a:avLst/>
          </a:prstGeom>
          <a:solidFill>
            <a:srgbClr val="2A3F5E"/>
          </a:solidFill>
          <a:ln w="12700">
            <a:solidFill>
              <a:srgbClr val="2A3F5E"/>
            </a:solidFill>
            <a:prstDash val="solid"/>
          </a:ln>
        </p:spPr>
      </p:sp>
      <p:sp>
        <p:nvSpPr>
          <p:cNvPr id="7" name="Text 5"/>
          <p:cNvSpPr/>
          <p:nvPr/>
        </p:nvSpPr>
        <p:spPr>
          <a:xfrm>
            <a:off x="457200" y="2286000"/>
            <a:ext cx="8046720" cy="1325880"/>
          </a:xfrm>
          <a:prstGeom prst="rect">
            <a:avLst/>
          </a:prstGeom>
          <a:noFill/>
          <a:ln/>
        </p:spPr>
        <p:txBody>
          <a:bodyPr wrap="square" lIns="0" tIns="0" rIns="0" bIns="0" rtlCol="0" anchor="t"/>
          <a:lstStyle/>
          <a:p>
            <a:pPr algn="l" indent="0" marL="0">
              <a:buNone/>
            </a:pPr>
            <a:r>
              <a:rPr lang="en-US" sz="1400" dirty="0">
                <a:solidFill>
                  <a:srgbClr val="8BA3C0"/>
                </a:solidFill>
                <a:latin typeface="Calibri" pitchFamily="34" charset="0"/>
                <a:ea typeface="Calibri" pitchFamily="34" charset="-122"/>
                <a:cs typeface="Calibri" pitchFamily="34" charset="-120"/>
              </a:rPr>
              <a:t>Harvard Business Review's eight-month study of a 200-person technology company found that AI makes tasks easier to start — so people start more of them. Work expands and overflows into evenings and weekends. Without organizational intent behind the deployment, AI does not buy time.</a:t>
            </a:r>
            <a:endParaRPr lang="en-US" sz="1400" dirty="0"/>
          </a:p>
        </p:txBody>
      </p:sp>
      <p:sp>
        <p:nvSpPr>
          <p:cNvPr id="8" name="Shape 6"/>
          <p:cNvSpPr/>
          <p:nvPr/>
        </p:nvSpPr>
        <p:spPr>
          <a:xfrm>
            <a:off x="457200" y="3749040"/>
            <a:ext cx="7772400" cy="868680"/>
          </a:xfrm>
          <a:prstGeom prst="rect">
            <a:avLst/>
          </a:prstGeom>
          <a:solidFill>
            <a:srgbClr val="1A2B44"/>
          </a:solidFill>
          <a:ln w="12700">
            <a:solidFill>
              <a:srgbClr val="1A2B44"/>
            </a:solidFill>
            <a:prstDash val="solid"/>
          </a:ln>
        </p:spPr>
      </p:sp>
      <p:sp>
        <p:nvSpPr>
          <p:cNvPr id="9" name="Shape 7"/>
          <p:cNvSpPr/>
          <p:nvPr/>
        </p:nvSpPr>
        <p:spPr>
          <a:xfrm>
            <a:off x="457200" y="3749040"/>
            <a:ext cx="91440" cy="868680"/>
          </a:xfrm>
          <a:prstGeom prst="rect">
            <a:avLst/>
          </a:prstGeom>
          <a:solidFill>
            <a:srgbClr val="E85D04"/>
          </a:solidFill>
          <a:ln w="12700">
            <a:solidFill>
              <a:srgbClr val="E85D04"/>
            </a:solidFill>
            <a:prstDash val="solid"/>
          </a:ln>
        </p:spPr>
      </p:sp>
      <p:sp>
        <p:nvSpPr>
          <p:cNvPr id="10" name="Text 8"/>
          <p:cNvSpPr/>
          <p:nvPr/>
        </p:nvSpPr>
        <p:spPr>
          <a:xfrm>
            <a:off x="685800" y="3822192"/>
            <a:ext cx="7406640" cy="685800"/>
          </a:xfrm>
          <a:prstGeom prst="rect">
            <a:avLst/>
          </a:prstGeom>
          <a:noFill/>
          <a:ln/>
        </p:spPr>
        <p:txBody>
          <a:bodyPr wrap="square" lIns="0" tIns="0" rIns="0" bIns="0" rtlCol="0" anchor="ctr"/>
          <a:lstStyle/>
          <a:p>
            <a:pPr algn="l" indent="0" marL="0">
              <a:buNone/>
            </a:pPr>
            <a:r>
              <a:rPr lang="en-US" sz="1450" i="1" dirty="0">
                <a:solidFill>
                  <a:srgbClr val="FFFFFF"/>
                </a:solidFill>
                <a:latin typeface="Georgia" pitchFamily="34" charset="0"/>
                <a:ea typeface="Georgia" pitchFamily="34" charset="-122"/>
                <a:cs typeface="Georgia" pitchFamily="34" charset="-120"/>
              </a:rPr>
              <a:t>"Without intention, AI makes it easier to do more — but harder to stop."  — Harvard Business Review</a:t>
            </a:r>
            <a:endParaRPr lang="en-US" sz="1450" dirty="0"/>
          </a:p>
        </p:txBody>
      </p:sp>
      <p:sp>
        <p:nvSpPr>
          <p:cNvPr id="11" name="Text 9"/>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[5] Harvard Business Review, "AI Doesn't Reduce Work — It Intensifies It," Feb 9, 2026.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rgbClr val="1A1F2E"/>
                </a:solidFill>
                <a:latin typeface="Georgia" pitchFamily="34" charset="0"/>
                <a:ea typeface="Georgia" pitchFamily="34" charset="-122"/>
                <a:cs typeface="Georgia" pitchFamily="34" charset="-120"/>
              </a:rPr>
              <a:t>What's Different for the Organizations That Win</a:t>
            </a:r>
            <a:endParaRPr lang="en-US" sz="2600" dirty="0"/>
          </a:p>
        </p:txBody>
      </p:sp>
      <p:sp>
        <p:nvSpPr>
          <p:cNvPr id="4" name="Text 2"/>
          <p:cNvSpPr/>
          <p:nvPr/>
        </p:nvSpPr>
        <p:spPr>
          <a:xfrm>
            <a:off x="457200" y="914400"/>
            <a:ext cx="8229600" cy="411480"/>
          </a:xfrm>
          <a:prstGeom prst="rect">
            <a:avLst/>
          </a:prstGeom>
          <a:noFill/>
          <a:ln/>
        </p:spPr>
        <p:txBody>
          <a:bodyPr wrap="square" lIns="0" tIns="0" rIns="0" bIns="0" rtlCol="0" anchor="ctr"/>
          <a:lstStyle/>
          <a:p>
            <a:pPr algn="l" indent="0" marL="0">
              <a:buNone/>
            </a:pPr>
            <a:r>
              <a:rPr lang="en-US" sz="1350" dirty="0">
                <a:solidFill>
                  <a:srgbClr val="6B7280"/>
                </a:solidFill>
                <a:latin typeface="Calibri" pitchFamily="34" charset="0"/>
                <a:ea typeface="Calibri" pitchFamily="34" charset="-122"/>
                <a:cs typeface="Calibri" pitchFamily="34" charset="-120"/>
              </a:rPr>
              <a:t>The difference is not the tools they have. It is the clarity of intent behind how they use them.</a:t>
            </a:r>
            <a:endParaRPr lang="en-US" sz="1350" dirty="0"/>
          </a:p>
        </p:txBody>
      </p:sp>
      <p:sp>
        <p:nvSpPr>
          <p:cNvPr id="5" name="Shape 3"/>
          <p:cNvSpPr/>
          <p:nvPr/>
        </p:nvSpPr>
        <p:spPr>
          <a:xfrm>
            <a:off x="457200" y="1463040"/>
            <a:ext cx="3931920" cy="3108960"/>
          </a:xfrm>
          <a:prstGeom prst="rect">
            <a:avLst/>
          </a:prstGeom>
          <a:solidFill>
            <a:srgbClr val="FFFFFF"/>
          </a:solidFill>
          <a:ln w="12700">
            <a:solidFill>
              <a:srgbClr val="FFFFFF"/>
            </a:solidFill>
            <a:prstDash val="solid"/>
          </a:ln>
        </p:spPr>
      </p:sp>
      <p:sp>
        <p:nvSpPr>
          <p:cNvPr id="6" name="Shape 4"/>
          <p:cNvSpPr/>
          <p:nvPr/>
        </p:nvSpPr>
        <p:spPr>
          <a:xfrm>
            <a:off x="457200" y="1463040"/>
            <a:ext cx="3931920" cy="73152"/>
          </a:xfrm>
          <a:prstGeom prst="rect">
            <a:avLst/>
          </a:prstGeom>
          <a:solidFill>
            <a:srgbClr val="0D9488"/>
          </a:solidFill>
          <a:ln w="12700">
            <a:solidFill>
              <a:srgbClr val="0D9488"/>
            </a:solidFill>
            <a:prstDash val="solid"/>
          </a:ln>
        </p:spPr>
      </p:sp>
      <p:sp>
        <p:nvSpPr>
          <p:cNvPr id="7" name="Text 5"/>
          <p:cNvSpPr/>
          <p:nvPr/>
        </p:nvSpPr>
        <p:spPr>
          <a:xfrm>
            <a:off x="548640" y="1508760"/>
            <a:ext cx="3749040" cy="1371600"/>
          </a:xfrm>
          <a:prstGeom prst="rect">
            <a:avLst/>
          </a:prstGeom>
          <a:noFill/>
          <a:ln/>
        </p:spPr>
        <p:txBody>
          <a:bodyPr wrap="square" lIns="0" tIns="0" rIns="0" bIns="0" rtlCol="0" anchor="ctr"/>
          <a:lstStyle/>
          <a:p>
            <a:pPr algn="ctr" indent="0" marL="0">
              <a:buNone/>
            </a:pPr>
            <a:r>
              <a:rPr lang="en-US" sz="9600" b="1" dirty="0">
                <a:solidFill>
                  <a:srgbClr val="0D9488"/>
                </a:solidFill>
                <a:latin typeface="Georgia" pitchFamily="34" charset="0"/>
                <a:ea typeface="Georgia" pitchFamily="34" charset="-122"/>
                <a:cs typeface="Georgia" pitchFamily="34" charset="-120"/>
              </a:rPr>
              <a:t>3×</a:t>
            </a:r>
            <a:endParaRPr lang="en-US" sz="9600" dirty="0"/>
          </a:p>
        </p:txBody>
      </p:sp>
      <p:sp>
        <p:nvSpPr>
          <p:cNvPr id="8" name="Text 6"/>
          <p:cNvSpPr/>
          <p:nvPr/>
        </p:nvSpPr>
        <p:spPr>
          <a:xfrm>
            <a:off x="594360" y="2926080"/>
            <a:ext cx="365760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more likely to report significant</a:t>
            </a:r>
            <a:endParaRPr lang="en-US" sz="1250" dirty="0"/>
          </a:p>
        </p:txBody>
      </p:sp>
      <p:sp>
        <p:nvSpPr>
          <p:cNvPr id="9" name="Text 7"/>
          <p:cNvSpPr/>
          <p:nvPr/>
        </p:nvSpPr>
        <p:spPr>
          <a:xfrm>
            <a:off x="594360" y="3200400"/>
            <a:ext cx="3657600" cy="365760"/>
          </a:xfrm>
          <a:prstGeom prst="rect">
            <a:avLst/>
          </a:prstGeom>
          <a:noFill/>
          <a:ln/>
        </p:spPr>
        <p:txBody>
          <a:bodyPr wrap="square" lIns="0" tIns="0" rIns="0" bIns="0" rtlCol="0" anchor="ctr"/>
          <a:lstStyle/>
          <a:p>
            <a:pPr algn="ctr" indent="0" marL="0">
              <a:buNone/>
            </a:pPr>
            <a:r>
              <a:rPr lang="en-US" sz="1400" b="1" dirty="0">
                <a:solidFill>
                  <a:srgbClr val="1A1F2E"/>
                </a:solidFill>
                <a:latin typeface="Georgia" pitchFamily="34" charset="0"/>
                <a:ea typeface="Georgia" pitchFamily="34" charset="-122"/>
                <a:cs typeface="Georgia" pitchFamily="34" charset="-120"/>
              </a:rPr>
              <a:t>revenue growth from AI</a:t>
            </a:r>
            <a:endParaRPr lang="en-US" sz="1400" dirty="0"/>
          </a:p>
        </p:txBody>
      </p:sp>
      <p:sp>
        <p:nvSpPr>
          <p:cNvPr id="10" name="Text 8"/>
          <p:cNvSpPr/>
          <p:nvPr/>
        </p:nvSpPr>
        <p:spPr>
          <a:xfrm>
            <a:off x="594360" y="3611880"/>
            <a:ext cx="3657600" cy="77724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High-performing organizations that redesign workflows around AI</a:t>
            </a:r>
            <a:endParaRPr lang="en-US" sz="1100" dirty="0"/>
          </a:p>
        </p:txBody>
      </p:sp>
      <p:sp>
        <p:nvSpPr>
          <p:cNvPr id="11" name="Shape 9"/>
          <p:cNvSpPr/>
          <p:nvPr/>
        </p:nvSpPr>
        <p:spPr>
          <a:xfrm>
            <a:off x="4754880" y="1463040"/>
            <a:ext cx="3931920" cy="3108960"/>
          </a:xfrm>
          <a:prstGeom prst="rect">
            <a:avLst/>
          </a:prstGeom>
          <a:solidFill>
            <a:srgbClr val="FFFFFF"/>
          </a:solidFill>
          <a:ln w="12700">
            <a:solidFill>
              <a:srgbClr val="FFFFFF"/>
            </a:solidFill>
            <a:prstDash val="solid"/>
          </a:ln>
        </p:spPr>
      </p:sp>
      <p:sp>
        <p:nvSpPr>
          <p:cNvPr id="12" name="Shape 10"/>
          <p:cNvSpPr/>
          <p:nvPr/>
        </p:nvSpPr>
        <p:spPr>
          <a:xfrm>
            <a:off x="4754880" y="1463040"/>
            <a:ext cx="3931920" cy="73152"/>
          </a:xfrm>
          <a:prstGeom prst="rect">
            <a:avLst/>
          </a:prstGeom>
          <a:solidFill>
            <a:srgbClr val="0D9488"/>
          </a:solidFill>
          <a:ln w="12700">
            <a:solidFill>
              <a:srgbClr val="0D9488"/>
            </a:solidFill>
            <a:prstDash val="solid"/>
          </a:ln>
        </p:spPr>
      </p:sp>
      <p:sp>
        <p:nvSpPr>
          <p:cNvPr id="13" name="Text 11"/>
          <p:cNvSpPr/>
          <p:nvPr/>
        </p:nvSpPr>
        <p:spPr>
          <a:xfrm>
            <a:off x="4846320" y="1508760"/>
            <a:ext cx="3749040" cy="1371600"/>
          </a:xfrm>
          <a:prstGeom prst="rect">
            <a:avLst/>
          </a:prstGeom>
          <a:noFill/>
          <a:ln/>
        </p:spPr>
        <p:txBody>
          <a:bodyPr wrap="square" lIns="0" tIns="0" rIns="0" bIns="0" rtlCol="0" anchor="ctr"/>
          <a:lstStyle/>
          <a:p>
            <a:pPr algn="ctr" indent="0" marL="0">
              <a:buNone/>
            </a:pPr>
            <a:r>
              <a:rPr lang="en-US" sz="9600" b="1" dirty="0">
                <a:solidFill>
                  <a:srgbClr val="0D9488"/>
                </a:solidFill>
                <a:latin typeface="Georgia" pitchFamily="34" charset="0"/>
                <a:ea typeface="Georgia" pitchFamily="34" charset="-122"/>
                <a:cs typeface="Georgia" pitchFamily="34" charset="-120"/>
              </a:rPr>
              <a:t>2.1×</a:t>
            </a:r>
            <a:endParaRPr lang="en-US" sz="9600" dirty="0"/>
          </a:p>
        </p:txBody>
      </p:sp>
      <p:sp>
        <p:nvSpPr>
          <p:cNvPr id="14" name="Text 12"/>
          <p:cNvSpPr/>
          <p:nvPr/>
        </p:nvSpPr>
        <p:spPr>
          <a:xfrm>
            <a:off x="4892040" y="2926080"/>
            <a:ext cx="365760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more likely to report significant</a:t>
            </a:r>
            <a:endParaRPr lang="en-US" sz="1250" dirty="0"/>
          </a:p>
        </p:txBody>
      </p:sp>
      <p:sp>
        <p:nvSpPr>
          <p:cNvPr id="15" name="Text 13"/>
          <p:cNvSpPr/>
          <p:nvPr/>
        </p:nvSpPr>
        <p:spPr>
          <a:xfrm>
            <a:off x="4892040" y="3200400"/>
            <a:ext cx="3657600" cy="365760"/>
          </a:xfrm>
          <a:prstGeom prst="rect">
            <a:avLst/>
          </a:prstGeom>
          <a:noFill/>
          <a:ln/>
        </p:spPr>
        <p:txBody>
          <a:bodyPr wrap="square" lIns="0" tIns="0" rIns="0" bIns="0" rtlCol="0" anchor="ctr"/>
          <a:lstStyle/>
          <a:p>
            <a:pPr algn="ctr" indent="0" marL="0">
              <a:buNone/>
            </a:pPr>
            <a:r>
              <a:rPr lang="en-US" sz="1400" b="1" dirty="0">
                <a:solidFill>
                  <a:srgbClr val="1A1F2E"/>
                </a:solidFill>
                <a:latin typeface="Georgia" pitchFamily="34" charset="0"/>
                <a:ea typeface="Georgia" pitchFamily="34" charset="-122"/>
                <a:cs typeface="Georgia" pitchFamily="34" charset="-120"/>
              </a:rPr>
              <a:t>cost reduction</a:t>
            </a:r>
            <a:endParaRPr lang="en-US" sz="1400" dirty="0"/>
          </a:p>
        </p:txBody>
      </p:sp>
      <p:sp>
        <p:nvSpPr>
          <p:cNvPr id="16" name="Text 14"/>
          <p:cNvSpPr/>
          <p:nvPr/>
        </p:nvSpPr>
        <p:spPr>
          <a:xfrm>
            <a:off x="4892040" y="3611880"/>
            <a:ext cx="3657600" cy="77724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Organizations that embed AI in core business processes</a:t>
            </a:r>
            <a:endParaRPr lang="en-US" sz="1100" dirty="0"/>
          </a:p>
        </p:txBody>
      </p:sp>
      <p:sp>
        <p:nvSpPr>
          <p:cNvPr id="17" name="Text 15"/>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[6] McKinsey, "The State of AI in Early 2025," March 2025.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rgbClr val="1A1F2E"/>
                </a:solidFill>
                <a:latin typeface="Georgia" pitchFamily="34" charset="0"/>
                <a:ea typeface="Georgia" pitchFamily="34" charset="-122"/>
                <a:cs typeface="Georgia" pitchFamily="34" charset="-120"/>
              </a:rPr>
              <a:t>The Intent Architecture</a:t>
            </a:r>
            <a:endParaRPr lang="en-US" sz="2600" dirty="0"/>
          </a:p>
        </p:txBody>
      </p:sp>
      <p:sp>
        <p:nvSpPr>
          <p:cNvPr id="4" name="Text 2"/>
          <p:cNvSpPr/>
          <p:nvPr/>
        </p:nvSpPr>
        <p:spPr>
          <a:xfrm>
            <a:off x="457200" y="868680"/>
            <a:ext cx="8229600" cy="320040"/>
          </a:xfrm>
          <a:prstGeom prst="rect">
            <a:avLst/>
          </a:prstGeom>
          <a:noFill/>
          <a:ln/>
        </p:spPr>
        <p:txBody>
          <a:bodyPr wrap="square" lIns="0" tIns="0" rIns="0" bIns="0" rtlCol="0" anchor="ctr"/>
          <a:lstStyle/>
          <a:p>
            <a:pPr algn="l" indent="0" marL="0">
              <a:buNone/>
            </a:pPr>
            <a:r>
              <a:rPr lang="en-US" sz="1350" dirty="0">
                <a:solidFill>
                  <a:srgbClr val="6B7280"/>
                </a:solidFill>
                <a:latin typeface="Calibri" pitchFamily="34" charset="0"/>
                <a:ea typeface="Calibri" pitchFamily="34" charset="-122"/>
                <a:cs typeface="Calibri" pitchFamily="34" charset="-120"/>
              </a:rPr>
              <a:t>Five modules. Each one produces a decision, not just an insight.</a:t>
            </a:r>
            <a:endParaRPr lang="en-US" sz="1350" dirty="0"/>
          </a:p>
        </p:txBody>
      </p:sp>
      <p:sp>
        <p:nvSpPr>
          <p:cNvPr id="5" name="Shape 3"/>
          <p:cNvSpPr/>
          <p:nvPr/>
        </p:nvSpPr>
        <p:spPr>
          <a:xfrm>
            <a:off x="402336" y="1371600"/>
            <a:ext cx="1554480" cy="3246120"/>
          </a:xfrm>
          <a:prstGeom prst="rect">
            <a:avLst/>
          </a:prstGeom>
          <a:solidFill>
            <a:srgbClr val="FFFFFF"/>
          </a:solidFill>
          <a:ln w="12700">
            <a:solidFill>
              <a:srgbClr val="FFFFFF"/>
            </a:solidFill>
            <a:prstDash val="solid"/>
          </a:ln>
        </p:spPr>
      </p:sp>
      <p:sp>
        <p:nvSpPr>
          <p:cNvPr id="6" name="Shape 4"/>
          <p:cNvSpPr/>
          <p:nvPr/>
        </p:nvSpPr>
        <p:spPr>
          <a:xfrm>
            <a:off x="402336" y="1371600"/>
            <a:ext cx="1554480" cy="256032"/>
          </a:xfrm>
          <a:prstGeom prst="rect">
            <a:avLst/>
          </a:prstGeom>
          <a:solidFill>
            <a:srgbClr val="E85D04"/>
          </a:solidFill>
          <a:ln w="12700">
            <a:solidFill>
              <a:srgbClr val="E85D04"/>
            </a:solidFill>
            <a:prstDash val="solid"/>
          </a:ln>
        </p:spPr>
      </p:sp>
      <p:sp>
        <p:nvSpPr>
          <p:cNvPr id="7" name="Text 5"/>
          <p:cNvSpPr/>
          <p:nvPr/>
        </p:nvSpPr>
        <p:spPr>
          <a:xfrm>
            <a:off x="475488" y="1664208"/>
            <a:ext cx="1408176" cy="457200"/>
          </a:xfrm>
          <a:prstGeom prst="rect">
            <a:avLst/>
          </a:prstGeom>
          <a:noFill/>
          <a:ln/>
        </p:spPr>
        <p:txBody>
          <a:bodyPr wrap="square" lIns="0" tIns="0" rIns="0" bIns="0" rtlCol="0" anchor="ctr"/>
          <a:lstStyle/>
          <a:p>
            <a:pPr algn="l" indent="0" marL="0">
              <a:buNone/>
            </a:pPr>
            <a:r>
              <a:rPr lang="en-US" sz="1150" b="1" dirty="0">
                <a:solidFill>
                  <a:srgbClr val="E85D04"/>
                </a:solidFill>
                <a:latin typeface="Calibri" pitchFamily="34" charset="0"/>
                <a:ea typeface="Calibri" pitchFamily="34" charset="-122"/>
                <a:cs typeface="Calibri" pitchFamily="34" charset="-120"/>
              </a:rPr>
              <a:t>01</a:t>
            </a:r>
            <a:endParaRPr lang="en-US" sz="1150" dirty="0"/>
          </a:p>
        </p:txBody>
      </p:sp>
      <p:sp>
        <p:nvSpPr>
          <p:cNvPr id="8" name="Text 6"/>
          <p:cNvSpPr/>
          <p:nvPr/>
        </p:nvSpPr>
        <p:spPr>
          <a:xfrm>
            <a:off x="475488" y="2121408"/>
            <a:ext cx="1408176" cy="82296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Define</a:t>
            </a:r>
            <a:endParaRPr lang="en-US" sz="1400" dirty="0"/>
          </a:p>
          <a:p>
            <a:pPr algn="l" indent="0" marL="0">
              <a:buNone/>
            </a:pPr>
            <a:r>
              <a:rPr lang="en-US" sz="1400" b="1" dirty="0">
                <a:solidFill>
                  <a:srgbClr val="1A1F2E"/>
                </a:solidFill>
                <a:latin typeface="Georgia" pitchFamily="34" charset="0"/>
                <a:ea typeface="Georgia" pitchFamily="34" charset="-122"/>
                <a:cs typeface="Georgia" pitchFamily="34" charset="-120"/>
              </a:rPr>
              <a:t>Your Intent</a:t>
            </a:r>
            <a:endParaRPr lang="en-US" sz="1400" dirty="0"/>
          </a:p>
        </p:txBody>
      </p:sp>
      <p:sp>
        <p:nvSpPr>
          <p:cNvPr id="9" name="Shape 7"/>
          <p:cNvSpPr/>
          <p:nvPr/>
        </p:nvSpPr>
        <p:spPr>
          <a:xfrm>
            <a:off x="475488" y="2999232"/>
            <a:ext cx="1408176" cy="18288"/>
          </a:xfrm>
          <a:prstGeom prst="rect">
            <a:avLst/>
          </a:prstGeom>
          <a:solidFill>
            <a:srgbClr val="E2E8F0"/>
          </a:solidFill>
          <a:ln w="12700">
            <a:solidFill>
              <a:srgbClr val="E2E8F0"/>
            </a:solidFill>
            <a:prstDash val="solid"/>
          </a:ln>
        </p:spPr>
      </p:sp>
      <p:sp>
        <p:nvSpPr>
          <p:cNvPr id="10" name="Text 8"/>
          <p:cNvSpPr/>
          <p:nvPr/>
        </p:nvSpPr>
        <p:spPr>
          <a:xfrm>
            <a:off x="475488" y="3090672"/>
            <a:ext cx="1408176" cy="1371600"/>
          </a:xfrm>
          <a:prstGeom prst="rect">
            <a:avLst/>
          </a:prstGeom>
          <a:noFill/>
          <a:ln/>
        </p:spPr>
        <p:txBody>
          <a:bodyPr wrap="square" lIns="0" tIns="0" rIns="0" bIns="0" rtlCol="0" anchor="t"/>
          <a:lstStyle/>
          <a:p>
            <a:pPr algn="l" indent="0" marL="0">
              <a:buNone/>
            </a:pPr>
            <a:r>
              <a:rPr lang="en-US" sz="1000" dirty="0">
                <a:solidFill>
                  <a:srgbClr val="6B7280"/>
                </a:solidFill>
                <a:latin typeface="Calibri" pitchFamily="34" charset="0"/>
                <a:ea typeface="Calibri" pitchFamily="34" charset="-122"/>
                <a:cs typeface="Calibri" pitchFamily="34" charset="-120"/>
              </a:rPr>
              <a:t>What is AI supposed to accomplish for this organization?</a:t>
            </a:r>
            <a:endParaRPr lang="en-US" sz="1000" dirty="0"/>
          </a:p>
        </p:txBody>
      </p:sp>
      <p:sp>
        <p:nvSpPr>
          <p:cNvPr id="11" name="Text 9"/>
          <p:cNvSpPr/>
          <p:nvPr/>
        </p:nvSpPr>
        <p:spPr>
          <a:xfrm>
            <a:off x="1975104" y="2788920"/>
            <a:ext cx="146304" cy="411480"/>
          </a:xfrm>
          <a:prstGeom prst="rect">
            <a:avLst/>
          </a:prstGeom>
          <a:noFill/>
          <a:ln/>
        </p:spPr>
        <p:txBody>
          <a:bodyPr wrap="square" lIns="0" tIns="0" rIns="0" bIns="0" rtlCol="0" anchor="ctr"/>
          <a:lstStyle/>
          <a:p>
            <a:pPr algn="ctr" indent="0" marL="0">
              <a:buNone/>
            </a:pPr>
            <a:r>
              <a:rPr lang="en-US" sz="1400" b="1" dirty="0">
                <a:solidFill>
                  <a:srgbClr val="E85D04"/>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2103120" y="1371600"/>
            <a:ext cx="1554480" cy="3246120"/>
          </a:xfrm>
          <a:prstGeom prst="rect">
            <a:avLst/>
          </a:prstGeom>
          <a:solidFill>
            <a:srgbClr val="FFFFFF"/>
          </a:solidFill>
          <a:ln w="12700">
            <a:solidFill>
              <a:srgbClr val="FFFFFF"/>
            </a:solidFill>
            <a:prstDash val="solid"/>
          </a:ln>
        </p:spPr>
      </p:sp>
      <p:sp>
        <p:nvSpPr>
          <p:cNvPr id="13" name="Shape 11"/>
          <p:cNvSpPr/>
          <p:nvPr/>
        </p:nvSpPr>
        <p:spPr>
          <a:xfrm>
            <a:off x="2103120" y="1371600"/>
            <a:ext cx="1554480" cy="256032"/>
          </a:xfrm>
          <a:prstGeom prst="rect">
            <a:avLst/>
          </a:prstGeom>
          <a:solidFill>
            <a:srgbClr val="0D9488"/>
          </a:solidFill>
          <a:ln w="12700">
            <a:solidFill>
              <a:srgbClr val="0D9488"/>
            </a:solidFill>
            <a:prstDash val="solid"/>
          </a:ln>
        </p:spPr>
      </p:sp>
      <p:sp>
        <p:nvSpPr>
          <p:cNvPr id="14" name="Text 12"/>
          <p:cNvSpPr/>
          <p:nvPr/>
        </p:nvSpPr>
        <p:spPr>
          <a:xfrm>
            <a:off x="2176272" y="1664208"/>
            <a:ext cx="1408176" cy="457200"/>
          </a:xfrm>
          <a:prstGeom prst="rect">
            <a:avLst/>
          </a:prstGeom>
          <a:noFill/>
          <a:ln/>
        </p:spPr>
        <p:txBody>
          <a:bodyPr wrap="square" lIns="0" tIns="0" rIns="0" bIns="0" rtlCol="0" anchor="ctr"/>
          <a:lstStyle/>
          <a:p>
            <a:pPr algn="l" indent="0" marL="0">
              <a:buNone/>
            </a:pPr>
            <a:r>
              <a:rPr lang="en-US" sz="1150" b="1" dirty="0">
                <a:solidFill>
                  <a:srgbClr val="0D9488"/>
                </a:solidFill>
                <a:latin typeface="Calibri" pitchFamily="34" charset="0"/>
                <a:ea typeface="Calibri" pitchFamily="34" charset="-122"/>
                <a:cs typeface="Calibri" pitchFamily="34" charset="-120"/>
              </a:rPr>
              <a:t>02</a:t>
            </a:r>
            <a:endParaRPr lang="en-US" sz="1150" dirty="0"/>
          </a:p>
        </p:txBody>
      </p:sp>
      <p:sp>
        <p:nvSpPr>
          <p:cNvPr id="15" name="Text 13"/>
          <p:cNvSpPr/>
          <p:nvPr/>
        </p:nvSpPr>
        <p:spPr>
          <a:xfrm>
            <a:off x="2176272" y="2121408"/>
            <a:ext cx="1408176" cy="82296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Audit</a:t>
            </a:r>
            <a:endParaRPr lang="en-US" sz="1400" dirty="0"/>
          </a:p>
          <a:p>
            <a:pPr algn="l" indent="0" marL="0">
              <a:buNone/>
            </a:pPr>
            <a:r>
              <a:rPr lang="en-US" sz="1400" b="1" dirty="0">
                <a:solidFill>
                  <a:srgbClr val="1A1F2E"/>
                </a:solidFill>
                <a:latin typeface="Georgia" pitchFamily="34" charset="0"/>
                <a:ea typeface="Georgia" pitchFamily="34" charset="-122"/>
                <a:cs typeface="Georgia" pitchFamily="34" charset="-120"/>
              </a:rPr>
              <a:t>the Reality</a:t>
            </a:r>
            <a:endParaRPr lang="en-US" sz="1400" dirty="0"/>
          </a:p>
        </p:txBody>
      </p:sp>
      <p:sp>
        <p:nvSpPr>
          <p:cNvPr id="16" name="Shape 14"/>
          <p:cNvSpPr/>
          <p:nvPr/>
        </p:nvSpPr>
        <p:spPr>
          <a:xfrm>
            <a:off x="2176272" y="2999232"/>
            <a:ext cx="1408176" cy="18288"/>
          </a:xfrm>
          <a:prstGeom prst="rect">
            <a:avLst/>
          </a:prstGeom>
          <a:solidFill>
            <a:srgbClr val="E2E8F0"/>
          </a:solidFill>
          <a:ln w="12700">
            <a:solidFill>
              <a:srgbClr val="E2E8F0"/>
            </a:solidFill>
            <a:prstDash val="solid"/>
          </a:ln>
        </p:spPr>
      </p:sp>
      <p:sp>
        <p:nvSpPr>
          <p:cNvPr id="17" name="Text 15"/>
          <p:cNvSpPr/>
          <p:nvPr/>
        </p:nvSpPr>
        <p:spPr>
          <a:xfrm>
            <a:off x="2176272" y="3090672"/>
            <a:ext cx="1408176" cy="1371600"/>
          </a:xfrm>
          <a:prstGeom prst="rect">
            <a:avLst/>
          </a:prstGeom>
          <a:noFill/>
          <a:ln/>
        </p:spPr>
        <p:txBody>
          <a:bodyPr wrap="square" lIns="0" tIns="0" rIns="0" bIns="0" rtlCol="0" anchor="t"/>
          <a:lstStyle/>
          <a:p>
            <a:pPr algn="l" indent="0" marL="0">
              <a:buNone/>
            </a:pPr>
            <a:r>
              <a:rPr lang="en-US" sz="1000" dirty="0">
                <a:solidFill>
                  <a:srgbClr val="6B7280"/>
                </a:solidFill>
                <a:latin typeface="Calibri" pitchFamily="34" charset="0"/>
                <a:ea typeface="Calibri" pitchFamily="34" charset="-122"/>
                <a:cs typeface="Calibri" pitchFamily="34" charset="-120"/>
              </a:rPr>
              <a:t>Where are you actually? Tools, proficiency, and what you're measuring.</a:t>
            </a:r>
            <a:endParaRPr lang="en-US" sz="1000" dirty="0"/>
          </a:p>
        </p:txBody>
      </p:sp>
      <p:sp>
        <p:nvSpPr>
          <p:cNvPr id="18" name="Text 16"/>
          <p:cNvSpPr/>
          <p:nvPr/>
        </p:nvSpPr>
        <p:spPr>
          <a:xfrm>
            <a:off x="3675888" y="2788920"/>
            <a:ext cx="146304" cy="411480"/>
          </a:xfrm>
          <a:prstGeom prst="rect">
            <a:avLst/>
          </a:prstGeom>
          <a:noFill/>
          <a:ln/>
        </p:spPr>
        <p:txBody>
          <a:bodyPr wrap="square" lIns="0" tIns="0" rIns="0" bIns="0" rtlCol="0" anchor="ctr"/>
          <a:lstStyle/>
          <a:p>
            <a:pPr algn="ctr" indent="0" marL="0">
              <a:buNone/>
            </a:pPr>
            <a:r>
              <a:rPr lang="en-US" sz="1400" b="1" dirty="0">
                <a:solidFill>
                  <a:srgbClr val="E85D04"/>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3803904" y="1371600"/>
            <a:ext cx="1554480" cy="3246120"/>
          </a:xfrm>
          <a:prstGeom prst="rect">
            <a:avLst/>
          </a:prstGeom>
          <a:solidFill>
            <a:srgbClr val="FFFFFF"/>
          </a:solidFill>
          <a:ln w="12700">
            <a:solidFill>
              <a:srgbClr val="FFFFFF"/>
            </a:solidFill>
            <a:prstDash val="solid"/>
          </a:ln>
        </p:spPr>
      </p:sp>
      <p:sp>
        <p:nvSpPr>
          <p:cNvPr id="20" name="Shape 18"/>
          <p:cNvSpPr/>
          <p:nvPr/>
        </p:nvSpPr>
        <p:spPr>
          <a:xfrm>
            <a:off x="3803904" y="1371600"/>
            <a:ext cx="1554480" cy="256032"/>
          </a:xfrm>
          <a:prstGeom prst="rect">
            <a:avLst/>
          </a:prstGeom>
          <a:solidFill>
            <a:srgbClr val="7C3AED"/>
          </a:solidFill>
          <a:ln w="12700">
            <a:solidFill>
              <a:srgbClr val="7C3AED"/>
            </a:solidFill>
            <a:prstDash val="solid"/>
          </a:ln>
        </p:spPr>
      </p:sp>
      <p:sp>
        <p:nvSpPr>
          <p:cNvPr id="21" name="Text 19"/>
          <p:cNvSpPr/>
          <p:nvPr/>
        </p:nvSpPr>
        <p:spPr>
          <a:xfrm>
            <a:off x="3877056" y="1664208"/>
            <a:ext cx="1408176" cy="457200"/>
          </a:xfrm>
          <a:prstGeom prst="rect">
            <a:avLst/>
          </a:prstGeom>
          <a:noFill/>
          <a:ln/>
        </p:spPr>
        <p:txBody>
          <a:bodyPr wrap="square" lIns="0" tIns="0" rIns="0" bIns="0" rtlCol="0" anchor="ctr"/>
          <a:lstStyle/>
          <a:p>
            <a:pPr algn="l" indent="0" marL="0">
              <a:buNone/>
            </a:pPr>
            <a:r>
              <a:rPr lang="en-US" sz="1150" b="1" dirty="0">
                <a:solidFill>
                  <a:srgbClr val="7C3AED"/>
                </a:solidFill>
                <a:latin typeface="Calibri" pitchFamily="34" charset="0"/>
                <a:ea typeface="Calibri" pitchFamily="34" charset="-122"/>
                <a:cs typeface="Calibri" pitchFamily="34" charset="-120"/>
              </a:rPr>
              <a:t>03</a:t>
            </a:r>
            <a:endParaRPr lang="en-US" sz="1150" dirty="0"/>
          </a:p>
        </p:txBody>
      </p:sp>
      <p:sp>
        <p:nvSpPr>
          <p:cNvPr id="22" name="Text 20"/>
          <p:cNvSpPr/>
          <p:nvPr/>
        </p:nvSpPr>
        <p:spPr>
          <a:xfrm>
            <a:off x="3877056" y="2121408"/>
            <a:ext cx="1408176" cy="82296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Name</a:t>
            </a:r>
            <a:endParaRPr lang="en-US" sz="1400" dirty="0"/>
          </a:p>
          <a:p>
            <a:pPr algn="l" indent="0" marL="0">
              <a:buNone/>
            </a:pPr>
            <a:r>
              <a:rPr lang="en-US" sz="1400" b="1" dirty="0">
                <a:solidFill>
                  <a:srgbClr val="1A1F2E"/>
                </a:solidFill>
                <a:latin typeface="Georgia" pitchFamily="34" charset="0"/>
                <a:ea typeface="Georgia" pitchFamily="34" charset="-122"/>
                <a:cs typeface="Georgia" pitchFamily="34" charset="-120"/>
              </a:rPr>
              <a:t>the Gap</a:t>
            </a:r>
            <a:endParaRPr lang="en-US" sz="1400" dirty="0"/>
          </a:p>
        </p:txBody>
      </p:sp>
      <p:sp>
        <p:nvSpPr>
          <p:cNvPr id="23" name="Shape 21"/>
          <p:cNvSpPr/>
          <p:nvPr/>
        </p:nvSpPr>
        <p:spPr>
          <a:xfrm>
            <a:off x="3877056" y="2999232"/>
            <a:ext cx="1408176" cy="18288"/>
          </a:xfrm>
          <a:prstGeom prst="rect">
            <a:avLst/>
          </a:prstGeom>
          <a:solidFill>
            <a:srgbClr val="E2E8F0"/>
          </a:solidFill>
          <a:ln w="12700">
            <a:solidFill>
              <a:srgbClr val="E2E8F0"/>
            </a:solidFill>
            <a:prstDash val="solid"/>
          </a:ln>
        </p:spPr>
      </p:sp>
      <p:sp>
        <p:nvSpPr>
          <p:cNvPr id="24" name="Text 22"/>
          <p:cNvSpPr/>
          <p:nvPr/>
        </p:nvSpPr>
        <p:spPr>
          <a:xfrm>
            <a:off x="3877056" y="3090672"/>
            <a:ext cx="1408176" cy="1371600"/>
          </a:xfrm>
          <a:prstGeom prst="rect">
            <a:avLst/>
          </a:prstGeom>
          <a:noFill/>
          <a:ln/>
        </p:spPr>
        <p:txBody>
          <a:bodyPr wrap="square" lIns="0" tIns="0" rIns="0" bIns="0" rtlCol="0" anchor="t"/>
          <a:lstStyle/>
          <a:p>
            <a:pPr algn="l" indent="0" marL="0">
              <a:buNone/>
            </a:pPr>
            <a:r>
              <a:rPr lang="en-US" sz="1000" dirty="0">
                <a:solidFill>
                  <a:srgbClr val="6B7280"/>
                </a:solidFill>
                <a:latin typeface="Calibri" pitchFamily="34" charset="0"/>
                <a:ea typeface="Calibri" pitchFamily="34" charset="-122"/>
                <a:cs typeface="Calibri" pitchFamily="34" charset="-120"/>
              </a:rPr>
              <a:t>Tool ceiling, measurement gap, or intent gap — the diagnosis changes the prescription.</a:t>
            </a:r>
            <a:endParaRPr lang="en-US" sz="1000" dirty="0"/>
          </a:p>
        </p:txBody>
      </p:sp>
      <p:sp>
        <p:nvSpPr>
          <p:cNvPr id="25" name="Text 23"/>
          <p:cNvSpPr/>
          <p:nvPr/>
        </p:nvSpPr>
        <p:spPr>
          <a:xfrm>
            <a:off x="5376672" y="2788920"/>
            <a:ext cx="146304" cy="411480"/>
          </a:xfrm>
          <a:prstGeom prst="rect">
            <a:avLst/>
          </a:prstGeom>
          <a:noFill/>
          <a:ln/>
        </p:spPr>
        <p:txBody>
          <a:bodyPr wrap="square" lIns="0" tIns="0" rIns="0" bIns="0" rtlCol="0" anchor="ctr"/>
          <a:lstStyle/>
          <a:p>
            <a:pPr algn="ctr" indent="0" marL="0">
              <a:buNone/>
            </a:pPr>
            <a:r>
              <a:rPr lang="en-US" sz="1400" b="1" dirty="0">
                <a:solidFill>
                  <a:srgbClr val="E85D04"/>
                </a:solidFill>
                <a:latin typeface="Calibri" pitchFamily="34" charset="0"/>
                <a:ea typeface="Calibri" pitchFamily="34" charset="-122"/>
                <a:cs typeface="Calibri" pitchFamily="34" charset="-120"/>
              </a:rPr>
              <a:t>→</a:t>
            </a:r>
            <a:endParaRPr lang="en-US" sz="1400" dirty="0"/>
          </a:p>
        </p:txBody>
      </p:sp>
      <p:sp>
        <p:nvSpPr>
          <p:cNvPr id="26" name="Shape 24"/>
          <p:cNvSpPr/>
          <p:nvPr/>
        </p:nvSpPr>
        <p:spPr>
          <a:xfrm>
            <a:off x="5504688" y="1371600"/>
            <a:ext cx="1554480" cy="3246120"/>
          </a:xfrm>
          <a:prstGeom prst="rect">
            <a:avLst/>
          </a:prstGeom>
          <a:solidFill>
            <a:srgbClr val="FFFFFF"/>
          </a:solidFill>
          <a:ln w="12700">
            <a:solidFill>
              <a:srgbClr val="FFFFFF"/>
            </a:solidFill>
            <a:prstDash val="solid"/>
          </a:ln>
        </p:spPr>
      </p:sp>
      <p:sp>
        <p:nvSpPr>
          <p:cNvPr id="27" name="Shape 25"/>
          <p:cNvSpPr/>
          <p:nvPr/>
        </p:nvSpPr>
        <p:spPr>
          <a:xfrm>
            <a:off x="5504688" y="1371600"/>
            <a:ext cx="1554480" cy="256032"/>
          </a:xfrm>
          <a:prstGeom prst="rect">
            <a:avLst/>
          </a:prstGeom>
          <a:solidFill>
            <a:srgbClr val="D97706"/>
          </a:solidFill>
          <a:ln w="12700">
            <a:solidFill>
              <a:srgbClr val="D97706"/>
            </a:solidFill>
            <a:prstDash val="solid"/>
          </a:ln>
        </p:spPr>
      </p:sp>
      <p:sp>
        <p:nvSpPr>
          <p:cNvPr id="28" name="Text 26"/>
          <p:cNvSpPr/>
          <p:nvPr/>
        </p:nvSpPr>
        <p:spPr>
          <a:xfrm>
            <a:off x="5577840" y="1664208"/>
            <a:ext cx="1408176" cy="457200"/>
          </a:xfrm>
          <a:prstGeom prst="rect">
            <a:avLst/>
          </a:prstGeom>
          <a:noFill/>
          <a:ln/>
        </p:spPr>
        <p:txBody>
          <a:bodyPr wrap="square" lIns="0" tIns="0" rIns="0" bIns="0" rtlCol="0" anchor="ctr"/>
          <a:lstStyle/>
          <a:p>
            <a:pPr algn="l" indent="0" marL="0">
              <a:buNone/>
            </a:pPr>
            <a:r>
              <a:rPr lang="en-US" sz="1150" b="1" dirty="0">
                <a:solidFill>
                  <a:srgbClr val="D97706"/>
                </a:solidFill>
                <a:latin typeface="Calibri" pitchFamily="34" charset="0"/>
                <a:ea typeface="Calibri" pitchFamily="34" charset="-122"/>
                <a:cs typeface="Calibri" pitchFamily="34" charset="-120"/>
              </a:rPr>
              <a:t>04</a:t>
            </a:r>
            <a:endParaRPr lang="en-US" sz="1150" dirty="0"/>
          </a:p>
        </p:txBody>
      </p:sp>
      <p:sp>
        <p:nvSpPr>
          <p:cNvPr id="29" name="Text 27"/>
          <p:cNvSpPr/>
          <p:nvPr/>
        </p:nvSpPr>
        <p:spPr>
          <a:xfrm>
            <a:off x="5577840" y="2121408"/>
            <a:ext cx="1408176" cy="82296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Design</a:t>
            </a:r>
            <a:endParaRPr lang="en-US" sz="1400" dirty="0"/>
          </a:p>
          <a:p>
            <a:pPr algn="l" indent="0" marL="0">
              <a:buNone/>
            </a:pPr>
            <a:r>
              <a:rPr lang="en-US" sz="1400" b="1" dirty="0">
                <a:solidFill>
                  <a:srgbClr val="1A1F2E"/>
                </a:solidFill>
                <a:latin typeface="Georgia" pitchFamily="34" charset="0"/>
                <a:ea typeface="Georgia" pitchFamily="34" charset="-122"/>
                <a:cs typeface="Georgia" pitchFamily="34" charset="-120"/>
              </a:rPr>
              <a:t>the Path</a:t>
            </a:r>
            <a:endParaRPr lang="en-US" sz="1400" dirty="0"/>
          </a:p>
        </p:txBody>
      </p:sp>
      <p:sp>
        <p:nvSpPr>
          <p:cNvPr id="30" name="Shape 28"/>
          <p:cNvSpPr/>
          <p:nvPr/>
        </p:nvSpPr>
        <p:spPr>
          <a:xfrm>
            <a:off x="5577840" y="2999232"/>
            <a:ext cx="1408176" cy="18288"/>
          </a:xfrm>
          <a:prstGeom prst="rect">
            <a:avLst/>
          </a:prstGeom>
          <a:solidFill>
            <a:srgbClr val="E2E8F0"/>
          </a:solidFill>
          <a:ln w="12700">
            <a:solidFill>
              <a:srgbClr val="E2E8F0"/>
            </a:solidFill>
            <a:prstDash val="solid"/>
          </a:ln>
        </p:spPr>
      </p:sp>
      <p:sp>
        <p:nvSpPr>
          <p:cNvPr id="31" name="Text 29"/>
          <p:cNvSpPr/>
          <p:nvPr/>
        </p:nvSpPr>
        <p:spPr>
          <a:xfrm>
            <a:off x="5577840" y="3090672"/>
            <a:ext cx="1408176" cy="1371600"/>
          </a:xfrm>
          <a:prstGeom prst="rect">
            <a:avLst/>
          </a:prstGeom>
          <a:noFill/>
          <a:ln/>
        </p:spPr>
        <p:txBody>
          <a:bodyPr wrap="square" lIns="0" tIns="0" rIns="0" bIns="0" rtlCol="0" anchor="t"/>
          <a:lstStyle/>
          <a:p>
            <a:pPr algn="l" indent="0" marL="0">
              <a:buNone/>
            </a:pPr>
            <a:r>
              <a:rPr lang="en-US" sz="1000" dirty="0">
                <a:solidFill>
                  <a:srgbClr val="6B7280"/>
                </a:solidFill>
                <a:latin typeface="Calibri" pitchFamily="34" charset="0"/>
                <a:ea typeface="Calibri" pitchFamily="34" charset="-122"/>
                <a:cs typeface="Calibri" pitchFamily="34" charset="-120"/>
              </a:rPr>
              <a:t>Three phases, sequenced intentionally. Short, medium, and long-term moves.</a:t>
            </a:r>
            <a:endParaRPr lang="en-US" sz="1000" dirty="0"/>
          </a:p>
        </p:txBody>
      </p:sp>
      <p:sp>
        <p:nvSpPr>
          <p:cNvPr id="32" name="Text 30"/>
          <p:cNvSpPr/>
          <p:nvPr/>
        </p:nvSpPr>
        <p:spPr>
          <a:xfrm>
            <a:off x="7077456" y="2788920"/>
            <a:ext cx="146304" cy="411480"/>
          </a:xfrm>
          <a:prstGeom prst="rect">
            <a:avLst/>
          </a:prstGeom>
          <a:noFill/>
          <a:ln/>
        </p:spPr>
        <p:txBody>
          <a:bodyPr wrap="square" lIns="0" tIns="0" rIns="0" bIns="0" rtlCol="0" anchor="ctr"/>
          <a:lstStyle/>
          <a:p>
            <a:pPr algn="ctr" indent="0" marL="0">
              <a:buNone/>
            </a:pPr>
            <a:r>
              <a:rPr lang="en-US" sz="1400" b="1" dirty="0">
                <a:solidFill>
                  <a:srgbClr val="E85D04"/>
                </a:solidFill>
                <a:latin typeface="Calibri" pitchFamily="34" charset="0"/>
                <a:ea typeface="Calibri" pitchFamily="34" charset="-122"/>
                <a:cs typeface="Calibri" pitchFamily="34" charset="-120"/>
              </a:rPr>
              <a:t>→</a:t>
            </a:r>
            <a:endParaRPr lang="en-US" sz="1400" dirty="0"/>
          </a:p>
        </p:txBody>
      </p:sp>
      <p:sp>
        <p:nvSpPr>
          <p:cNvPr id="33" name="Shape 31"/>
          <p:cNvSpPr/>
          <p:nvPr/>
        </p:nvSpPr>
        <p:spPr>
          <a:xfrm>
            <a:off x="7205472" y="1371600"/>
            <a:ext cx="1554480" cy="3246120"/>
          </a:xfrm>
          <a:prstGeom prst="rect">
            <a:avLst/>
          </a:prstGeom>
          <a:solidFill>
            <a:srgbClr val="FFFFFF"/>
          </a:solidFill>
          <a:ln w="12700">
            <a:solidFill>
              <a:srgbClr val="FFFFFF"/>
            </a:solidFill>
            <a:prstDash val="solid"/>
          </a:ln>
        </p:spPr>
      </p:sp>
      <p:sp>
        <p:nvSpPr>
          <p:cNvPr id="34" name="Shape 32"/>
          <p:cNvSpPr/>
          <p:nvPr/>
        </p:nvSpPr>
        <p:spPr>
          <a:xfrm>
            <a:off x="7205472" y="1371600"/>
            <a:ext cx="1554480" cy="256032"/>
          </a:xfrm>
          <a:prstGeom prst="rect">
            <a:avLst/>
          </a:prstGeom>
          <a:solidFill>
            <a:srgbClr val="1D4ED8"/>
          </a:solidFill>
          <a:ln w="12700">
            <a:solidFill>
              <a:srgbClr val="1D4ED8"/>
            </a:solidFill>
            <a:prstDash val="solid"/>
          </a:ln>
        </p:spPr>
      </p:sp>
      <p:sp>
        <p:nvSpPr>
          <p:cNvPr id="35" name="Text 33"/>
          <p:cNvSpPr/>
          <p:nvPr/>
        </p:nvSpPr>
        <p:spPr>
          <a:xfrm>
            <a:off x="7278624" y="1664208"/>
            <a:ext cx="1408176" cy="457200"/>
          </a:xfrm>
          <a:prstGeom prst="rect">
            <a:avLst/>
          </a:prstGeom>
          <a:noFill/>
          <a:ln/>
        </p:spPr>
        <p:txBody>
          <a:bodyPr wrap="square" lIns="0" tIns="0" rIns="0" bIns="0" rtlCol="0" anchor="ctr"/>
          <a:lstStyle/>
          <a:p>
            <a:pPr algn="l" indent="0" marL="0">
              <a:buNone/>
            </a:pPr>
            <a:r>
              <a:rPr lang="en-US" sz="1150" b="1" dirty="0">
                <a:solidFill>
                  <a:srgbClr val="1D4ED8"/>
                </a:solidFill>
                <a:latin typeface="Calibri" pitchFamily="34" charset="0"/>
                <a:ea typeface="Calibri" pitchFamily="34" charset="-122"/>
                <a:cs typeface="Calibri" pitchFamily="34" charset="-120"/>
              </a:rPr>
              <a:t>05</a:t>
            </a:r>
            <a:endParaRPr lang="en-US" sz="1150" dirty="0"/>
          </a:p>
        </p:txBody>
      </p:sp>
      <p:sp>
        <p:nvSpPr>
          <p:cNvPr id="36" name="Text 34"/>
          <p:cNvSpPr/>
          <p:nvPr/>
        </p:nvSpPr>
        <p:spPr>
          <a:xfrm>
            <a:off x="7278624" y="2121408"/>
            <a:ext cx="1408176" cy="82296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Build for</a:t>
            </a:r>
            <a:endParaRPr lang="en-US" sz="1400" dirty="0"/>
          </a:p>
          <a:p>
            <a:pPr algn="l" indent="0" marL="0">
              <a:buNone/>
            </a:pPr>
            <a:r>
              <a:rPr lang="en-US" sz="1400" b="1" dirty="0">
                <a:solidFill>
                  <a:srgbClr val="1A1F2E"/>
                </a:solidFill>
                <a:latin typeface="Georgia" pitchFamily="34" charset="0"/>
                <a:ea typeface="Georgia" pitchFamily="34" charset="-122"/>
                <a:cs typeface="Georgia" pitchFamily="34" charset="-120"/>
              </a:rPr>
              <a:t>What's Coming</a:t>
            </a:r>
            <a:endParaRPr lang="en-US" sz="1400" dirty="0"/>
          </a:p>
        </p:txBody>
      </p:sp>
      <p:sp>
        <p:nvSpPr>
          <p:cNvPr id="37" name="Shape 35"/>
          <p:cNvSpPr/>
          <p:nvPr/>
        </p:nvSpPr>
        <p:spPr>
          <a:xfrm>
            <a:off x="7278624" y="2999232"/>
            <a:ext cx="1408176" cy="18288"/>
          </a:xfrm>
          <a:prstGeom prst="rect">
            <a:avLst/>
          </a:prstGeom>
          <a:solidFill>
            <a:srgbClr val="E2E8F0"/>
          </a:solidFill>
          <a:ln w="12700">
            <a:solidFill>
              <a:srgbClr val="E2E8F0"/>
            </a:solidFill>
            <a:prstDash val="solid"/>
          </a:ln>
        </p:spPr>
      </p:sp>
      <p:sp>
        <p:nvSpPr>
          <p:cNvPr id="38" name="Text 36"/>
          <p:cNvSpPr/>
          <p:nvPr/>
        </p:nvSpPr>
        <p:spPr>
          <a:xfrm>
            <a:off x="7278624" y="3090672"/>
            <a:ext cx="1408176" cy="1371600"/>
          </a:xfrm>
          <a:prstGeom prst="rect">
            <a:avLst/>
          </a:prstGeom>
          <a:noFill/>
          <a:ln/>
        </p:spPr>
        <p:txBody>
          <a:bodyPr wrap="square" lIns="0" tIns="0" rIns="0" bIns="0" rtlCol="0" anchor="t"/>
          <a:lstStyle/>
          <a:p>
            <a:pPr algn="l" indent="0" marL="0">
              <a:buNone/>
            </a:pPr>
            <a:r>
              <a:rPr lang="en-US" sz="1000" dirty="0">
                <a:solidFill>
                  <a:srgbClr val="6B7280"/>
                </a:solidFill>
                <a:latin typeface="Calibri" pitchFamily="34" charset="0"/>
                <a:ea typeface="Calibri" pitchFamily="34" charset="-122"/>
                <a:cs typeface="Calibri" pitchFamily="34" charset="-120"/>
              </a:rPr>
              <a:t>AI is not a destination. Your organization needs to move with it.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What the Intent Architecture Is Not</a:t>
            </a:r>
            <a:endParaRPr lang="en-US" sz="2800" dirty="0"/>
          </a:p>
        </p:txBody>
      </p:sp>
      <p:sp>
        <p:nvSpPr>
          <p:cNvPr id="4" name="Shape 2"/>
          <p:cNvSpPr/>
          <p:nvPr/>
        </p:nvSpPr>
        <p:spPr>
          <a:xfrm>
            <a:off x="457200" y="1005840"/>
            <a:ext cx="8229600" cy="1097280"/>
          </a:xfrm>
          <a:prstGeom prst="rect">
            <a:avLst/>
          </a:prstGeom>
          <a:solidFill>
            <a:srgbClr val="1A2B44"/>
          </a:solidFill>
          <a:ln w="12700">
            <a:solidFill>
              <a:srgbClr val="1A2B44"/>
            </a:solidFill>
            <a:prstDash val="solid"/>
          </a:ln>
        </p:spPr>
      </p:sp>
      <p:sp>
        <p:nvSpPr>
          <p:cNvPr id="5" name="Shape 3"/>
          <p:cNvSpPr/>
          <p:nvPr/>
        </p:nvSpPr>
        <p:spPr>
          <a:xfrm>
            <a:off x="457200" y="1005840"/>
            <a:ext cx="91440" cy="1097280"/>
          </a:xfrm>
          <a:prstGeom prst="rect">
            <a:avLst/>
          </a:prstGeom>
          <a:solidFill>
            <a:srgbClr val="E85D04"/>
          </a:solidFill>
          <a:ln w="12700">
            <a:solidFill>
              <a:srgbClr val="E85D04"/>
            </a:solidFill>
            <a:prstDash val="solid"/>
          </a:ln>
        </p:spPr>
      </p:sp>
      <p:sp>
        <p:nvSpPr>
          <p:cNvPr id="6" name="Text 4"/>
          <p:cNvSpPr/>
          <p:nvPr/>
        </p:nvSpPr>
        <p:spPr>
          <a:xfrm>
            <a:off x="731520" y="1115568"/>
            <a:ext cx="7772400" cy="347472"/>
          </a:xfrm>
          <a:prstGeom prst="rect">
            <a:avLst/>
          </a:prstGeom>
          <a:noFill/>
          <a:ln/>
        </p:spPr>
        <p:txBody>
          <a:bodyPr wrap="square" lIns="0" tIns="0" rIns="0" bIns="0" rtlCol="0" anchor="ctr"/>
          <a:lstStyle/>
          <a:p>
            <a:pPr algn="l" indent="0" marL="0">
              <a:buNone/>
            </a:pPr>
            <a:r>
              <a:rPr lang="en-US" sz="1500" b="1" dirty="0">
                <a:solidFill>
                  <a:srgbClr val="F9C74F"/>
                </a:solidFill>
                <a:latin typeface="Georgia" pitchFamily="34" charset="0"/>
                <a:ea typeface="Georgia" pitchFamily="34" charset="-122"/>
                <a:cs typeface="Georgia" pitchFamily="34" charset="-120"/>
              </a:rPr>
              <a:t>Not a maturity ladder.</a:t>
            </a:r>
            <a:endParaRPr lang="en-US" sz="1500" dirty="0"/>
          </a:p>
        </p:txBody>
      </p:sp>
      <p:sp>
        <p:nvSpPr>
          <p:cNvPr id="7" name="Text 5"/>
          <p:cNvSpPr/>
          <p:nvPr/>
        </p:nvSpPr>
        <p:spPr>
          <a:xfrm>
            <a:off x="731520" y="1463040"/>
            <a:ext cx="7680960" cy="594360"/>
          </a:xfrm>
          <a:prstGeom prst="rect">
            <a:avLst/>
          </a:prstGeom>
          <a:noFill/>
          <a:ln/>
        </p:spPr>
        <p:txBody>
          <a:bodyPr wrap="square" lIns="0" tIns="0" rIns="0" bIns="0" rtlCol="0" anchor="t"/>
          <a:lstStyle/>
          <a:p>
            <a:pPr algn="l" indent="0" marL="0">
              <a:buNone/>
            </a:pPr>
            <a:r>
              <a:rPr lang="en-US" sz="1250" dirty="0">
                <a:solidFill>
                  <a:srgbClr val="FFFFFF"/>
                </a:solidFill>
                <a:latin typeface="Calibri" pitchFamily="34" charset="0"/>
                <a:ea typeface="Calibri" pitchFamily="34" charset="-122"/>
                <a:cs typeface="Calibri" pitchFamily="34" charset="-120"/>
              </a:rPr>
              <a:t>Maturity ladders tell you where you are. The Intent Architecture starts with where you want to go, then works backward to your current reality.</a:t>
            </a:r>
            <a:endParaRPr lang="en-US" sz="1250" dirty="0"/>
          </a:p>
        </p:txBody>
      </p:sp>
      <p:sp>
        <p:nvSpPr>
          <p:cNvPr id="8" name="Shape 6"/>
          <p:cNvSpPr/>
          <p:nvPr/>
        </p:nvSpPr>
        <p:spPr>
          <a:xfrm>
            <a:off x="457200" y="2286000"/>
            <a:ext cx="8229600" cy="1097280"/>
          </a:xfrm>
          <a:prstGeom prst="rect">
            <a:avLst/>
          </a:prstGeom>
          <a:solidFill>
            <a:srgbClr val="1A2B44"/>
          </a:solidFill>
          <a:ln w="12700">
            <a:solidFill>
              <a:srgbClr val="1A2B44"/>
            </a:solidFill>
            <a:prstDash val="solid"/>
          </a:ln>
        </p:spPr>
      </p:sp>
      <p:sp>
        <p:nvSpPr>
          <p:cNvPr id="9" name="Shape 7"/>
          <p:cNvSpPr/>
          <p:nvPr/>
        </p:nvSpPr>
        <p:spPr>
          <a:xfrm>
            <a:off x="457200" y="2286000"/>
            <a:ext cx="91440" cy="1097280"/>
          </a:xfrm>
          <a:prstGeom prst="rect">
            <a:avLst/>
          </a:prstGeom>
          <a:solidFill>
            <a:srgbClr val="E85D04"/>
          </a:solidFill>
          <a:ln w="12700">
            <a:solidFill>
              <a:srgbClr val="E85D04"/>
            </a:solidFill>
            <a:prstDash val="solid"/>
          </a:ln>
        </p:spPr>
      </p:sp>
      <p:sp>
        <p:nvSpPr>
          <p:cNvPr id="10" name="Text 8"/>
          <p:cNvSpPr/>
          <p:nvPr/>
        </p:nvSpPr>
        <p:spPr>
          <a:xfrm>
            <a:off x="731520" y="2395728"/>
            <a:ext cx="7772400" cy="347472"/>
          </a:xfrm>
          <a:prstGeom prst="rect">
            <a:avLst/>
          </a:prstGeom>
          <a:noFill/>
          <a:ln/>
        </p:spPr>
        <p:txBody>
          <a:bodyPr wrap="square" lIns="0" tIns="0" rIns="0" bIns="0" rtlCol="0" anchor="ctr"/>
          <a:lstStyle/>
          <a:p>
            <a:pPr algn="l" indent="0" marL="0">
              <a:buNone/>
            </a:pPr>
            <a:r>
              <a:rPr lang="en-US" sz="1500" b="1" dirty="0">
                <a:solidFill>
                  <a:srgbClr val="F9C74F"/>
                </a:solidFill>
                <a:latin typeface="Georgia" pitchFamily="34" charset="0"/>
                <a:ea typeface="Georgia" pitchFamily="34" charset="-122"/>
                <a:cs typeface="Georgia" pitchFamily="34" charset="-120"/>
              </a:rPr>
              <a:t>Not a tool selection guide.</a:t>
            </a:r>
            <a:endParaRPr lang="en-US" sz="1500" dirty="0"/>
          </a:p>
        </p:txBody>
      </p:sp>
      <p:sp>
        <p:nvSpPr>
          <p:cNvPr id="11" name="Text 9"/>
          <p:cNvSpPr/>
          <p:nvPr/>
        </p:nvSpPr>
        <p:spPr>
          <a:xfrm>
            <a:off x="731520" y="2743200"/>
            <a:ext cx="7680960" cy="594360"/>
          </a:xfrm>
          <a:prstGeom prst="rect">
            <a:avLst/>
          </a:prstGeom>
          <a:noFill/>
          <a:ln/>
        </p:spPr>
        <p:txBody>
          <a:bodyPr wrap="square" lIns="0" tIns="0" rIns="0" bIns="0" rtlCol="0" anchor="t"/>
          <a:lstStyle/>
          <a:p>
            <a:pPr algn="l" indent="0" marL="0">
              <a:buNone/>
            </a:pPr>
            <a:r>
              <a:rPr lang="en-US" sz="1250" dirty="0">
                <a:solidFill>
                  <a:srgbClr val="FFFFFF"/>
                </a:solidFill>
                <a:latin typeface="Calibri" pitchFamily="34" charset="0"/>
                <a:ea typeface="Calibri" pitchFamily="34" charset="-122"/>
                <a:cs typeface="Calibri" pitchFamily="34" charset="-120"/>
              </a:rPr>
              <a:t>The framework applies to any deployment — Copilot, ChatGPT Enterprise, Claude, or custom. The tool is Module 2. The intent is Module 1.</a:t>
            </a:r>
            <a:endParaRPr lang="en-US" sz="1250" dirty="0"/>
          </a:p>
        </p:txBody>
      </p:sp>
      <p:sp>
        <p:nvSpPr>
          <p:cNvPr id="12" name="Shape 10"/>
          <p:cNvSpPr/>
          <p:nvPr/>
        </p:nvSpPr>
        <p:spPr>
          <a:xfrm>
            <a:off x="457200" y="3566160"/>
            <a:ext cx="8229600" cy="1097280"/>
          </a:xfrm>
          <a:prstGeom prst="rect">
            <a:avLst/>
          </a:prstGeom>
          <a:solidFill>
            <a:srgbClr val="1A2B44"/>
          </a:solidFill>
          <a:ln w="12700">
            <a:solidFill>
              <a:srgbClr val="1A2B44"/>
            </a:solidFill>
            <a:prstDash val="solid"/>
          </a:ln>
        </p:spPr>
      </p:sp>
      <p:sp>
        <p:nvSpPr>
          <p:cNvPr id="13" name="Shape 11"/>
          <p:cNvSpPr/>
          <p:nvPr/>
        </p:nvSpPr>
        <p:spPr>
          <a:xfrm>
            <a:off x="457200" y="3566160"/>
            <a:ext cx="91440" cy="1097280"/>
          </a:xfrm>
          <a:prstGeom prst="rect">
            <a:avLst/>
          </a:prstGeom>
          <a:solidFill>
            <a:srgbClr val="E85D04"/>
          </a:solidFill>
          <a:ln w="12700">
            <a:solidFill>
              <a:srgbClr val="E85D04"/>
            </a:solidFill>
            <a:prstDash val="solid"/>
          </a:ln>
        </p:spPr>
      </p:sp>
      <p:sp>
        <p:nvSpPr>
          <p:cNvPr id="14" name="Text 12"/>
          <p:cNvSpPr/>
          <p:nvPr/>
        </p:nvSpPr>
        <p:spPr>
          <a:xfrm>
            <a:off x="731520" y="3675888"/>
            <a:ext cx="7772400" cy="347472"/>
          </a:xfrm>
          <a:prstGeom prst="rect">
            <a:avLst/>
          </a:prstGeom>
          <a:noFill/>
          <a:ln/>
        </p:spPr>
        <p:txBody>
          <a:bodyPr wrap="square" lIns="0" tIns="0" rIns="0" bIns="0" rtlCol="0" anchor="ctr"/>
          <a:lstStyle/>
          <a:p>
            <a:pPr algn="l" indent="0" marL="0">
              <a:buNone/>
            </a:pPr>
            <a:r>
              <a:rPr lang="en-US" sz="1500" b="1" dirty="0">
                <a:solidFill>
                  <a:srgbClr val="F9C74F"/>
                </a:solidFill>
                <a:latin typeface="Georgia" pitchFamily="34" charset="0"/>
                <a:ea typeface="Georgia" pitchFamily="34" charset="-122"/>
                <a:cs typeface="Georgia" pitchFamily="34" charset="-120"/>
              </a:rPr>
              <a:t>Not a critique of your current deployment.</a:t>
            </a:r>
            <a:endParaRPr lang="en-US" sz="1500" dirty="0"/>
          </a:p>
        </p:txBody>
      </p:sp>
      <p:sp>
        <p:nvSpPr>
          <p:cNvPr id="15" name="Text 13"/>
          <p:cNvSpPr/>
          <p:nvPr/>
        </p:nvSpPr>
        <p:spPr>
          <a:xfrm>
            <a:off x="731520" y="4023360"/>
            <a:ext cx="7680960" cy="594360"/>
          </a:xfrm>
          <a:prstGeom prst="rect">
            <a:avLst/>
          </a:prstGeom>
          <a:noFill/>
          <a:ln/>
        </p:spPr>
        <p:txBody>
          <a:bodyPr wrap="square" lIns="0" tIns="0" rIns="0" bIns="0" rtlCol="0" anchor="t"/>
          <a:lstStyle/>
          <a:p>
            <a:pPr algn="l" indent="0" marL="0">
              <a:buNone/>
            </a:pPr>
            <a:r>
              <a:rPr lang="en-US" sz="1250" dirty="0">
                <a:solidFill>
                  <a:srgbClr val="FFFFFF"/>
                </a:solidFill>
                <a:latin typeface="Calibri" pitchFamily="34" charset="0"/>
                <a:ea typeface="Calibri" pitchFamily="34" charset="-122"/>
                <a:cs typeface="Calibri" pitchFamily="34" charset="-120"/>
              </a:rPr>
              <a:t>Whatever you have deployed is the starting point. The framework builds from here, without requiring you to start over.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2743200" y="274320"/>
            <a:ext cx="5943600" cy="4114800"/>
          </a:xfrm>
          <a:prstGeom prst="rect">
            <a:avLst/>
          </a:prstGeom>
          <a:noFill/>
          <a:ln/>
        </p:spPr>
        <p:txBody>
          <a:bodyPr wrap="square" lIns="0" tIns="0" rIns="0" bIns="0" rtlCol="0" anchor="ctr"/>
          <a:lstStyle/>
          <a:p>
            <a:pPr algn="r" indent="0" marL="0">
              <a:buNone/>
            </a:pPr>
            <a:r>
              <a:rPr lang="en-US" sz="20000" b="1" dirty="0">
                <a:solidFill>
                  <a:srgbClr val="0A1525"/>
                </a:solidFill>
                <a:latin typeface="Georgia" pitchFamily="34" charset="0"/>
                <a:ea typeface="Georgia" pitchFamily="34" charset="-122"/>
                <a:cs typeface="Georgia" pitchFamily="34" charset="-120"/>
              </a:rPr>
              <a:t>01</a:t>
            </a:r>
            <a:endParaRPr lang="en-US" sz="20000" dirty="0"/>
          </a:p>
        </p:txBody>
      </p:sp>
      <p:sp>
        <p:nvSpPr>
          <p:cNvPr id="4" name="Text 2"/>
          <p:cNvSpPr/>
          <p:nvPr/>
        </p:nvSpPr>
        <p:spPr>
          <a:xfrm>
            <a:off x="457200" y="1188720"/>
            <a:ext cx="6400800" cy="365760"/>
          </a:xfrm>
          <a:prstGeom prst="rect">
            <a:avLst/>
          </a:prstGeom>
          <a:noFill/>
          <a:ln/>
        </p:spPr>
        <p:txBody>
          <a:bodyPr wrap="square" lIns="0" tIns="0" rIns="0" bIns="0" rtlCol="0" anchor="ctr"/>
          <a:lstStyle/>
          <a:p>
            <a:pPr algn="l" indent="0" marL="0">
              <a:buNone/>
            </a:pPr>
            <a:r>
              <a:rPr lang="en-US" sz="1100" b="1" spc="400" kern="0" dirty="0">
                <a:solidFill>
                  <a:srgbClr val="E85D04"/>
                </a:solidFill>
                <a:latin typeface="Calibri" pitchFamily="34" charset="0"/>
                <a:ea typeface="Calibri" pitchFamily="34" charset="-122"/>
                <a:cs typeface="Calibri" pitchFamily="34" charset="-120"/>
              </a:rPr>
              <a:t>MODULE 01</a:t>
            </a:r>
            <a:endParaRPr lang="en-US" sz="1100" dirty="0"/>
          </a:p>
        </p:txBody>
      </p:sp>
      <p:sp>
        <p:nvSpPr>
          <p:cNvPr id="5" name="Text 3"/>
          <p:cNvSpPr/>
          <p:nvPr/>
        </p:nvSpPr>
        <p:spPr>
          <a:xfrm>
            <a:off x="457200" y="1664208"/>
            <a:ext cx="6858000" cy="1737360"/>
          </a:xfrm>
          <a:prstGeom prst="rect">
            <a:avLst/>
          </a:prstGeom>
          <a:noFill/>
          <a:ln/>
        </p:spPr>
        <p:txBody>
          <a:bodyPr wrap="square" lIns="0" tIns="0" rIns="0" bIns="0" rtlCol="0" anchor="ctr"/>
          <a:lstStyle/>
          <a:p>
            <a:pPr algn="l" indent="0" marL="0">
              <a:buNone/>
            </a:pPr>
            <a:r>
              <a:rPr lang="en-US" sz="5600" b="1" dirty="0">
                <a:solidFill>
                  <a:srgbClr val="FFFFFF"/>
                </a:solidFill>
                <a:latin typeface="Georgia" pitchFamily="34" charset="0"/>
                <a:ea typeface="Georgia" pitchFamily="34" charset="-122"/>
                <a:cs typeface="Georgia" pitchFamily="34" charset="-120"/>
              </a:rPr>
              <a:t>Define Your</a:t>
            </a:r>
            <a:endParaRPr lang="en-US" sz="5600" dirty="0"/>
          </a:p>
          <a:p>
            <a:pPr algn="l" indent="0" marL="0">
              <a:buNone/>
            </a:pPr>
            <a:r>
              <a:rPr lang="en-US" sz="5600" b="1" dirty="0">
                <a:solidFill>
                  <a:srgbClr val="FFFFFF"/>
                </a:solidFill>
                <a:latin typeface="Georgia" pitchFamily="34" charset="0"/>
                <a:ea typeface="Georgia" pitchFamily="34" charset="-122"/>
                <a:cs typeface="Georgia" pitchFamily="34" charset="-120"/>
              </a:rPr>
              <a:t>AI Intent</a:t>
            </a:r>
            <a:endParaRPr lang="en-US" sz="5600" dirty="0"/>
          </a:p>
        </p:txBody>
      </p:sp>
      <p:sp>
        <p:nvSpPr>
          <p:cNvPr id="6" name="Text 4"/>
          <p:cNvSpPr/>
          <p:nvPr/>
        </p:nvSpPr>
        <p:spPr>
          <a:xfrm>
            <a:off x="457200" y="3547872"/>
            <a:ext cx="6400800" cy="548640"/>
          </a:xfrm>
          <a:prstGeom prst="rect">
            <a:avLst/>
          </a:prstGeom>
          <a:noFill/>
          <a:ln/>
        </p:spPr>
        <p:txBody>
          <a:bodyPr wrap="square" lIns="0" tIns="0" rIns="0" bIns="0" rtlCol="0" anchor="ctr"/>
          <a:lstStyle/>
          <a:p>
            <a:pPr algn="l" indent="0" marL="0">
              <a:buNone/>
            </a:pPr>
            <a:r>
              <a:rPr lang="en-US" sz="1600" dirty="0">
                <a:solidFill>
                  <a:srgbClr val="94A3B8"/>
                </a:solidFill>
                <a:latin typeface="Calibri" pitchFamily="34" charset="0"/>
                <a:ea typeface="Calibri" pitchFamily="34" charset="-122"/>
                <a:cs typeface="Calibri" pitchFamily="34" charset="-120"/>
              </a:rPr>
              <a:t>What is AI actually supposed to do for this organization?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01  ·  DEFINE YOUR AI INTENT</a:t>
            </a:r>
            <a:endParaRPr lang="en-US" sz="1000" dirty="0"/>
          </a:p>
        </p:txBody>
      </p:sp>
      <p:sp>
        <p:nvSpPr>
          <p:cNvPr id="4" name="Text 2"/>
          <p:cNvSpPr/>
          <p:nvPr/>
        </p:nvSpPr>
        <p:spPr>
          <a:xfrm>
            <a:off x="457200" y="475488"/>
            <a:ext cx="8229600" cy="640080"/>
          </a:xfrm>
          <a:prstGeom prst="rect">
            <a:avLst/>
          </a:prstGeom>
          <a:noFill/>
          <a:ln/>
        </p:spPr>
        <p:txBody>
          <a:bodyPr wrap="square" lIns="0" tIns="0" rIns="0" bIns="0" rtlCol="0" anchor="ctr"/>
          <a:lstStyle/>
          <a:p>
            <a:pPr algn="l" indent="0" marL="0">
              <a:buNone/>
            </a:pPr>
            <a:r>
              <a:rPr lang="en-US" sz="2800" b="1" dirty="0">
                <a:solidFill>
                  <a:srgbClr val="1A1F2E"/>
                </a:solidFill>
                <a:latin typeface="Georgia" pitchFamily="34" charset="0"/>
                <a:ea typeface="Georgia" pitchFamily="34" charset="-122"/>
                <a:cs typeface="Georgia" pitchFamily="34" charset="-120"/>
              </a:rPr>
              <a:t>The First Question Is Not About Tools</a:t>
            </a:r>
            <a:endParaRPr lang="en-US" sz="2800" dirty="0"/>
          </a:p>
        </p:txBody>
      </p:sp>
      <p:sp>
        <p:nvSpPr>
          <p:cNvPr id="5" name="Shape 3"/>
          <p:cNvSpPr/>
          <p:nvPr/>
        </p:nvSpPr>
        <p:spPr>
          <a:xfrm>
            <a:off x="365760" y="1234440"/>
            <a:ext cx="4069080" cy="3337560"/>
          </a:xfrm>
          <a:prstGeom prst="rect">
            <a:avLst/>
          </a:prstGeom>
          <a:solidFill>
            <a:srgbClr val="FFFFFF"/>
          </a:solidFill>
          <a:ln w="12700">
            <a:solidFill>
              <a:srgbClr val="FFFFFF"/>
            </a:solidFill>
            <a:prstDash val="solid"/>
          </a:ln>
        </p:spPr>
      </p:sp>
      <p:sp>
        <p:nvSpPr>
          <p:cNvPr id="6" name="Shape 4"/>
          <p:cNvSpPr/>
          <p:nvPr/>
        </p:nvSpPr>
        <p:spPr>
          <a:xfrm>
            <a:off x="365760" y="1234440"/>
            <a:ext cx="91440" cy="3337560"/>
          </a:xfrm>
          <a:prstGeom prst="rect">
            <a:avLst/>
          </a:prstGeom>
          <a:solidFill>
            <a:srgbClr val="0D9488"/>
          </a:solidFill>
          <a:ln w="12700">
            <a:solidFill>
              <a:srgbClr val="0D9488"/>
            </a:solidFill>
            <a:prstDash val="solid"/>
          </a:ln>
        </p:spPr>
      </p:sp>
      <p:sp>
        <p:nvSpPr>
          <p:cNvPr id="7" name="Text 5"/>
          <p:cNvSpPr/>
          <p:nvPr/>
        </p:nvSpPr>
        <p:spPr>
          <a:xfrm>
            <a:off x="594360" y="1353312"/>
            <a:ext cx="3657600" cy="365760"/>
          </a:xfrm>
          <a:prstGeom prst="rect">
            <a:avLst/>
          </a:prstGeom>
          <a:noFill/>
          <a:ln/>
        </p:spPr>
        <p:txBody>
          <a:bodyPr wrap="square" lIns="0" tIns="0" rIns="0" bIns="0" rtlCol="0" anchor="ctr"/>
          <a:lstStyle/>
          <a:p>
            <a:pPr algn="l" indent="0" marL="0">
              <a:buNone/>
            </a:pPr>
            <a:r>
              <a:rPr lang="en-US" sz="1400" b="1" dirty="0">
                <a:solidFill>
                  <a:srgbClr val="0D9488"/>
                </a:solidFill>
                <a:latin typeface="Georgia" pitchFamily="34" charset="0"/>
                <a:ea typeface="Georgia" pitchFamily="34" charset="-122"/>
                <a:cs typeface="Georgia" pitchFamily="34" charset="-120"/>
              </a:rPr>
              <a:t>The Diagnosis</a:t>
            </a:r>
            <a:endParaRPr lang="en-US" sz="1400" dirty="0"/>
          </a:p>
        </p:txBody>
      </p:sp>
      <p:sp>
        <p:nvSpPr>
          <p:cNvPr id="8" name="Text 6"/>
          <p:cNvSpPr/>
          <p:nvPr/>
        </p:nvSpPr>
        <p:spPr>
          <a:xfrm>
            <a:off x="594360" y="1755648"/>
            <a:ext cx="3657600" cy="2697480"/>
          </a:xfrm>
          <a:prstGeom prst="rect">
            <a:avLst/>
          </a:prstGeom>
          <a:noFill/>
          <a:ln/>
        </p:spPr>
        <p:txBody>
          <a:bodyPr wrap="square" lIns="0" tIns="0" rIns="0" bIns="0" rtlCol="0" anchor="t"/>
          <a:lstStyle/>
          <a:p>
            <a:pPr algn="l" indent="0" marL="0">
              <a:buNone/>
            </a:pPr>
            <a:r>
              <a:rPr lang="en-US" sz="1200" dirty="0">
                <a:solidFill>
                  <a:srgbClr val="1A1F2E"/>
                </a:solidFill>
                <a:latin typeface="Calibri" pitchFamily="34" charset="0"/>
                <a:ea typeface="Calibri" pitchFamily="34" charset="-122"/>
                <a:cs typeface="Calibri" pitchFamily="34" charset="-120"/>
              </a:rPr>
              <a:t>Most organizations treat AI as the strategy, rather than as an input to strategy. They acquire sophisticated systems without a clear blueprint for how those systems create value.</a:t>
            </a:r>
            <a:endParaRPr lang="en-US" sz="1200" dirty="0"/>
          </a:p>
          <a:p>
            <a:pPr algn="l" indent="0" marL="0">
              <a:buNone/>
            </a:pPr>
            <a:endParaRPr lang="en-US" sz="1200" dirty="0"/>
          </a:p>
          <a:p>
            <a:pPr algn="l" indent="0" marL="0">
              <a:buNone/>
            </a:pPr>
            <a:r>
              <a:rPr lang="en-US" sz="1200" dirty="0">
                <a:solidFill>
                  <a:srgbClr val="1A1F2E"/>
                </a:solidFill>
                <a:latin typeface="Calibri" pitchFamily="34" charset="0"/>
                <a:ea typeface="Calibri" pitchFamily="34" charset="-122"/>
                <a:cs typeface="Calibri" pitchFamily="34" charset="-120"/>
              </a:rPr>
              <a:t>"Starting with technologies leads to incrementalism, not transformation."</a:t>
            </a:r>
            <a:endParaRPr lang="en-US" sz="1200" dirty="0"/>
          </a:p>
          <a:p>
            <a:pPr algn="l" indent="0" marL="0">
              <a:buNone/>
            </a:pPr>
            <a:r>
              <a:rPr lang="en-US" sz="1200" dirty="0">
                <a:solidFill>
                  <a:srgbClr val="1A1F2E"/>
                </a:solidFill>
                <a:latin typeface="Calibri" pitchFamily="34" charset="0"/>
                <a:ea typeface="Calibri" pitchFamily="34" charset="-122"/>
                <a:cs typeface="Calibri" pitchFamily="34" charset="-120"/>
              </a:rPr>
              <a:t>— Nick Bartlett, Future Trends Strategy Group</a:t>
            </a:r>
            <a:endParaRPr lang="en-US" sz="1200" dirty="0"/>
          </a:p>
          <a:p>
            <a:pPr algn="l" indent="0" marL="0">
              <a:buNone/>
            </a:pPr>
            <a:endParaRPr lang="en-US" sz="1200" dirty="0"/>
          </a:p>
          <a:p>
            <a:pPr algn="l" indent="0" marL="0">
              <a:buNone/>
            </a:pPr>
            <a:r>
              <a:rPr lang="en-US" sz="1200" dirty="0">
                <a:solidFill>
                  <a:srgbClr val="1A1F2E"/>
                </a:solidFill>
                <a:latin typeface="Calibri" pitchFamily="34" charset="0"/>
                <a:ea typeface="Calibri" pitchFamily="34" charset="-122"/>
                <a:cs typeface="Calibri" pitchFamily="34" charset="-120"/>
              </a:rPr>
              <a:t>"In 2026, AI won't be making decisions for product managers — but it will make it painfully visible where we have indecision and lack of strategy."</a:t>
            </a:r>
            <a:endParaRPr lang="en-US" sz="1200" dirty="0"/>
          </a:p>
          <a:p>
            <a:pPr algn="l" indent="0" marL="0">
              <a:buNone/>
            </a:pPr>
            <a:r>
              <a:rPr lang="en-US" sz="1200" dirty="0">
                <a:solidFill>
                  <a:srgbClr val="1A1F2E"/>
                </a:solidFill>
                <a:latin typeface="Calibri" pitchFamily="34" charset="0"/>
                <a:ea typeface="Calibri" pitchFamily="34" charset="-122"/>
                <a:cs typeface="Calibri" pitchFamily="34" charset="-120"/>
              </a:rPr>
              <a:t>— Insight Partners</a:t>
            </a:r>
            <a:endParaRPr lang="en-US" sz="1200" dirty="0"/>
          </a:p>
        </p:txBody>
      </p:sp>
      <p:sp>
        <p:nvSpPr>
          <p:cNvPr id="9" name="Shape 7"/>
          <p:cNvSpPr/>
          <p:nvPr/>
        </p:nvSpPr>
        <p:spPr>
          <a:xfrm>
            <a:off x="4800600" y="1234440"/>
            <a:ext cx="3931920" cy="3337560"/>
          </a:xfrm>
          <a:prstGeom prst="rect">
            <a:avLst/>
          </a:prstGeom>
          <a:solidFill>
            <a:srgbClr val="0D1421"/>
          </a:solidFill>
          <a:ln w="12700">
            <a:solidFill>
              <a:srgbClr val="0D1421"/>
            </a:solidFill>
            <a:prstDash val="solid"/>
          </a:ln>
        </p:spPr>
      </p:sp>
      <p:sp>
        <p:nvSpPr>
          <p:cNvPr id="10" name="Shape 8"/>
          <p:cNvSpPr/>
          <p:nvPr/>
        </p:nvSpPr>
        <p:spPr>
          <a:xfrm>
            <a:off x="4800600" y="1234440"/>
            <a:ext cx="3931920" cy="91440"/>
          </a:xfrm>
          <a:prstGeom prst="rect">
            <a:avLst/>
          </a:prstGeom>
          <a:solidFill>
            <a:srgbClr val="E85D04"/>
          </a:solidFill>
          <a:ln w="12700">
            <a:solidFill>
              <a:srgbClr val="E85D04"/>
            </a:solidFill>
            <a:prstDash val="solid"/>
          </a:ln>
        </p:spPr>
      </p:sp>
      <p:sp>
        <p:nvSpPr>
          <p:cNvPr id="11" name="Text 9"/>
          <p:cNvSpPr/>
          <p:nvPr/>
        </p:nvSpPr>
        <p:spPr>
          <a:xfrm>
            <a:off x="4983480" y="1463040"/>
            <a:ext cx="3566160" cy="320040"/>
          </a:xfrm>
          <a:prstGeom prst="rect">
            <a:avLst/>
          </a:prstGeom>
          <a:noFill/>
          <a:ln/>
        </p:spPr>
        <p:txBody>
          <a:bodyPr wrap="square" lIns="0" tIns="0" rIns="0" bIns="0" rtlCol="0" anchor="ctr"/>
          <a:lstStyle/>
          <a:p>
            <a:pPr algn="l" indent="0" marL="0">
              <a:buNone/>
            </a:pPr>
            <a:r>
              <a:rPr lang="en-US" sz="950" b="1" spc="200" kern="0" dirty="0">
                <a:solidFill>
                  <a:srgbClr val="E85D04"/>
                </a:solidFill>
                <a:latin typeface="Calibri" pitchFamily="34" charset="0"/>
                <a:ea typeface="Calibri" pitchFamily="34" charset="-122"/>
                <a:cs typeface="Calibri" pitchFamily="34" charset="-120"/>
              </a:rPr>
              <a:t>THE WORKSHOP QUESTION</a:t>
            </a:r>
            <a:endParaRPr lang="en-US" sz="950" dirty="0"/>
          </a:p>
        </p:txBody>
      </p:sp>
      <p:sp>
        <p:nvSpPr>
          <p:cNvPr id="12" name="Text 10"/>
          <p:cNvSpPr/>
          <p:nvPr/>
        </p:nvSpPr>
        <p:spPr>
          <a:xfrm>
            <a:off x="4983480" y="1874520"/>
            <a:ext cx="3566160" cy="1234440"/>
          </a:xfrm>
          <a:prstGeom prst="rect">
            <a:avLst/>
          </a:prstGeom>
          <a:noFill/>
          <a:ln/>
        </p:spPr>
        <p:txBody>
          <a:bodyPr wrap="square" lIns="0" tIns="0" rIns="0" bIns="0" rtlCol="0" anchor="t"/>
          <a:lstStyle/>
          <a:p>
            <a:pPr algn="l" indent="0" marL="0">
              <a:buNone/>
            </a:pPr>
            <a:r>
              <a:rPr lang="en-US" sz="1700" b="1" dirty="0">
                <a:solidFill>
                  <a:srgbClr val="FFFFFF"/>
                </a:solidFill>
                <a:latin typeface="Georgia" pitchFamily="34" charset="0"/>
                <a:ea typeface="Georgia" pitchFamily="34" charset="-122"/>
                <a:cs typeface="Georgia" pitchFamily="34" charset="-120"/>
              </a:rPr>
              <a:t>If AI is working exactly as intended in your organization two years from now — what specifically is different?</a:t>
            </a:r>
            <a:endParaRPr lang="en-US" sz="1700" dirty="0"/>
          </a:p>
        </p:txBody>
      </p:sp>
      <p:sp>
        <p:nvSpPr>
          <p:cNvPr id="13" name="Shape 11"/>
          <p:cNvSpPr/>
          <p:nvPr/>
        </p:nvSpPr>
        <p:spPr>
          <a:xfrm>
            <a:off x="4983480" y="3218688"/>
            <a:ext cx="3566160" cy="18288"/>
          </a:xfrm>
          <a:prstGeom prst="rect">
            <a:avLst/>
          </a:prstGeom>
          <a:solidFill>
            <a:srgbClr val="2A3F5E"/>
          </a:solidFill>
          <a:ln w="12700">
            <a:solidFill>
              <a:srgbClr val="2A3F5E"/>
            </a:solidFill>
            <a:prstDash val="solid"/>
          </a:ln>
        </p:spPr>
      </p:sp>
      <p:sp>
        <p:nvSpPr>
          <p:cNvPr id="14" name="Text 12"/>
          <p:cNvSpPr/>
          <p:nvPr/>
        </p:nvSpPr>
        <p:spPr>
          <a:xfrm>
            <a:off x="4983480" y="3310128"/>
            <a:ext cx="3566160" cy="1005840"/>
          </a:xfrm>
          <a:prstGeom prst="rect">
            <a:avLst/>
          </a:prstGeom>
          <a:noFill/>
          <a:ln/>
        </p:spPr>
        <p:txBody>
          <a:bodyPr wrap="square" lIns="0" tIns="0" rIns="0" bIns="0" rtlCol="0" anchor="t"/>
          <a:lstStyle/>
          <a:p>
            <a:pPr algn="l" indent="0" marL="0">
              <a:buNone/>
            </a:pPr>
            <a:r>
              <a:rPr lang="en-US" sz="1250" dirty="0">
                <a:solidFill>
                  <a:srgbClr val="94A3B8"/>
                </a:solidFill>
                <a:latin typeface="Calibri" pitchFamily="34" charset="0"/>
                <a:ea typeface="Calibri" pitchFamily="34" charset="-122"/>
                <a:cs typeface="Calibri" pitchFamily="34" charset="-120"/>
              </a:rPr>
              <a:t>What decisions are faster?</a:t>
            </a:r>
            <a:endParaRPr lang="en-US" sz="1250" dirty="0"/>
          </a:p>
          <a:p>
            <a:pPr algn="l" indent="0" marL="0">
              <a:buNone/>
            </a:pPr>
            <a:r>
              <a:rPr lang="en-US" sz="1250" dirty="0">
                <a:solidFill>
                  <a:srgbClr val="94A3B8"/>
                </a:solidFill>
                <a:latin typeface="Calibri" pitchFamily="34" charset="0"/>
                <a:ea typeface="Calibri" pitchFamily="34" charset="-122"/>
                <a:cs typeface="Calibri" pitchFamily="34" charset="-120"/>
              </a:rPr>
              <a:t>What work no longer needs to happen?</a:t>
            </a:r>
            <a:endParaRPr lang="en-US" sz="1250" dirty="0"/>
          </a:p>
          <a:p>
            <a:pPr algn="l" indent="0" marL="0">
              <a:buNone/>
            </a:pPr>
            <a:r>
              <a:rPr lang="en-US" sz="1250" dirty="0">
                <a:solidFill>
                  <a:srgbClr val="94A3B8"/>
                </a:solidFill>
                <a:latin typeface="Calibri" pitchFamily="34" charset="0"/>
                <a:ea typeface="Calibri" pitchFamily="34" charset="-122"/>
                <a:cs typeface="Calibri" pitchFamily="34" charset="-120"/>
              </a:rPr>
              <a:t>What outcomes are measurably better?</a:t>
            </a:r>
            <a:endParaRPr lang="en-US" sz="1250" dirty="0"/>
          </a:p>
        </p:txBody>
      </p:sp>
      <p:sp>
        <p:nvSpPr>
          <p:cNvPr id="15" name="Text 13"/>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[7] Nick Bartlett, Future Trends Strategy Group, Jan 16, 2026.  [8] Insight Partners, "The Patterns Shaping AI Adoption in 2026," Feb 2, 2026.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Text 1"/>
          <p:cNvSpPr/>
          <p:nvPr/>
        </p:nvSpPr>
        <p:spPr>
          <a:xfrm>
            <a:off x="2743200" y="274320"/>
            <a:ext cx="5943600" cy="4114800"/>
          </a:xfrm>
          <a:prstGeom prst="rect">
            <a:avLst/>
          </a:prstGeom>
          <a:noFill/>
          <a:ln/>
        </p:spPr>
        <p:txBody>
          <a:bodyPr wrap="square" lIns="0" tIns="0" rIns="0" bIns="0" rtlCol="0" anchor="ctr"/>
          <a:lstStyle/>
          <a:p>
            <a:pPr algn="r" indent="0" marL="0">
              <a:buNone/>
            </a:pPr>
            <a:r>
              <a:rPr lang="en-US" sz="20000" b="1" dirty="0">
                <a:solidFill>
                  <a:srgbClr val="0A1525"/>
                </a:solidFill>
                <a:latin typeface="Georgia" pitchFamily="34" charset="0"/>
                <a:ea typeface="Georgia" pitchFamily="34" charset="-122"/>
                <a:cs typeface="Georgia" pitchFamily="34" charset="-120"/>
              </a:rPr>
              <a:t>02</a:t>
            </a:r>
            <a:endParaRPr lang="en-US" sz="20000" dirty="0"/>
          </a:p>
        </p:txBody>
      </p:sp>
      <p:sp>
        <p:nvSpPr>
          <p:cNvPr id="4" name="Text 2"/>
          <p:cNvSpPr/>
          <p:nvPr/>
        </p:nvSpPr>
        <p:spPr>
          <a:xfrm>
            <a:off x="457200" y="1188720"/>
            <a:ext cx="6400800" cy="365760"/>
          </a:xfrm>
          <a:prstGeom prst="rect">
            <a:avLst/>
          </a:prstGeom>
          <a:noFill/>
          <a:ln/>
        </p:spPr>
        <p:txBody>
          <a:bodyPr wrap="square" lIns="0" tIns="0" rIns="0" bIns="0" rtlCol="0" anchor="ctr"/>
          <a:lstStyle/>
          <a:p>
            <a:pPr algn="l" indent="0" marL="0">
              <a:buNone/>
            </a:pPr>
            <a:r>
              <a:rPr lang="en-US" sz="1100" b="1" spc="400" kern="0" dirty="0">
                <a:solidFill>
                  <a:srgbClr val="0D9488"/>
                </a:solidFill>
                <a:latin typeface="Calibri" pitchFamily="34" charset="0"/>
                <a:ea typeface="Calibri" pitchFamily="34" charset="-122"/>
                <a:cs typeface="Calibri" pitchFamily="34" charset="-120"/>
              </a:rPr>
              <a:t>MODULE 02</a:t>
            </a:r>
            <a:endParaRPr lang="en-US" sz="1100" dirty="0"/>
          </a:p>
        </p:txBody>
      </p:sp>
      <p:sp>
        <p:nvSpPr>
          <p:cNvPr id="5" name="Text 3"/>
          <p:cNvSpPr/>
          <p:nvPr/>
        </p:nvSpPr>
        <p:spPr>
          <a:xfrm>
            <a:off x="457200" y="1664208"/>
            <a:ext cx="7315200" cy="1737360"/>
          </a:xfrm>
          <a:prstGeom prst="rect">
            <a:avLst/>
          </a:prstGeom>
          <a:noFill/>
          <a:ln/>
        </p:spPr>
        <p:txBody>
          <a:bodyPr wrap="square" lIns="0" tIns="0" rIns="0" bIns="0" rtlCol="0" anchor="ctr"/>
          <a:lstStyle/>
          <a:p>
            <a:pPr algn="l" indent="0" marL="0">
              <a:buNone/>
            </a:pPr>
            <a:r>
              <a:rPr lang="en-US" sz="5200" b="1" dirty="0">
                <a:solidFill>
                  <a:srgbClr val="FFFFFF"/>
                </a:solidFill>
                <a:latin typeface="Georgia" pitchFamily="34" charset="0"/>
                <a:ea typeface="Georgia" pitchFamily="34" charset="-122"/>
                <a:cs typeface="Georgia" pitchFamily="34" charset="-120"/>
              </a:rPr>
              <a:t>Audit the</a:t>
            </a:r>
            <a:endParaRPr lang="en-US" sz="5200" dirty="0"/>
          </a:p>
          <a:p>
            <a:pPr algn="l" indent="0" marL="0">
              <a:buNone/>
            </a:pPr>
            <a:r>
              <a:rPr lang="en-US" sz="5200" b="1" dirty="0">
                <a:solidFill>
                  <a:srgbClr val="FFFFFF"/>
                </a:solidFill>
                <a:latin typeface="Georgia" pitchFamily="34" charset="0"/>
                <a:ea typeface="Georgia" pitchFamily="34" charset="-122"/>
                <a:cs typeface="Georgia" pitchFamily="34" charset="-120"/>
              </a:rPr>
              <a:t>Current Reality</a:t>
            </a:r>
            <a:endParaRPr lang="en-US" sz="5200" dirty="0"/>
          </a:p>
        </p:txBody>
      </p:sp>
      <p:sp>
        <p:nvSpPr>
          <p:cNvPr id="6" name="Text 4"/>
          <p:cNvSpPr/>
          <p:nvPr/>
        </p:nvSpPr>
        <p:spPr>
          <a:xfrm>
            <a:off x="457200" y="3547872"/>
            <a:ext cx="6858000" cy="548640"/>
          </a:xfrm>
          <a:prstGeom prst="rect">
            <a:avLst/>
          </a:prstGeom>
          <a:noFill/>
          <a:ln/>
        </p:spPr>
        <p:txBody>
          <a:bodyPr wrap="square" lIns="0" tIns="0" rIns="0" bIns="0" rtlCol="0" anchor="ctr"/>
          <a:lstStyle/>
          <a:p>
            <a:pPr algn="l" indent="0" marL="0">
              <a:buNone/>
            </a:pPr>
            <a:r>
              <a:rPr lang="en-US" sz="1600" dirty="0">
                <a:solidFill>
                  <a:srgbClr val="94A3B8"/>
                </a:solidFill>
                <a:latin typeface="Calibri" pitchFamily="34" charset="0"/>
                <a:ea typeface="Calibri" pitchFamily="34" charset="-122"/>
                <a:cs typeface="Calibri" pitchFamily="34" charset="-120"/>
              </a:rPr>
              <a:t>Where are you actually? Tools, proficiency, and what you're measuring today.</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02  ·  AUDIT THE CURRENT REALITY</a:t>
            </a:r>
            <a:endParaRPr lang="en-US" sz="1000" dirty="0"/>
          </a:p>
        </p:txBody>
      </p:sp>
      <p:sp>
        <p:nvSpPr>
          <p:cNvPr id="4" name="Text 2"/>
          <p:cNvSpPr/>
          <p:nvPr/>
        </p:nvSpPr>
        <p:spPr>
          <a:xfrm>
            <a:off x="457200" y="475488"/>
            <a:ext cx="8229600" cy="566928"/>
          </a:xfrm>
          <a:prstGeom prst="rect">
            <a:avLst/>
          </a:prstGeom>
          <a:noFill/>
          <a:ln/>
        </p:spPr>
        <p:txBody>
          <a:bodyPr wrap="square" lIns="0" tIns="0" rIns="0" bIns="0" rtlCol="0" anchor="ctr"/>
          <a:lstStyle/>
          <a:p>
            <a:pPr algn="l" indent="0" marL="0">
              <a:buNone/>
            </a:pPr>
            <a:r>
              <a:rPr lang="en-US" sz="2800" b="1" dirty="0">
                <a:solidFill>
                  <a:srgbClr val="1A1F2E"/>
                </a:solidFill>
                <a:latin typeface="Georgia" pitchFamily="34" charset="0"/>
                <a:ea typeface="Georgia" pitchFamily="34" charset="-122"/>
                <a:cs typeface="Georgia" pitchFamily="34" charset="-120"/>
              </a:rPr>
              <a:t>The Three-Layer Audit</a:t>
            </a:r>
            <a:endParaRPr lang="en-US" sz="2800" dirty="0"/>
          </a:p>
        </p:txBody>
      </p:sp>
      <p:sp>
        <p:nvSpPr>
          <p:cNvPr id="5" name="Shape 3"/>
          <p:cNvSpPr/>
          <p:nvPr/>
        </p:nvSpPr>
        <p:spPr>
          <a:xfrm>
            <a:off x="365760" y="1170432"/>
            <a:ext cx="8412480" cy="1078992"/>
          </a:xfrm>
          <a:prstGeom prst="rect">
            <a:avLst/>
          </a:prstGeom>
          <a:solidFill>
            <a:srgbClr val="FFFFFF"/>
          </a:solidFill>
          <a:ln w="12700">
            <a:solidFill>
              <a:srgbClr val="FFFFFF"/>
            </a:solidFill>
            <a:prstDash val="solid"/>
          </a:ln>
        </p:spPr>
      </p:sp>
      <p:sp>
        <p:nvSpPr>
          <p:cNvPr id="6" name="Shape 4"/>
          <p:cNvSpPr/>
          <p:nvPr/>
        </p:nvSpPr>
        <p:spPr>
          <a:xfrm>
            <a:off x="365760" y="1170432"/>
            <a:ext cx="91440" cy="1078992"/>
          </a:xfrm>
          <a:prstGeom prst="rect">
            <a:avLst/>
          </a:prstGeom>
          <a:solidFill>
            <a:srgbClr val="0D9488"/>
          </a:solidFill>
          <a:ln w="12700">
            <a:solidFill>
              <a:srgbClr val="0D9488"/>
            </a:solidFill>
            <a:prstDash val="solid"/>
          </a:ln>
        </p:spPr>
      </p:sp>
      <p:sp>
        <p:nvSpPr>
          <p:cNvPr id="7" name="Text 5"/>
          <p:cNvSpPr/>
          <p:nvPr/>
        </p:nvSpPr>
        <p:spPr>
          <a:xfrm>
            <a:off x="594360" y="1261872"/>
            <a:ext cx="914400" cy="274320"/>
          </a:xfrm>
          <a:prstGeom prst="rect">
            <a:avLst/>
          </a:prstGeom>
          <a:noFill/>
          <a:ln/>
        </p:spPr>
        <p:txBody>
          <a:bodyPr wrap="square" lIns="0" tIns="0" rIns="0" bIns="0" rtlCol="0" anchor="ctr"/>
          <a:lstStyle/>
          <a:p>
            <a:pPr algn="l" indent="0" marL="0">
              <a:buNone/>
            </a:pPr>
            <a:r>
              <a:rPr lang="en-US" sz="950" b="1" spc="150" kern="0" dirty="0">
                <a:solidFill>
                  <a:srgbClr val="0D9488"/>
                </a:solidFill>
                <a:latin typeface="Calibri" pitchFamily="34" charset="0"/>
                <a:ea typeface="Calibri" pitchFamily="34" charset="-122"/>
                <a:cs typeface="Calibri" pitchFamily="34" charset="-120"/>
              </a:rPr>
              <a:t>LAYER 1</a:t>
            </a:r>
            <a:endParaRPr lang="en-US" sz="950" dirty="0"/>
          </a:p>
        </p:txBody>
      </p:sp>
      <p:sp>
        <p:nvSpPr>
          <p:cNvPr id="8" name="Text 6"/>
          <p:cNvSpPr/>
          <p:nvPr/>
        </p:nvSpPr>
        <p:spPr>
          <a:xfrm>
            <a:off x="1600200" y="1243584"/>
            <a:ext cx="6995160" cy="347472"/>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What tools do you actually have?</a:t>
            </a:r>
            <a:endParaRPr lang="en-US" sz="1350" dirty="0"/>
          </a:p>
        </p:txBody>
      </p:sp>
      <p:sp>
        <p:nvSpPr>
          <p:cNvPr id="9" name="Text 7"/>
          <p:cNvSpPr/>
          <p:nvPr/>
        </p:nvSpPr>
        <p:spPr>
          <a:xfrm>
            <a:off x="594360" y="1609344"/>
            <a:ext cx="7863840" cy="594360"/>
          </a:xfrm>
          <a:prstGeom prst="rect">
            <a:avLst/>
          </a:prstGeom>
          <a:noFill/>
          <a:ln/>
        </p:spPr>
        <p:txBody>
          <a:bodyPr wrap="square" lIns="0" tIns="0" rIns="0" bIns="0" rtlCol="0" anchor="t"/>
          <a:lstStyle/>
          <a:p>
            <a:pPr algn="l" indent="0" marL="0">
              <a:buNone/>
            </a:pPr>
            <a:r>
              <a:rPr lang="en-US" sz="1150" dirty="0">
                <a:solidFill>
                  <a:srgbClr val="6B7280"/>
                </a:solidFill>
                <a:latin typeface="Calibri" pitchFamily="34" charset="0"/>
                <a:ea typeface="Calibri" pitchFamily="34" charset="-122"/>
                <a:cs typeface="Calibri" pitchFamily="34" charset="-120"/>
              </a:rPr>
              <a:t>Is each tool embedded in the workflows where it's supposed to add value, or does it live in a separate tab? "AI tools that live in a separate tab get abandoned." — UKG  For ChatGPT Enterprise and Claude deployments: the separate-tab dynamic starts as the default, not a deviation. Ask: has your organization built any custom workflow integrations, or is the tool a general-purpose chat interface?</a:t>
            </a:r>
            <a:endParaRPr lang="en-US" sz="1150" dirty="0"/>
          </a:p>
        </p:txBody>
      </p:sp>
      <p:sp>
        <p:nvSpPr>
          <p:cNvPr id="10" name="Shape 8"/>
          <p:cNvSpPr/>
          <p:nvPr/>
        </p:nvSpPr>
        <p:spPr>
          <a:xfrm>
            <a:off x="365760" y="2359152"/>
            <a:ext cx="8412480" cy="1078992"/>
          </a:xfrm>
          <a:prstGeom prst="rect">
            <a:avLst/>
          </a:prstGeom>
          <a:solidFill>
            <a:srgbClr val="FFFFFF"/>
          </a:solidFill>
          <a:ln w="12700">
            <a:solidFill>
              <a:srgbClr val="FFFFFF"/>
            </a:solidFill>
            <a:prstDash val="solid"/>
          </a:ln>
        </p:spPr>
      </p:sp>
      <p:sp>
        <p:nvSpPr>
          <p:cNvPr id="11" name="Shape 9"/>
          <p:cNvSpPr/>
          <p:nvPr/>
        </p:nvSpPr>
        <p:spPr>
          <a:xfrm>
            <a:off x="365760" y="2359152"/>
            <a:ext cx="91440" cy="1078992"/>
          </a:xfrm>
          <a:prstGeom prst="rect">
            <a:avLst/>
          </a:prstGeom>
          <a:solidFill>
            <a:srgbClr val="0D9488"/>
          </a:solidFill>
          <a:ln w="12700">
            <a:solidFill>
              <a:srgbClr val="0D9488"/>
            </a:solidFill>
            <a:prstDash val="solid"/>
          </a:ln>
        </p:spPr>
      </p:sp>
      <p:sp>
        <p:nvSpPr>
          <p:cNvPr id="12" name="Text 10"/>
          <p:cNvSpPr/>
          <p:nvPr/>
        </p:nvSpPr>
        <p:spPr>
          <a:xfrm>
            <a:off x="594360" y="2450592"/>
            <a:ext cx="914400" cy="274320"/>
          </a:xfrm>
          <a:prstGeom prst="rect">
            <a:avLst/>
          </a:prstGeom>
          <a:noFill/>
          <a:ln/>
        </p:spPr>
        <p:txBody>
          <a:bodyPr wrap="square" lIns="0" tIns="0" rIns="0" bIns="0" rtlCol="0" anchor="ctr"/>
          <a:lstStyle/>
          <a:p>
            <a:pPr algn="l" indent="0" marL="0">
              <a:buNone/>
            </a:pPr>
            <a:r>
              <a:rPr lang="en-US" sz="950" b="1" spc="150" kern="0" dirty="0">
                <a:solidFill>
                  <a:srgbClr val="0D9488"/>
                </a:solidFill>
                <a:latin typeface="Calibri" pitchFamily="34" charset="0"/>
                <a:ea typeface="Calibri" pitchFamily="34" charset="-122"/>
                <a:cs typeface="Calibri" pitchFamily="34" charset="-120"/>
              </a:rPr>
              <a:t>LAYER 2</a:t>
            </a:r>
            <a:endParaRPr lang="en-US" sz="950" dirty="0"/>
          </a:p>
        </p:txBody>
      </p:sp>
      <p:sp>
        <p:nvSpPr>
          <p:cNvPr id="13" name="Text 11"/>
          <p:cNvSpPr/>
          <p:nvPr/>
        </p:nvSpPr>
        <p:spPr>
          <a:xfrm>
            <a:off x="1600200" y="2432304"/>
            <a:ext cx="6995160" cy="347472"/>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How proficient is your workforce?</a:t>
            </a:r>
            <a:endParaRPr lang="en-US" sz="1350" dirty="0"/>
          </a:p>
        </p:txBody>
      </p:sp>
      <p:sp>
        <p:nvSpPr>
          <p:cNvPr id="14" name="Text 12"/>
          <p:cNvSpPr/>
          <p:nvPr/>
        </p:nvSpPr>
        <p:spPr>
          <a:xfrm>
            <a:off x="594360" y="2798064"/>
            <a:ext cx="7863840" cy="594360"/>
          </a:xfrm>
          <a:prstGeom prst="rect">
            <a:avLst/>
          </a:prstGeom>
          <a:noFill/>
          <a:ln/>
        </p:spPr>
        <p:txBody>
          <a:bodyPr wrap="square" lIns="0" tIns="0" rIns="0" bIns="0" rtlCol="0" anchor="t"/>
          <a:lstStyle/>
          <a:p>
            <a:pPr algn="l" indent="0" marL="0">
              <a:buNone/>
            </a:pPr>
            <a:r>
              <a:rPr lang="en-US" sz="1150" dirty="0">
                <a:solidFill>
                  <a:srgbClr val="6B7280"/>
                </a:solidFill>
                <a:latin typeface="Calibri" pitchFamily="34" charset="0"/>
                <a:ea typeface="Calibri" pitchFamily="34" charset="-122"/>
                <a:cs typeface="Calibri" pitchFamily="34" charset="-120"/>
              </a:rPr>
              <a:t>28% Novice · 70% Experimenter · ~2% Practitioner · 0.1% Expert  The 70% Experimenter majority knows how to open the tool. They don't know what to use it for in their specific job, on their specific team, connected to specific business goals.</a:t>
            </a:r>
            <a:endParaRPr lang="en-US" sz="1150" dirty="0"/>
          </a:p>
        </p:txBody>
      </p:sp>
      <p:sp>
        <p:nvSpPr>
          <p:cNvPr id="15" name="Shape 13"/>
          <p:cNvSpPr/>
          <p:nvPr/>
        </p:nvSpPr>
        <p:spPr>
          <a:xfrm>
            <a:off x="365760" y="3547872"/>
            <a:ext cx="8412480" cy="1078992"/>
          </a:xfrm>
          <a:prstGeom prst="rect">
            <a:avLst/>
          </a:prstGeom>
          <a:solidFill>
            <a:srgbClr val="FFFFFF"/>
          </a:solidFill>
          <a:ln w="12700">
            <a:solidFill>
              <a:srgbClr val="FFFFFF"/>
            </a:solidFill>
            <a:prstDash val="solid"/>
          </a:ln>
        </p:spPr>
      </p:sp>
      <p:sp>
        <p:nvSpPr>
          <p:cNvPr id="16" name="Shape 14"/>
          <p:cNvSpPr/>
          <p:nvPr/>
        </p:nvSpPr>
        <p:spPr>
          <a:xfrm>
            <a:off x="365760" y="3547872"/>
            <a:ext cx="91440" cy="1078992"/>
          </a:xfrm>
          <a:prstGeom prst="rect">
            <a:avLst/>
          </a:prstGeom>
          <a:solidFill>
            <a:srgbClr val="0D9488"/>
          </a:solidFill>
          <a:ln w="12700">
            <a:solidFill>
              <a:srgbClr val="0D9488"/>
            </a:solidFill>
            <a:prstDash val="solid"/>
          </a:ln>
        </p:spPr>
      </p:sp>
      <p:sp>
        <p:nvSpPr>
          <p:cNvPr id="17" name="Text 15"/>
          <p:cNvSpPr/>
          <p:nvPr/>
        </p:nvSpPr>
        <p:spPr>
          <a:xfrm>
            <a:off x="594360" y="3639312"/>
            <a:ext cx="914400" cy="274320"/>
          </a:xfrm>
          <a:prstGeom prst="rect">
            <a:avLst/>
          </a:prstGeom>
          <a:noFill/>
          <a:ln/>
        </p:spPr>
        <p:txBody>
          <a:bodyPr wrap="square" lIns="0" tIns="0" rIns="0" bIns="0" rtlCol="0" anchor="ctr"/>
          <a:lstStyle/>
          <a:p>
            <a:pPr algn="l" indent="0" marL="0">
              <a:buNone/>
            </a:pPr>
            <a:r>
              <a:rPr lang="en-US" sz="950" b="1" spc="150" kern="0" dirty="0">
                <a:solidFill>
                  <a:srgbClr val="0D9488"/>
                </a:solidFill>
                <a:latin typeface="Calibri" pitchFamily="34" charset="0"/>
                <a:ea typeface="Calibri" pitchFamily="34" charset="-122"/>
                <a:cs typeface="Calibri" pitchFamily="34" charset="-120"/>
              </a:rPr>
              <a:t>LAYER 3</a:t>
            </a:r>
            <a:endParaRPr lang="en-US" sz="950" dirty="0"/>
          </a:p>
        </p:txBody>
      </p:sp>
      <p:sp>
        <p:nvSpPr>
          <p:cNvPr id="18" name="Text 16"/>
          <p:cNvSpPr/>
          <p:nvPr/>
        </p:nvSpPr>
        <p:spPr>
          <a:xfrm>
            <a:off x="1600200" y="3621024"/>
            <a:ext cx="6995160" cy="347472"/>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What are you measuring?</a:t>
            </a:r>
            <a:endParaRPr lang="en-US" sz="1350" dirty="0"/>
          </a:p>
        </p:txBody>
      </p:sp>
      <p:sp>
        <p:nvSpPr>
          <p:cNvPr id="19" name="Text 17"/>
          <p:cNvSpPr/>
          <p:nvPr/>
        </p:nvSpPr>
        <p:spPr>
          <a:xfrm>
            <a:off x="594360" y="3986784"/>
            <a:ext cx="7863840" cy="594360"/>
          </a:xfrm>
          <a:prstGeom prst="rect">
            <a:avLst/>
          </a:prstGeom>
          <a:noFill/>
          <a:ln/>
        </p:spPr>
        <p:txBody>
          <a:bodyPr wrap="square" lIns="0" tIns="0" rIns="0" bIns="0" rtlCol="0" anchor="t"/>
          <a:lstStyle/>
          <a:p>
            <a:pPr algn="l" indent="0" marL="0">
              <a:buNone/>
            </a:pPr>
            <a:r>
              <a:rPr lang="en-US" sz="1150" dirty="0">
                <a:solidFill>
                  <a:srgbClr val="6B7280"/>
                </a:solidFill>
                <a:latin typeface="Calibri" pitchFamily="34" charset="0"/>
                <a:ea typeface="Calibri" pitchFamily="34" charset="-122"/>
                <a:cs typeface="Calibri" pitchFamily="34" charset="-120"/>
              </a:rPr>
              <a:t>Most organizations track: tool deployment (who has a license) and usage signals (who opened the tool). Almost none track: workflow integration, changes in time-to-outcome, or department-level KPI improvement. What you measure shapes what decisions you make next.</a:t>
            </a:r>
            <a:endParaRPr lang="en-US" sz="1150" dirty="0"/>
          </a:p>
        </p:txBody>
      </p:sp>
      <p:sp>
        <p:nvSpPr>
          <p:cNvPr id="20" name="Text 18"/>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[3] Section, "AI Proficiency Report," Jan 2026.  [9] Section, "AI:ROI Playbook," Spring 2026 (UKG segment).</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02  ·  THE PROFICIENCY REALITY</a:t>
            </a:r>
            <a:endParaRPr lang="en-US" sz="1000" dirty="0"/>
          </a:p>
        </p:txBody>
      </p:sp>
      <p:sp>
        <p:nvSpPr>
          <p:cNvPr id="4" name="Text 2"/>
          <p:cNvSpPr/>
          <p:nvPr/>
        </p:nvSpPr>
        <p:spPr>
          <a:xfrm>
            <a:off x="457200" y="566928"/>
            <a:ext cx="8229600" cy="548640"/>
          </a:xfrm>
          <a:prstGeom prst="rect">
            <a:avLst/>
          </a:prstGeom>
          <a:noFill/>
          <a:ln/>
        </p:spPr>
        <p:txBody>
          <a:bodyPr wrap="square" lIns="0" tIns="0" rIns="0" bIns="0" rtlCol="0" anchor="ctr"/>
          <a:lstStyle/>
          <a:p>
            <a:pPr algn="l" indent="0" marL="0">
              <a:buNone/>
            </a:pPr>
            <a:r>
              <a:rPr lang="en-US" sz="3200" b="1" dirty="0">
                <a:solidFill>
                  <a:srgbClr val="FFFFFF"/>
                </a:solidFill>
                <a:latin typeface="Georgia" pitchFamily="34" charset="0"/>
                <a:ea typeface="Georgia" pitchFamily="34" charset="-122"/>
                <a:cs typeface="Georgia" pitchFamily="34" charset="-120"/>
              </a:rPr>
              <a:t>The 70% Problem</a:t>
            </a:r>
            <a:endParaRPr lang="en-US" sz="3200" dirty="0"/>
          </a:p>
        </p:txBody>
      </p:sp>
      <p:sp>
        <p:nvSpPr>
          <p:cNvPr id="5" name="Shape 3"/>
          <p:cNvSpPr/>
          <p:nvPr/>
        </p:nvSpPr>
        <p:spPr>
          <a:xfrm>
            <a:off x="457200" y="1828800"/>
            <a:ext cx="2304288" cy="749808"/>
          </a:xfrm>
          <a:prstGeom prst="rect">
            <a:avLst/>
          </a:prstGeom>
          <a:solidFill>
            <a:srgbClr val="4B5563"/>
          </a:solidFill>
          <a:ln w="12700">
            <a:solidFill>
              <a:srgbClr val="4B5563"/>
            </a:solidFill>
            <a:prstDash val="solid"/>
          </a:ln>
        </p:spPr>
      </p:sp>
      <p:sp>
        <p:nvSpPr>
          <p:cNvPr id="6" name="Shape 4"/>
          <p:cNvSpPr/>
          <p:nvPr/>
        </p:nvSpPr>
        <p:spPr>
          <a:xfrm>
            <a:off x="2761488" y="1828800"/>
            <a:ext cx="5760720" cy="749808"/>
          </a:xfrm>
          <a:prstGeom prst="rect">
            <a:avLst/>
          </a:prstGeom>
          <a:solidFill>
            <a:srgbClr val="E85D04"/>
          </a:solidFill>
          <a:ln w="12700">
            <a:solidFill>
              <a:srgbClr val="E85D04"/>
            </a:solidFill>
            <a:prstDash val="solid"/>
          </a:ln>
        </p:spPr>
      </p:sp>
      <p:sp>
        <p:nvSpPr>
          <p:cNvPr id="7" name="Shape 5"/>
          <p:cNvSpPr/>
          <p:nvPr/>
        </p:nvSpPr>
        <p:spPr>
          <a:xfrm>
            <a:off x="8522208" y="1828800"/>
            <a:ext cx="164592" cy="749808"/>
          </a:xfrm>
          <a:prstGeom prst="rect">
            <a:avLst/>
          </a:prstGeom>
          <a:solidFill>
            <a:srgbClr val="0D9488"/>
          </a:solidFill>
          <a:ln w="12700">
            <a:solidFill>
              <a:srgbClr val="0D9488"/>
            </a:solidFill>
            <a:prstDash val="solid"/>
          </a:ln>
        </p:spPr>
      </p:sp>
      <p:sp>
        <p:nvSpPr>
          <p:cNvPr id="8" name="Text 6"/>
          <p:cNvSpPr/>
          <p:nvPr/>
        </p:nvSpPr>
        <p:spPr>
          <a:xfrm>
            <a:off x="457200" y="1170432"/>
            <a:ext cx="2304288" cy="621792"/>
          </a:xfrm>
          <a:prstGeom prst="rect">
            <a:avLst/>
          </a:prstGeom>
          <a:noFill/>
          <a:ln/>
        </p:spPr>
        <p:txBody>
          <a:bodyPr wrap="square" lIns="0" tIns="0" rIns="0" bIns="0" rtlCol="0" anchor="b"/>
          <a:lstStyle/>
          <a:p>
            <a:pPr algn="ctr" indent="0" marL="0">
              <a:buNone/>
            </a:pPr>
            <a:r>
              <a:rPr lang="en-US" sz="1150" b="1" dirty="0">
                <a:solidFill>
                  <a:srgbClr val="9CA3AF"/>
                </a:solidFill>
                <a:latin typeface="Calibri" pitchFamily="34" charset="0"/>
                <a:ea typeface="Calibri" pitchFamily="34" charset="-122"/>
                <a:cs typeface="Calibri" pitchFamily="34" charset="-120"/>
              </a:rPr>
              <a:t>28%</a:t>
            </a:r>
            <a:endParaRPr lang="en-US" sz="1150" dirty="0"/>
          </a:p>
          <a:p>
            <a:pPr algn="ctr" indent="0" marL="0">
              <a:buNone/>
            </a:pPr>
            <a:r>
              <a:rPr lang="en-US" sz="1150" b="1" dirty="0">
                <a:solidFill>
                  <a:srgbClr val="9CA3AF"/>
                </a:solidFill>
                <a:latin typeface="Calibri" pitchFamily="34" charset="0"/>
                <a:ea typeface="Calibri" pitchFamily="34" charset="-122"/>
                <a:cs typeface="Calibri" pitchFamily="34" charset="-120"/>
              </a:rPr>
              <a:t>Novice</a:t>
            </a:r>
            <a:endParaRPr lang="en-US" sz="1150" dirty="0"/>
          </a:p>
        </p:txBody>
      </p:sp>
      <p:sp>
        <p:nvSpPr>
          <p:cNvPr id="9" name="Text 7"/>
          <p:cNvSpPr/>
          <p:nvPr/>
        </p:nvSpPr>
        <p:spPr>
          <a:xfrm>
            <a:off x="2761488" y="1170432"/>
            <a:ext cx="5760720" cy="621792"/>
          </a:xfrm>
          <a:prstGeom prst="rect">
            <a:avLst/>
          </a:prstGeom>
          <a:noFill/>
          <a:ln/>
        </p:spPr>
        <p:txBody>
          <a:bodyPr wrap="square" lIns="0" tIns="0" rIns="0" bIns="0" rtlCol="0" anchor="b"/>
          <a:lstStyle/>
          <a:p>
            <a:pPr algn="ctr" indent="0" marL="0">
              <a:buNone/>
            </a:pPr>
            <a:r>
              <a:rPr lang="en-US" sz="1350" b="1" dirty="0">
                <a:solidFill>
                  <a:srgbClr val="F9C74F"/>
                </a:solidFill>
                <a:latin typeface="Calibri" pitchFamily="34" charset="0"/>
                <a:ea typeface="Calibri" pitchFamily="34" charset="-122"/>
                <a:cs typeface="Calibri" pitchFamily="34" charset="-120"/>
              </a:rPr>
              <a:t>70%</a:t>
            </a:r>
            <a:endParaRPr lang="en-US" sz="1350" dirty="0"/>
          </a:p>
          <a:p>
            <a:pPr algn="ctr" indent="0" marL="0">
              <a:buNone/>
            </a:pPr>
            <a:r>
              <a:rPr lang="en-US" sz="1350" b="1" dirty="0">
                <a:solidFill>
                  <a:srgbClr val="F9C74F"/>
                </a:solidFill>
                <a:latin typeface="Calibri" pitchFamily="34" charset="0"/>
                <a:ea typeface="Calibri" pitchFamily="34" charset="-122"/>
                <a:cs typeface="Calibri" pitchFamily="34" charset="-120"/>
              </a:rPr>
              <a:t>Experimenter</a:t>
            </a:r>
            <a:endParaRPr lang="en-US" sz="1350" dirty="0"/>
          </a:p>
        </p:txBody>
      </p:sp>
      <p:sp>
        <p:nvSpPr>
          <p:cNvPr id="10" name="Text 8"/>
          <p:cNvSpPr/>
          <p:nvPr/>
        </p:nvSpPr>
        <p:spPr>
          <a:xfrm>
            <a:off x="7406640" y="1170432"/>
            <a:ext cx="1188720" cy="621792"/>
          </a:xfrm>
          <a:prstGeom prst="rect">
            <a:avLst/>
          </a:prstGeom>
          <a:noFill/>
          <a:ln/>
        </p:spPr>
        <p:txBody>
          <a:bodyPr wrap="square" lIns="0" tIns="0" rIns="0" bIns="0" rtlCol="0" anchor="b"/>
          <a:lstStyle/>
          <a:p>
            <a:pPr algn="r" indent="0" marL="0">
              <a:buNone/>
            </a:pPr>
            <a:r>
              <a:rPr lang="en-US" sz="1000" dirty="0">
                <a:solidFill>
                  <a:srgbClr val="0D9488"/>
                </a:solidFill>
                <a:latin typeface="Calibri" pitchFamily="34" charset="0"/>
                <a:ea typeface="Calibri" pitchFamily="34" charset="-122"/>
                <a:cs typeface="Calibri" pitchFamily="34" charset="-120"/>
              </a:rPr>
              <a:t>~2%</a:t>
            </a:r>
            <a:endParaRPr lang="en-US" sz="1000" dirty="0"/>
          </a:p>
          <a:p>
            <a:pPr algn="r" indent="0" marL="0">
              <a:buNone/>
            </a:pPr>
            <a:r>
              <a:rPr lang="en-US" sz="1000" dirty="0">
                <a:solidFill>
                  <a:srgbClr val="0D9488"/>
                </a:solidFill>
                <a:latin typeface="Calibri" pitchFamily="34" charset="0"/>
                <a:ea typeface="Calibri" pitchFamily="34" charset="-122"/>
                <a:cs typeface="Calibri" pitchFamily="34" charset="-120"/>
              </a:rPr>
              <a:t>Practitioner</a:t>
            </a:r>
            <a:endParaRPr lang="en-US" sz="1000" dirty="0"/>
          </a:p>
        </p:txBody>
      </p:sp>
      <p:sp>
        <p:nvSpPr>
          <p:cNvPr id="11" name="Shape 9"/>
          <p:cNvSpPr/>
          <p:nvPr/>
        </p:nvSpPr>
        <p:spPr>
          <a:xfrm>
            <a:off x="365760" y="2743200"/>
            <a:ext cx="8412480" cy="1234440"/>
          </a:xfrm>
          <a:prstGeom prst="rect">
            <a:avLst/>
          </a:prstGeom>
          <a:solidFill>
            <a:srgbClr val="1A2B44"/>
          </a:solidFill>
          <a:ln w="12700">
            <a:solidFill>
              <a:srgbClr val="1A2B44"/>
            </a:solidFill>
            <a:prstDash val="solid"/>
          </a:ln>
        </p:spPr>
      </p:sp>
      <p:sp>
        <p:nvSpPr>
          <p:cNvPr id="12" name="Shape 10"/>
          <p:cNvSpPr/>
          <p:nvPr/>
        </p:nvSpPr>
        <p:spPr>
          <a:xfrm>
            <a:off x="365760" y="2743200"/>
            <a:ext cx="91440" cy="1234440"/>
          </a:xfrm>
          <a:prstGeom prst="rect">
            <a:avLst/>
          </a:prstGeom>
          <a:solidFill>
            <a:srgbClr val="E85D04"/>
          </a:solidFill>
          <a:ln w="12700">
            <a:solidFill>
              <a:srgbClr val="E85D04"/>
            </a:solidFill>
            <a:prstDash val="solid"/>
          </a:ln>
        </p:spPr>
      </p:sp>
      <p:sp>
        <p:nvSpPr>
          <p:cNvPr id="13" name="Text 11"/>
          <p:cNvSpPr/>
          <p:nvPr/>
        </p:nvSpPr>
        <p:spPr>
          <a:xfrm>
            <a:off x="594360" y="2834640"/>
            <a:ext cx="7863840" cy="384048"/>
          </a:xfrm>
          <a:prstGeom prst="rect">
            <a:avLst/>
          </a:prstGeom>
          <a:noFill/>
          <a:ln/>
        </p:spPr>
        <p:txBody>
          <a:bodyPr wrap="square" lIns="0" tIns="0" rIns="0" bIns="0" rtlCol="0" anchor="ctr"/>
          <a:lstStyle/>
          <a:p>
            <a:pPr algn="l" indent="0" marL="0">
              <a:buNone/>
            </a:pPr>
            <a:r>
              <a:rPr lang="en-US" sz="1550" b="1" dirty="0">
                <a:solidFill>
                  <a:srgbClr val="F9C74F"/>
                </a:solidFill>
                <a:latin typeface="Georgia" pitchFamily="34" charset="0"/>
                <a:ea typeface="Georgia" pitchFamily="34" charset="-122"/>
                <a:cs typeface="Georgia" pitchFamily="34" charset="-120"/>
              </a:rPr>
              <a:t>The 70% majority — Experimenters — are the critical group.</a:t>
            </a:r>
            <a:endParaRPr lang="en-US" sz="1550" dirty="0"/>
          </a:p>
        </p:txBody>
      </p:sp>
      <p:sp>
        <p:nvSpPr>
          <p:cNvPr id="14" name="Text 12"/>
          <p:cNvSpPr/>
          <p:nvPr/>
        </p:nvSpPr>
        <p:spPr>
          <a:xfrm>
            <a:off x="594360" y="3246120"/>
            <a:ext cx="7863840" cy="685800"/>
          </a:xfrm>
          <a:prstGeom prst="rect">
            <a:avLst/>
          </a:prstGeom>
          <a:noFill/>
          <a:ln/>
        </p:spPr>
        <p:txBody>
          <a:bodyPr wrap="square" lIns="0" tIns="0" rIns="0" bIns="0" rtlCol="0" anchor="t"/>
          <a:lstStyle/>
          <a:p>
            <a:pPr algn="l" indent="0" marL="0">
              <a:buNone/>
            </a:pPr>
            <a:r>
              <a:rPr lang="en-US" sz="1250" dirty="0">
                <a:solidFill>
                  <a:srgbClr val="FFFFFF"/>
                </a:solidFill>
                <a:latin typeface="Calibri" pitchFamily="34" charset="0"/>
                <a:ea typeface="Calibri" pitchFamily="34" charset="-122"/>
                <a:cs typeface="Calibri" pitchFamily="34" charset="-120"/>
              </a:rPr>
              <a:t>They are using AI enough to feel like they are progressing. They are not using it deeply enough to produce organizational results. They know how to open the tool. They don't know what to use it for in their specific job, on their specific team, connected to their specific business goals.</a:t>
            </a:r>
            <a:endParaRPr lang="en-US" sz="1250" dirty="0"/>
          </a:p>
        </p:txBody>
      </p:sp>
      <p:sp>
        <p:nvSpPr>
          <p:cNvPr id="15" name="Text 13"/>
          <p:cNvSpPr/>
          <p:nvPr/>
        </p:nvSpPr>
        <p:spPr>
          <a:xfrm>
            <a:off x="457200" y="4114800"/>
            <a:ext cx="8229600" cy="594360"/>
          </a:xfrm>
          <a:prstGeom prst="rect">
            <a:avLst/>
          </a:prstGeom>
          <a:noFill/>
          <a:ln/>
        </p:spPr>
        <p:txBody>
          <a:bodyPr wrap="square" lIns="0" tIns="0" rIns="0" bIns="0" rtlCol="0" anchor="ctr"/>
          <a:lstStyle/>
          <a:p>
            <a:pPr algn="l" indent="0" marL="0">
              <a:buNone/>
            </a:pPr>
            <a:r>
              <a:rPr lang="en-US" sz="1300" i="1" dirty="0">
                <a:solidFill>
                  <a:srgbClr val="94A3B8"/>
                </a:solidFill>
                <a:latin typeface="Calibri" pitchFamily="34" charset="0"/>
                <a:ea typeface="Calibri" pitchFamily="34" charset="-122"/>
                <a:cs typeface="Calibri" pitchFamily="34" charset="-120"/>
              </a:rPr>
              <a:t>The gap between Experimenter and Practitioner is the gap between individual productivity and organizational results.</a:t>
            </a:r>
            <a:endParaRPr lang="en-US" sz="1300" dirty="0"/>
          </a:p>
        </p:txBody>
      </p:sp>
      <p:sp>
        <p:nvSpPr>
          <p:cNvPr id="16" name="Text 14"/>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[3] Section, "AI Proficiency Report," Jan 2026.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7C3AED"/>
          </a:solidFill>
          <a:ln w="12700">
            <a:solidFill>
              <a:srgbClr val="7C3AED"/>
            </a:solidFill>
            <a:prstDash val="solid"/>
          </a:ln>
        </p:spPr>
      </p:sp>
      <p:sp>
        <p:nvSpPr>
          <p:cNvPr id="3" name="Text 1"/>
          <p:cNvSpPr/>
          <p:nvPr/>
        </p:nvSpPr>
        <p:spPr>
          <a:xfrm>
            <a:off x="2743200" y="274320"/>
            <a:ext cx="5943600" cy="4114800"/>
          </a:xfrm>
          <a:prstGeom prst="rect">
            <a:avLst/>
          </a:prstGeom>
          <a:noFill/>
          <a:ln/>
        </p:spPr>
        <p:txBody>
          <a:bodyPr wrap="square" lIns="0" tIns="0" rIns="0" bIns="0" rtlCol="0" anchor="ctr"/>
          <a:lstStyle/>
          <a:p>
            <a:pPr algn="r" indent="0" marL="0">
              <a:buNone/>
            </a:pPr>
            <a:r>
              <a:rPr lang="en-US" sz="20000" b="1" dirty="0">
                <a:solidFill>
                  <a:srgbClr val="0A1525"/>
                </a:solidFill>
                <a:latin typeface="Georgia" pitchFamily="34" charset="0"/>
                <a:ea typeface="Georgia" pitchFamily="34" charset="-122"/>
                <a:cs typeface="Georgia" pitchFamily="34" charset="-120"/>
              </a:rPr>
              <a:t>03</a:t>
            </a:r>
            <a:endParaRPr lang="en-US" sz="20000" dirty="0"/>
          </a:p>
        </p:txBody>
      </p:sp>
      <p:sp>
        <p:nvSpPr>
          <p:cNvPr id="4" name="Text 2"/>
          <p:cNvSpPr/>
          <p:nvPr/>
        </p:nvSpPr>
        <p:spPr>
          <a:xfrm>
            <a:off x="457200" y="1188720"/>
            <a:ext cx="6400800" cy="365760"/>
          </a:xfrm>
          <a:prstGeom prst="rect">
            <a:avLst/>
          </a:prstGeom>
          <a:noFill/>
          <a:ln/>
        </p:spPr>
        <p:txBody>
          <a:bodyPr wrap="square" lIns="0" tIns="0" rIns="0" bIns="0" rtlCol="0" anchor="ctr"/>
          <a:lstStyle/>
          <a:p>
            <a:pPr algn="l" indent="0" marL="0">
              <a:buNone/>
            </a:pPr>
            <a:r>
              <a:rPr lang="en-US" sz="1100" b="1" spc="400" kern="0" dirty="0">
                <a:solidFill>
                  <a:srgbClr val="7C3AED"/>
                </a:solidFill>
                <a:latin typeface="Calibri" pitchFamily="34" charset="0"/>
                <a:ea typeface="Calibri" pitchFamily="34" charset="-122"/>
                <a:cs typeface="Calibri" pitchFamily="34" charset="-120"/>
              </a:rPr>
              <a:t>MODULE 03</a:t>
            </a:r>
            <a:endParaRPr lang="en-US" sz="1100" dirty="0"/>
          </a:p>
        </p:txBody>
      </p:sp>
      <p:sp>
        <p:nvSpPr>
          <p:cNvPr id="5" name="Text 3"/>
          <p:cNvSpPr/>
          <p:nvPr/>
        </p:nvSpPr>
        <p:spPr>
          <a:xfrm>
            <a:off x="457200" y="1664208"/>
            <a:ext cx="7315200" cy="1097280"/>
          </a:xfrm>
          <a:prstGeom prst="rect">
            <a:avLst/>
          </a:prstGeom>
          <a:noFill/>
          <a:ln/>
        </p:spPr>
        <p:txBody>
          <a:bodyPr wrap="square" lIns="0" tIns="0" rIns="0" bIns="0" rtlCol="0" anchor="ctr"/>
          <a:lstStyle/>
          <a:p>
            <a:pPr algn="l" indent="0" marL="0">
              <a:buNone/>
            </a:pPr>
            <a:r>
              <a:rPr lang="en-US" sz="5600" b="1" dirty="0">
                <a:solidFill>
                  <a:srgbClr val="FFFFFF"/>
                </a:solidFill>
                <a:latin typeface="Georgia" pitchFamily="34" charset="0"/>
                <a:ea typeface="Georgia" pitchFamily="34" charset="-122"/>
                <a:cs typeface="Georgia" pitchFamily="34" charset="-120"/>
              </a:rPr>
              <a:t>Name the Gap</a:t>
            </a:r>
            <a:endParaRPr lang="en-US" sz="5600" dirty="0"/>
          </a:p>
        </p:txBody>
      </p:sp>
      <p:sp>
        <p:nvSpPr>
          <p:cNvPr id="6" name="Text 4"/>
          <p:cNvSpPr/>
          <p:nvPr/>
        </p:nvSpPr>
        <p:spPr>
          <a:xfrm>
            <a:off x="457200" y="2907792"/>
            <a:ext cx="6400800" cy="502920"/>
          </a:xfrm>
          <a:prstGeom prst="rect">
            <a:avLst/>
          </a:prstGeom>
          <a:noFill/>
          <a:ln/>
        </p:spPr>
        <p:txBody>
          <a:bodyPr wrap="square" lIns="0" tIns="0" rIns="0" bIns="0" rtlCol="0" anchor="ctr"/>
          <a:lstStyle/>
          <a:p>
            <a:pPr algn="l" indent="0" marL="0">
              <a:buNone/>
            </a:pPr>
            <a:r>
              <a:rPr lang="en-US" sz="2200" i="1" dirty="0">
                <a:solidFill>
                  <a:srgbClr val="94A3B8"/>
                </a:solidFill>
                <a:latin typeface="Georgia" pitchFamily="34" charset="0"/>
                <a:ea typeface="Georgia" pitchFamily="34" charset="-122"/>
                <a:cs typeface="Georgia" pitchFamily="34" charset="-120"/>
              </a:rPr>
              <a:t>The diagnosis changes the prescription.</a:t>
            </a:r>
            <a:endParaRPr lang="en-US" sz="2200" dirty="0"/>
          </a:p>
        </p:txBody>
      </p:sp>
      <p:sp>
        <p:nvSpPr>
          <p:cNvPr id="7" name="Text 5"/>
          <p:cNvSpPr/>
          <p:nvPr/>
        </p:nvSpPr>
        <p:spPr>
          <a:xfrm>
            <a:off x="457200" y="3566160"/>
            <a:ext cx="6400800" cy="457200"/>
          </a:xfrm>
          <a:prstGeom prst="rect">
            <a:avLst/>
          </a:prstGeom>
          <a:noFill/>
          <a:ln/>
        </p:spPr>
        <p:txBody>
          <a:bodyPr wrap="square" lIns="0" tIns="0" rIns="0" bIns="0" rtlCol="0" anchor="ctr"/>
          <a:lstStyle/>
          <a:p>
            <a:pPr algn="l" indent="0" marL="0">
              <a:buNone/>
            </a:pPr>
            <a:r>
              <a:rPr lang="en-US" sz="1500" dirty="0">
                <a:solidFill>
                  <a:srgbClr val="7C3AED"/>
                </a:solidFill>
                <a:latin typeface="Calibri" pitchFamily="34" charset="0"/>
                <a:ea typeface="Calibri" pitchFamily="34" charset="-122"/>
                <a:cs typeface="Calibri" pitchFamily="34" charset="-120"/>
              </a:rPr>
              <a:t>Tool ceiling  ·  Measurement gap  ·  Intent gap</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7C3AED"/>
          </a:solidFill>
          <a:ln w="12700">
            <a:solidFill>
              <a:srgbClr val="7C3AED"/>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03  ·  NAME THE GAP</a:t>
            </a:r>
            <a:endParaRPr lang="en-US" sz="1000" dirty="0"/>
          </a:p>
        </p:txBody>
      </p:sp>
      <p:sp>
        <p:nvSpPr>
          <p:cNvPr id="4" name="Text 2"/>
          <p:cNvSpPr/>
          <p:nvPr/>
        </p:nvSpPr>
        <p:spPr>
          <a:xfrm>
            <a:off x="457200" y="475488"/>
            <a:ext cx="8229600" cy="566928"/>
          </a:xfrm>
          <a:prstGeom prst="rect">
            <a:avLst/>
          </a:prstGeom>
          <a:noFill/>
          <a:ln/>
        </p:spPr>
        <p:txBody>
          <a:bodyPr wrap="square" lIns="0" tIns="0" rIns="0" bIns="0" rtlCol="0" anchor="ctr"/>
          <a:lstStyle/>
          <a:p>
            <a:pPr algn="l" indent="0" marL="0">
              <a:buNone/>
            </a:pPr>
            <a:r>
              <a:rPr lang="en-US" sz="2600" b="1" dirty="0">
                <a:solidFill>
                  <a:srgbClr val="1A1F2E"/>
                </a:solidFill>
                <a:latin typeface="Georgia" pitchFamily="34" charset="0"/>
                <a:ea typeface="Georgia" pitchFamily="34" charset="-122"/>
                <a:cs typeface="Georgia" pitchFamily="34" charset="-120"/>
              </a:rPr>
              <a:t>Three Types of Gaps. Three Different Prescriptions.</a:t>
            </a:r>
            <a:endParaRPr lang="en-US" sz="2600" dirty="0"/>
          </a:p>
        </p:txBody>
      </p:sp>
      <p:sp>
        <p:nvSpPr>
          <p:cNvPr id="5" name="Shape 3"/>
          <p:cNvSpPr/>
          <p:nvPr/>
        </p:nvSpPr>
        <p:spPr>
          <a:xfrm>
            <a:off x="365760" y="1170432"/>
            <a:ext cx="2788920" cy="3474720"/>
          </a:xfrm>
          <a:prstGeom prst="rect">
            <a:avLst/>
          </a:prstGeom>
          <a:solidFill>
            <a:srgbClr val="FFFFFF"/>
          </a:solidFill>
          <a:ln w="12700">
            <a:solidFill>
              <a:srgbClr val="FFFFFF"/>
            </a:solidFill>
            <a:prstDash val="solid"/>
          </a:ln>
        </p:spPr>
      </p:sp>
      <p:sp>
        <p:nvSpPr>
          <p:cNvPr id="6" name="Shape 4"/>
          <p:cNvSpPr/>
          <p:nvPr/>
        </p:nvSpPr>
        <p:spPr>
          <a:xfrm>
            <a:off x="365760" y="1170432"/>
            <a:ext cx="2788920" cy="256032"/>
          </a:xfrm>
          <a:prstGeom prst="rect">
            <a:avLst/>
          </a:prstGeom>
          <a:solidFill>
            <a:srgbClr val="E85D04"/>
          </a:solidFill>
          <a:ln w="12700">
            <a:solidFill>
              <a:srgbClr val="E85D04"/>
            </a:solidFill>
            <a:prstDash val="solid"/>
          </a:ln>
        </p:spPr>
      </p:sp>
      <p:sp>
        <p:nvSpPr>
          <p:cNvPr id="7" name="Text 5"/>
          <p:cNvSpPr/>
          <p:nvPr/>
        </p:nvSpPr>
        <p:spPr>
          <a:xfrm>
            <a:off x="475488" y="1444752"/>
            <a:ext cx="2560320" cy="41148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01  The Tool Ceiling</a:t>
            </a:r>
            <a:endParaRPr lang="en-US" sz="1400" dirty="0"/>
          </a:p>
        </p:txBody>
      </p:sp>
      <p:sp>
        <p:nvSpPr>
          <p:cNvPr id="8" name="Shape 6"/>
          <p:cNvSpPr/>
          <p:nvPr/>
        </p:nvSpPr>
        <p:spPr>
          <a:xfrm>
            <a:off x="475488" y="1883664"/>
            <a:ext cx="2560320" cy="18288"/>
          </a:xfrm>
          <a:prstGeom prst="rect">
            <a:avLst/>
          </a:prstGeom>
          <a:solidFill>
            <a:srgbClr val="E2E8F0"/>
          </a:solidFill>
          <a:ln w="12700">
            <a:solidFill>
              <a:srgbClr val="E2E8F0"/>
            </a:solidFill>
            <a:prstDash val="solid"/>
          </a:ln>
        </p:spPr>
      </p:sp>
      <p:sp>
        <p:nvSpPr>
          <p:cNvPr id="9" name="Text 7"/>
          <p:cNvSpPr/>
          <p:nvPr/>
        </p:nvSpPr>
        <p:spPr>
          <a:xfrm>
            <a:off x="475488" y="1956816"/>
            <a:ext cx="2560320" cy="1737360"/>
          </a:xfrm>
          <a:prstGeom prst="rect">
            <a:avLst/>
          </a:prstGeom>
          <a:noFill/>
          <a:ln/>
        </p:spPr>
        <p:txBody>
          <a:bodyPr wrap="square" lIns="0" tIns="0" rIns="0" bIns="0" rtlCol="0" anchor="t"/>
          <a:lstStyle/>
          <a:p>
            <a:pPr algn="l" indent="0" marL="0">
              <a:buNone/>
            </a:pPr>
            <a:r>
              <a:rPr lang="en-US" sz="1150" dirty="0">
                <a:solidFill>
                  <a:srgbClr val="6B7280"/>
                </a:solidFill>
                <a:latin typeface="Calibri" pitchFamily="34" charset="0"/>
                <a:ea typeface="Calibri" pitchFamily="34" charset="-122"/>
                <a:cs typeface="Calibri" pitchFamily="34" charset="-120"/>
              </a:rPr>
              <a:t>The tool did its job. Individual productivity is real. But the tool has reached its ceiling for your use case. You need to move to the next phase of transformation — not replace what you have.</a:t>
            </a:r>
            <a:endParaRPr lang="en-US" sz="1150" dirty="0"/>
          </a:p>
        </p:txBody>
      </p:sp>
      <p:sp>
        <p:nvSpPr>
          <p:cNvPr id="10" name="Shape 8"/>
          <p:cNvSpPr/>
          <p:nvPr/>
        </p:nvSpPr>
        <p:spPr>
          <a:xfrm>
            <a:off x="475488" y="3730752"/>
            <a:ext cx="2560320" cy="18288"/>
          </a:xfrm>
          <a:prstGeom prst="rect">
            <a:avLst/>
          </a:prstGeom>
          <a:solidFill>
            <a:srgbClr val="E85D04"/>
          </a:solidFill>
          <a:ln w="12700">
            <a:solidFill>
              <a:srgbClr val="E85D04"/>
            </a:solidFill>
            <a:prstDash val="solid"/>
          </a:ln>
        </p:spPr>
      </p:sp>
      <p:sp>
        <p:nvSpPr>
          <p:cNvPr id="11" name="Text 9"/>
          <p:cNvSpPr/>
          <p:nvPr/>
        </p:nvSpPr>
        <p:spPr>
          <a:xfrm>
            <a:off x="475488" y="3794760"/>
            <a:ext cx="2560320" cy="731520"/>
          </a:xfrm>
          <a:prstGeom prst="rect">
            <a:avLst/>
          </a:prstGeom>
          <a:noFill/>
          <a:ln/>
        </p:spPr>
        <p:txBody>
          <a:bodyPr wrap="square" lIns="0" tIns="0" rIns="0" bIns="0" rtlCol="0" anchor="t"/>
          <a:lstStyle/>
          <a:p>
            <a:pPr algn="l" indent="0" marL="0">
              <a:buNone/>
            </a:pPr>
            <a:r>
              <a:rPr lang="en-US" sz="1100" b="1" dirty="0">
                <a:solidFill>
                  <a:srgbClr val="1A1F2E"/>
                </a:solidFill>
                <a:latin typeface="Calibri" pitchFamily="34" charset="0"/>
                <a:ea typeface="Calibri" pitchFamily="34" charset="-122"/>
                <a:cs typeface="Calibri" pitchFamily="34" charset="-120"/>
              </a:rPr>
              <a:t>Move from individual augmentation to workflow automation.</a:t>
            </a:r>
            <a:endParaRPr lang="en-US" sz="1100" dirty="0"/>
          </a:p>
        </p:txBody>
      </p:sp>
      <p:sp>
        <p:nvSpPr>
          <p:cNvPr id="12" name="Shape 10"/>
          <p:cNvSpPr/>
          <p:nvPr/>
        </p:nvSpPr>
        <p:spPr>
          <a:xfrm>
            <a:off x="3108960" y="1170432"/>
            <a:ext cx="2788920" cy="3474720"/>
          </a:xfrm>
          <a:prstGeom prst="rect">
            <a:avLst/>
          </a:prstGeom>
          <a:solidFill>
            <a:srgbClr val="FFFFFF"/>
          </a:solidFill>
          <a:ln w="12700">
            <a:solidFill>
              <a:srgbClr val="FFFFFF"/>
            </a:solidFill>
            <a:prstDash val="solid"/>
          </a:ln>
        </p:spPr>
      </p:sp>
      <p:sp>
        <p:nvSpPr>
          <p:cNvPr id="13" name="Shape 11"/>
          <p:cNvSpPr/>
          <p:nvPr/>
        </p:nvSpPr>
        <p:spPr>
          <a:xfrm>
            <a:off x="3108960" y="1170432"/>
            <a:ext cx="2788920" cy="256032"/>
          </a:xfrm>
          <a:prstGeom prst="rect">
            <a:avLst/>
          </a:prstGeom>
          <a:solidFill>
            <a:srgbClr val="0D9488"/>
          </a:solidFill>
          <a:ln w="12700">
            <a:solidFill>
              <a:srgbClr val="0D9488"/>
            </a:solidFill>
            <a:prstDash val="solid"/>
          </a:ln>
        </p:spPr>
      </p:sp>
      <p:sp>
        <p:nvSpPr>
          <p:cNvPr id="14" name="Text 12"/>
          <p:cNvSpPr/>
          <p:nvPr/>
        </p:nvSpPr>
        <p:spPr>
          <a:xfrm>
            <a:off x="3218688" y="1444752"/>
            <a:ext cx="2560320" cy="41148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02  The Measurement Gap</a:t>
            </a:r>
            <a:endParaRPr lang="en-US" sz="1400" dirty="0"/>
          </a:p>
        </p:txBody>
      </p:sp>
      <p:sp>
        <p:nvSpPr>
          <p:cNvPr id="15" name="Shape 13"/>
          <p:cNvSpPr/>
          <p:nvPr/>
        </p:nvSpPr>
        <p:spPr>
          <a:xfrm>
            <a:off x="3218688" y="1883664"/>
            <a:ext cx="2560320" cy="18288"/>
          </a:xfrm>
          <a:prstGeom prst="rect">
            <a:avLst/>
          </a:prstGeom>
          <a:solidFill>
            <a:srgbClr val="E2E8F0"/>
          </a:solidFill>
          <a:ln w="12700">
            <a:solidFill>
              <a:srgbClr val="E2E8F0"/>
            </a:solidFill>
            <a:prstDash val="solid"/>
          </a:ln>
        </p:spPr>
      </p:sp>
      <p:sp>
        <p:nvSpPr>
          <p:cNvPr id="16" name="Text 14"/>
          <p:cNvSpPr/>
          <p:nvPr/>
        </p:nvSpPr>
        <p:spPr>
          <a:xfrm>
            <a:off x="3218688" y="1956816"/>
            <a:ext cx="2560320" cy="1737360"/>
          </a:xfrm>
          <a:prstGeom prst="rect">
            <a:avLst/>
          </a:prstGeom>
          <a:noFill/>
          <a:ln/>
        </p:spPr>
        <p:txBody>
          <a:bodyPr wrap="square" lIns="0" tIns="0" rIns="0" bIns="0" rtlCol="0" anchor="t"/>
          <a:lstStyle/>
          <a:p>
            <a:pPr algn="l" indent="0" marL="0">
              <a:buNone/>
            </a:pPr>
            <a:r>
              <a:rPr lang="en-US" sz="1150" dirty="0">
                <a:solidFill>
                  <a:srgbClr val="6B7280"/>
                </a:solidFill>
                <a:latin typeface="Calibri" pitchFamily="34" charset="0"/>
                <a:ea typeface="Calibri" pitchFamily="34" charset="-122"/>
                <a:cs typeface="Calibri" pitchFamily="34" charset="-120"/>
              </a:rPr>
              <a:t>AI activity is happening. Nobody is wrong. Nothing is broken. The results are just invisible. Level 2 adoption "feels like you are done. But you are not done." 90% of self-described AI-native practitioners live at Level 2.</a:t>
            </a:r>
            <a:endParaRPr lang="en-US" sz="1150" dirty="0"/>
          </a:p>
        </p:txBody>
      </p:sp>
      <p:sp>
        <p:nvSpPr>
          <p:cNvPr id="17" name="Shape 15"/>
          <p:cNvSpPr/>
          <p:nvPr/>
        </p:nvSpPr>
        <p:spPr>
          <a:xfrm>
            <a:off x="3218688" y="3730752"/>
            <a:ext cx="2560320" cy="18288"/>
          </a:xfrm>
          <a:prstGeom prst="rect">
            <a:avLst/>
          </a:prstGeom>
          <a:solidFill>
            <a:srgbClr val="0D9488"/>
          </a:solidFill>
          <a:ln w="12700">
            <a:solidFill>
              <a:srgbClr val="0D9488"/>
            </a:solidFill>
            <a:prstDash val="solid"/>
          </a:ln>
        </p:spPr>
      </p:sp>
      <p:sp>
        <p:nvSpPr>
          <p:cNvPr id="18" name="Text 16"/>
          <p:cNvSpPr/>
          <p:nvPr/>
        </p:nvSpPr>
        <p:spPr>
          <a:xfrm>
            <a:off x="3218688" y="3794760"/>
            <a:ext cx="2560320" cy="731520"/>
          </a:xfrm>
          <a:prstGeom prst="rect">
            <a:avLst/>
          </a:prstGeom>
          <a:noFill/>
          <a:ln/>
        </p:spPr>
        <p:txBody>
          <a:bodyPr wrap="square" lIns="0" tIns="0" rIns="0" bIns="0" rtlCol="0" anchor="t"/>
          <a:lstStyle/>
          <a:p>
            <a:pPr algn="l" indent="0" marL="0">
              <a:buNone/>
            </a:pPr>
            <a:r>
              <a:rPr lang="en-US" sz="1100" b="1" dirty="0">
                <a:solidFill>
                  <a:srgbClr val="1A1F2E"/>
                </a:solidFill>
                <a:latin typeface="Calibri" pitchFamily="34" charset="0"/>
                <a:ea typeface="Calibri" pitchFamily="34" charset="-122"/>
                <a:cs typeface="Calibri" pitchFamily="34" charset="-120"/>
              </a:rPr>
              <a:t>Build a three-pillar KPI system: Usage → Automations → Department-Level Impact.</a:t>
            </a:r>
            <a:endParaRPr lang="en-US" sz="1100" dirty="0"/>
          </a:p>
        </p:txBody>
      </p:sp>
      <p:sp>
        <p:nvSpPr>
          <p:cNvPr id="19" name="Shape 17"/>
          <p:cNvSpPr/>
          <p:nvPr/>
        </p:nvSpPr>
        <p:spPr>
          <a:xfrm>
            <a:off x="5852160" y="1170432"/>
            <a:ext cx="2788920" cy="3474720"/>
          </a:xfrm>
          <a:prstGeom prst="rect">
            <a:avLst/>
          </a:prstGeom>
          <a:solidFill>
            <a:srgbClr val="FFFFFF"/>
          </a:solidFill>
          <a:ln w="12700">
            <a:solidFill>
              <a:srgbClr val="FFFFFF"/>
            </a:solidFill>
            <a:prstDash val="solid"/>
          </a:ln>
        </p:spPr>
      </p:sp>
      <p:sp>
        <p:nvSpPr>
          <p:cNvPr id="20" name="Shape 18"/>
          <p:cNvSpPr/>
          <p:nvPr/>
        </p:nvSpPr>
        <p:spPr>
          <a:xfrm>
            <a:off x="5852160" y="1170432"/>
            <a:ext cx="2788920" cy="256032"/>
          </a:xfrm>
          <a:prstGeom prst="rect">
            <a:avLst/>
          </a:prstGeom>
          <a:solidFill>
            <a:srgbClr val="7C3AED"/>
          </a:solidFill>
          <a:ln w="12700">
            <a:solidFill>
              <a:srgbClr val="7C3AED"/>
            </a:solidFill>
            <a:prstDash val="solid"/>
          </a:ln>
        </p:spPr>
      </p:sp>
      <p:sp>
        <p:nvSpPr>
          <p:cNvPr id="21" name="Text 19"/>
          <p:cNvSpPr/>
          <p:nvPr/>
        </p:nvSpPr>
        <p:spPr>
          <a:xfrm>
            <a:off x="5961888" y="1444752"/>
            <a:ext cx="2560320" cy="41148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03  The Intent Gap</a:t>
            </a:r>
            <a:endParaRPr lang="en-US" sz="1400" dirty="0"/>
          </a:p>
        </p:txBody>
      </p:sp>
      <p:sp>
        <p:nvSpPr>
          <p:cNvPr id="22" name="Shape 20"/>
          <p:cNvSpPr/>
          <p:nvPr/>
        </p:nvSpPr>
        <p:spPr>
          <a:xfrm>
            <a:off x="5961888" y="1883664"/>
            <a:ext cx="2560320" cy="18288"/>
          </a:xfrm>
          <a:prstGeom prst="rect">
            <a:avLst/>
          </a:prstGeom>
          <a:solidFill>
            <a:srgbClr val="E2E8F0"/>
          </a:solidFill>
          <a:ln w="12700">
            <a:solidFill>
              <a:srgbClr val="E2E8F0"/>
            </a:solidFill>
            <a:prstDash val="solid"/>
          </a:ln>
        </p:spPr>
      </p:sp>
      <p:sp>
        <p:nvSpPr>
          <p:cNvPr id="23" name="Text 21"/>
          <p:cNvSpPr/>
          <p:nvPr/>
        </p:nvSpPr>
        <p:spPr>
          <a:xfrm>
            <a:off x="5961888" y="1956816"/>
            <a:ext cx="2560320" cy="1737360"/>
          </a:xfrm>
          <a:prstGeom prst="rect">
            <a:avLst/>
          </a:prstGeom>
          <a:noFill/>
          <a:ln/>
        </p:spPr>
        <p:txBody>
          <a:bodyPr wrap="square" lIns="0" tIns="0" rIns="0" bIns="0" rtlCol="0" anchor="t"/>
          <a:lstStyle/>
          <a:p>
            <a:pPr algn="l" indent="0" marL="0">
              <a:buNone/>
            </a:pPr>
            <a:r>
              <a:rPr lang="en-US" sz="1150" dirty="0">
                <a:solidFill>
                  <a:srgbClr val="6B7280"/>
                </a:solidFill>
                <a:latin typeface="Calibri" pitchFamily="34" charset="0"/>
                <a:ea typeface="Calibri" pitchFamily="34" charset="-122"/>
                <a:cs typeface="Calibri" pitchFamily="34" charset="-120"/>
              </a:rPr>
              <a:t>The deepest gap. Tools are being used. Activity is happening. But no one defined what that activity is supposed to accomplish at the organizational level. The Klarna case: AI worked perfectly at its stated task. The intent was never encoded.</a:t>
            </a:r>
            <a:endParaRPr lang="en-US" sz="1150" dirty="0"/>
          </a:p>
        </p:txBody>
      </p:sp>
      <p:sp>
        <p:nvSpPr>
          <p:cNvPr id="24" name="Shape 22"/>
          <p:cNvSpPr/>
          <p:nvPr/>
        </p:nvSpPr>
        <p:spPr>
          <a:xfrm>
            <a:off x="5961888" y="3730752"/>
            <a:ext cx="2560320" cy="18288"/>
          </a:xfrm>
          <a:prstGeom prst="rect">
            <a:avLst/>
          </a:prstGeom>
          <a:solidFill>
            <a:srgbClr val="7C3AED"/>
          </a:solidFill>
          <a:ln w="12700">
            <a:solidFill>
              <a:srgbClr val="7C3AED"/>
            </a:solidFill>
            <a:prstDash val="solid"/>
          </a:ln>
        </p:spPr>
      </p:sp>
      <p:sp>
        <p:nvSpPr>
          <p:cNvPr id="25" name="Text 23"/>
          <p:cNvSpPr/>
          <p:nvPr/>
        </p:nvSpPr>
        <p:spPr>
          <a:xfrm>
            <a:off x="5961888" y="3794760"/>
            <a:ext cx="2560320" cy="731520"/>
          </a:xfrm>
          <a:prstGeom prst="rect">
            <a:avLst/>
          </a:prstGeom>
          <a:noFill/>
          <a:ln/>
        </p:spPr>
        <p:txBody>
          <a:bodyPr wrap="square" lIns="0" tIns="0" rIns="0" bIns="0" rtlCol="0" anchor="t"/>
          <a:lstStyle/>
          <a:p>
            <a:pPr algn="l" indent="0" marL="0">
              <a:buNone/>
            </a:pPr>
            <a:r>
              <a:rPr lang="en-US" sz="1100" b="1" dirty="0">
                <a:solidFill>
                  <a:srgbClr val="1A1F2E"/>
                </a:solidFill>
                <a:latin typeface="Calibri" pitchFamily="34" charset="0"/>
                <a:ea typeface="Calibri" pitchFamily="34" charset="-122"/>
                <a:cs typeface="Calibri" pitchFamily="34" charset="-120"/>
              </a:rPr>
              <a:t>Go back and do the intent work (Module 1) before expanding further.</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03  ·  GAP TYPE 1</a:t>
            </a:r>
            <a:endParaRPr lang="en-US" sz="1000" dirty="0"/>
          </a:p>
        </p:txBody>
      </p:sp>
      <p:sp>
        <p:nvSpPr>
          <p:cNvPr id="4" name="Text 2"/>
          <p:cNvSpPr/>
          <p:nvPr/>
        </p:nvSpPr>
        <p:spPr>
          <a:xfrm>
            <a:off x="457200" y="475488"/>
            <a:ext cx="8229600" cy="594360"/>
          </a:xfrm>
          <a:prstGeom prst="rect">
            <a:avLst/>
          </a:prstGeom>
          <a:noFill/>
          <a:ln/>
        </p:spPr>
        <p:txBody>
          <a:bodyPr wrap="square" lIns="0" tIns="0" rIns="0" bIns="0" rtlCol="0" anchor="ctr"/>
          <a:lstStyle/>
          <a:p>
            <a:pPr algn="l" indent="0" marL="0">
              <a:buNone/>
            </a:pPr>
            <a:r>
              <a:rPr lang="en-US" sz="3000" b="1" dirty="0">
                <a:solidFill>
                  <a:srgbClr val="1A1F2E"/>
                </a:solidFill>
                <a:latin typeface="Georgia" pitchFamily="34" charset="0"/>
                <a:ea typeface="Georgia" pitchFamily="34" charset="-122"/>
                <a:cs typeface="Georgia" pitchFamily="34" charset="-120"/>
              </a:rPr>
              <a:t>The Tool Ceiling</a:t>
            </a:r>
            <a:endParaRPr lang="en-US" sz="3000" dirty="0"/>
          </a:p>
        </p:txBody>
      </p:sp>
      <p:sp>
        <p:nvSpPr>
          <p:cNvPr id="5" name="Shape 3"/>
          <p:cNvSpPr/>
          <p:nvPr/>
        </p:nvSpPr>
        <p:spPr>
          <a:xfrm>
            <a:off x="365760" y="1188720"/>
            <a:ext cx="4069080" cy="3429000"/>
          </a:xfrm>
          <a:prstGeom prst="rect">
            <a:avLst/>
          </a:prstGeom>
          <a:solidFill>
            <a:srgbClr val="FFFFFF"/>
          </a:solidFill>
          <a:ln w="12700">
            <a:solidFill>
              <a:srgbClr val="FFFFFF"/>
            </a:solidFill>
            <a:prstDash val="solid"/>
          </a:ln>
        </p:spPr>
      </p:sp>
      <p:sp>
        <p:nvSpPr>
          <p:cNvPr id="6" name="Shape 4"/>
          <p:cNvSpPr/>
          <p:nvPr/>
        </p:nvSpPr>
        <p:spPr>
          <a:xfrm>
            <a:off x="365760" y="1188720"/>
            <a:ext cx="91440" cy="3429000"/>
          </a:xfrm>
          <a:prstGeom prst="rect">
            <a:avLst/>
          </a:prstGeom>
          <a:solidFill>
            <a:srgbClr val="E85D04"/>
          </a:solidFill>
          <a:ln w="12700">
            <a:solidFill>
              <a:srgbClr val="E85D04"/>
            </a:solidFill>
            <a:prstDash val="solid"/>
          </a:ln>
        </p:spPr>
      </p:sp>
      <p:sp>
        <p:nvSpPr>
          <p:cNvPr id="7" name="Text 5"/>
          <p:cNvSpPr/>
          <p:nvPr/>
        </p:nvSpPr>
        <p:spPr>
          <a:xfrm>
            <a:off x="594360" y="1298448"/>
            <a:ext cx="3657600" cy="384048"/>
          </a:xfrm>
          <a:prstGeom prst="rect">
            <a:avLst/>
          </a:prstGeom>
          <a:noFill/>
          <a:ln/>
        </p:spPr>
        <p:txBody>
          <a:bodyPr wrap="square" lIns="0" tIns="0" rIns="0" bIns="0" rtlCol="0" anchor="ctr"/>
          <a:lstStyle/>
          <a:p>
            <a:pPr algn="l" indent="0" marL="0">
              <a:buNone/>
            </a:pPr>
            <a:r>
              <a:rPr lang="en-US" sz="1400" b="1" dirty="0">
                <a:solidFill>
                  <a:srgbClr val="E85D04"/>
                </a:solidFill>
                <a:latin typeface="Georgia" pitchFamily="34" charset="0"/>
                <a:ea typeface="Georgia" pitchFamily="34" charset="-122"/>
                <a:cs typeface="Georgia" pitchFamily="34" charset="-120"/>
              </a:rPr>
              <a:t>The METR Study</a:t>
            </a:r>
            <a:endParaRPr lang="en-US" sz="1400" dirty="0"/>
          </a:p>
        </p:txBody>
      </p:sp>
      <p:sp>
        <p:nvSpPr>
          <p:cNvPr id="8" name="Text 6"/>
          <p:cNvSpPr/>
          <p:nvPr/>
        </p:nvSpPr>
        <p:spPr>
          <a:xfrm>
            <a:off x="594360" y="1737360"/>
            <a:ext cx="3657600" cy="822960"/>
          </a:xfrm>
          <a:prstGeom prst="rect">
            <a:avLst/>
          </a:prstGeom>
          <a:noFill/>
          <a:ln/>
        </p:spPr>
        <p:txBody>
          <a:bodyPr wrap="square" lIns="0" tIns="0" rIns="0" bIns="0" rtlCol="0" anchor="ctr"/>
          <a:lstStyle/>
          <a:p>
            <a:pPr algn="l" indent="0" marL="0">
              <a:buNone/>
            </a:pPr>
            <a:r>
              <a:rPr lang="en-US" sz="3600" b="1" dirty="0">
                <a:solidFill>
                  <a:srgbClr val="F9C74F"/>
                </a:solidFill>
                <a:latin typeface="Georgia" pitchFamily="34" charset="0"/>
                <a:ea typeface="Georgia" pitchFamily="34" charset="-122"/>
                <a:cs typeface="Georgia" pitchFamily="34" charset="-120"/>
              </a:rPr>
              <a:t>19%</a:t>
            </a:r>
            <a:pPr algn="l" indent="0" marL="0">
              <a:buNone/>
            </a:pPr>
            <a:r>
              <a:rPr lang="en-US" sz="1400" dirty="0">
                <a:solidFill>
                  <a:srgbClr val="1A1F2E"/>
                </a:solidFill>
                <a:latin typeface="Georgia" pitchFamily="34" charset="0"/>
                <a:ea typeface="Georgia" pitchFamily="34" charset="-122"/>
                <a:cs typeface="Georgia" pitchFamily="34" charset="-120"/>
              </a:rPr>
              <a:t xml:space="preserve"> slower</a:t>
            </a:r>
            <a:endParaRPr lang="en-US" sz="3600" dirty="0"/>
          </a:p>
          <a:p>
            <a:pPr algn="l" indent="0" marL="0">
              <a:buNone/>
            </a:pPr>
            <a:r>
              <a:rPr lang="en-US" sz="1400" dirty="0">
                <a:solidFill>
                  <a:srgbClr val="1A1F2E"/>
                </a:solidFill>
                <a:latin typeface="Georgia" pitchFamily="34" charset="0"/>
                <a:ea typeface="Georgia" pitchFamily="34" charset="-122"/>
                <a:cs typeface="Georgia" pitchFamily="34" charset="-120"/>
              </a:rPr>
              <a:t>actual performance</a:t>
            </a:r>
            <a:endParaRPr lang="en-US" sz="3600" dirty="0"/>
          </a:p>
        </p:txBody>
      </p:sp>
      <p:sp>
        <p:nvSpPr>
          <p:cNvPr id="9" name="Text 7"/>
          <p:cNvSpPr/>
          <p:nvPr/>
        </p:nvSpPr>
        <p:spPr>
          <a:xfrm>
            <a:off x="594360" y="2651760"/>
            <a:ext cx="3657600" cy="274320"/>
          </a:xfrm>
          <a:prstGeom prst="rect">
            <a:avLst/>
          </a:prstGeom>
          <a:noFill/>
          <a:ln/>
        </p:spPr>
        <p:txBody>
          <a:bodyPr wrap="square" lIns="0" tIns="0" rIns="0" bIns="0" rtlCol="0" anchor="ctr"/>
          <a:lstStyle/>
          <a:p>
            <a:pPr algn="l" indent="0" marL="0">
              <a:buNone/>
            </a:pPr>
            <a:r>
              <a:rPr lang="en-US" sz="1200" b="1" dirty="0">
                <a:solidFill>
                  <a:srgbClr val="6B7280"/>
                </a:solidFill>
                <a:latin typeface="Calibri" pitchFamily="34" charset="0"/>
                <a:ea typeface="Calibri" pitchFamily="34" charset="-122"/>
                <a:cs typeface="Calibri" pitchFamily="34" charset="-120"/>
              </a:rPr>
              <a:t>But developers perceived:</a:t>
            </a:r>
            <a:endParaRPr lang="en-US" sz="1200" dirty="0"/>
          </a:p>
        </p:txBody>
      </p:sp>
      <p:sp>
        <p:nvSpPr>
          <p:cNvPr id="10" name="Text 8"/>
          <p:cNvSpPr/>
          <p:nvPr/>
        </p:nvSpPr>
        <p:spPr>
          <a:xfrm>
            <a:off x="594360" y="2944368"/>
            <a:ext cx="3657600" cy="822960"/>
          </a:xfrm>
          <a:prstGeom prst="rect">
            <a:avLst/>
          </a:prstGeom>
          <a:noFill/>
          <a:ln/>
        </p:spPr>
        <p:txBody>
          <a:bodyPr wrap="square" lIns="0" tIns="0" rIns="0" bIns="0" rtlCol="0" anchor="ctr"/>
          <a:lstStyle/>
          <a:p>
            <a:pPr algn="l" indent="0" marL="0">
              <a:buNone/>
            </a:pPr>
            <a:r>
              <a:rPr lang="en-US" sz="1300" dirty="0">
                <a:solidFill>
                  <a:srgbClr val="1A1F2E"/>
                </a:solidFill>
                <a:latin typeface="Calibri" pitchFamily="34" charset="0"/>
                <a:ea typeface="Calibri" pitchFamily="34" charset="-122"/>
                <a:cs typeface="Calibri" pitchFamily="34" charset="-120"/>
              </a:rPr>
              <a:t>· 20% faster (self-reported)</a:t>
            </a:r>
            <a:endParaRPr lang="en-US" sz="1300" dirty="0"/>
          </a:p>
          <a:p>
            <a:pPr algn="l" indent="0" marL="0">
              <a:buNone/>
            </a:pPr>
            <a:r>
              <a:rPr lang="en-US" sz="1300" dirty="0">
                <a:solidFill>
                  <a:srgbClr val="1A1F2E"/>
                </a:solidFill>
                <a:latin typeface="Calibri" pitchFamily="34" charset="0"/>
                <a:ea typeface="Calibri" pitchFamily="34" charset="-122"/>
                <a:cs typeface="Calibri" pitchFamily="34" charset="-120"/>
              </a:rPr>
              <a:t>· Confidence in AI assistance</a:t>
            </a:r>
            <a:endParaRPr lang="en-US" sz="1300" dirty="0"/>
          </a:p>
          <a:p>
            <a:pPr algn="l" indent="0" marL="0">
              <a:buNone/>
            </a:pPr>
            <a:r>
              <a:rPr lang="en-US" sz="1300" dirty="0">
                <a:solidFill>
                  <a:srgbClr val="1A1F2E"/>
                </a:solidFill>
                <a:latin typeface="Calibri" pitchFamily="34" charset="0"/>
                <a:ea typeface="Calibri" pitchFamily="34" charset="-122"/>
                <a:cs typeface="Calibri" pitchFamily="34" charset="-120"/>
              </a:rPr>
              <a:t>· Mismatch: perception vs. reality</a:t>
            </a:r>
            <a:endParaRPr lang="en-US" sz="1300" dirty="0"/>
          </a:p>
        </p:txBody>
      </p:sp>
      <p:sp>
        <p:nvSpPr>
          <p:cNvPr id="11" name="Shape 9"/>
          <p:cNvSpPr/>
          <p:nvPr/>
        </p:nvSpPr>
        <p:spPr>
          <a:xfrm>
            <a:off x="594360" y="3822192"/>
            <a:ext cx="3657600" cy="22860"/>
          </a:xfrm>
          <a:prstGeom prst="rect">
            <a:avLst/>
          </a:prstGeom>
          <a:solidFill>
            <a:srgbClr val="E85D04"/>
          </a:solidFill>
          <a:ln w="12700">
            <a:solidFill>
              <a:srgbClr val="E85D04"/>
            </a:solidFill>
            <a:prstDash val="solid"/>
          </a:ln>
        </p:spPr>
      </p:sp>
      <p:sp>
        <p:nvSpPr>
          <p:cNvPr id="12" name="Text 10"/>
          <p:cNvSpPr/>
          <p:nvPr/>
        </p:nvSpPr>
        <p:spPr>
          <a:xfrm>
            <a:off x="594360" y="3858768"/>
            <a:ext cx="3657600" cy="685800"/>
          </a:xfrm>
          <a:prstGeom prst="rect">
            <a:avLst/>
          </a:prstGeom>
          <a:noFill/>
          <a:ln/>
        </p:spPr>
        <p:txBody>
          <a:bodyPr wrap="square" lIns="0" tIns="0" rIns="0" bIns="0" rtlCol="0" anchor="t"/>
          <a:lstStyle/>
          <a:p>
            <a:pPr algn="l" indent="0" marL="0">
              <a:buNone/>
            </a:pPr>
            <a:r>
              <a:rPr lang="en-US" sz="1250" i="1" dirty="0">
                <a:solidFill>
                  <a:srgbClr val="6B7280"/>
                </a:solidFill>
                <a:latin typeface="Georgia" pitchFamily="34" charset="0"/>
                <a:ea typeface="Georgia" pitchFamily="34" charset="-122"/>
                <a:cs typeface="Georgia" pitchFamily="34" charset="-120"/>
              </a:rPr>
              <a:t>"Developers believed AI made them faster. The data showed otherwise."</a:t>
            </a:r>
            <a:endParaRPr lang="en-US" sz="1250" dirty="0"/>
          </a:p>
        </p:txBody>
      </p:sp>
      <p:sp>
        <p:nvSpPr>
          <p:cNvPr id="13" name="Shape 11"/>
          <p:cNvSpPr/>
          <p:nvPr/>
        </p:nvSpPr>
        <p:spPr>
          <a:xfrm>
            <a:off x="4800600" y="1188720"/>
            <a:ext cx="3931920" cy="3429000"/>
          </a:xfrm>
          <a:prstGeom prst="rect">
            <a:avLst/>
          </a:prstGeom>
          <a:solidFill>
            <a:srgbClr val="0D1421"/>
          </a:solidFill>
          <a:ln w="12700">
            <a:solidFill>
              <a:srgbClr val="0D1421"/>
            </a:solidFill>
            <a:prstDash val="solid"/>
          </a:ln>
        </p:spPr>
      </p:sp>
      <p:sp>
        <p:nvSpPr>
          <p:cNvPr id="14" name="Shape 12"/>
          <p:cNvSpPr/>
          <p:nvPr/>
        </p:nvSpPr>
        <p:spPr>
          <a:xfrm>
            <a:off x="4800600" y="1188720"/>
            <a:ext cx="91440" cy="3429000"/>
          </a:xfrm>
          <a:prstGeom prst="rect">
            <a:avLst/>
          </a:prstGeom>
          <a:solidFill>
            <a:srgbClr val="E85D04"/>
          </a:solidFill>
          <a:ln w="12700">
            <a:solidFill>
              <a:srgbClr val="E85D04"/>
            </a:solidFill>
            <a:prstDash val="solid"/>
          </a:ln>
        </p:spPr>
      </p:sp>
      <p:sp>
        <p:nvSpPr>
          <p:cNvPr id="15" name="Text 13"/>
          <p:cNvSpPr/>
          <p:nvPr/>
        </p:nvSpPr>
        <p:spPr>
          <a:xfrm>
            <a:off x="5029200" y="1298448"/>
            <a:ext cx="3566160" cy="384048"/>
          </a:xfrm>
          <a:prstGeom prst="rect">
            <a:avLst/>
          </a:prstGeom>
          <a:noFill/>
          <a:ln/>
        </p:spPr>
        <p:txBody>
          <a:bodyPr wrap="square" lIns="0" tIns="0" rIns="0" bIns="0" rtlCol="0" anchor="ctr"/>
          <a:lstStyle/>
          <a:p>
            <a:pPr algn="l" indent="0" marL="0">
              <a:buNone/>
            </a:pPr>
            <a:r>
              <a:rPr lang="en-US" sz="1000" b="1" spc="200" kern="0" dirty="0">
                <a:solidFill>
                  <a:srgbClr val="E85D04"/>
                </a:solidFill>
                <a:latin typeface="Calibri" pitchFamily="34" charset="0"/>
                <a:ea typeface="Calibri" pitchFamily="34" charset="-122"/>
                <a:cs typeface="Calibri" pitchFamily="34" charset="-120"/>
              </a:rPr>
              <a:t>The Insight</a:t>
            </a:r>
            <a:endParaRPr lang="en-US" sz="1000" dirty="0"/>
          </a:p>
        </p:txBody>
      </p:sp>
      <p:sp>
        <p:nvSpPr>
          <p:cNvPr id="16" name="Text 14"/>
          <p:cNvSpPr/>
          <p:nvPr/>
        </p:nvSpPr>
        <p:spPr>
          <a:xfrm>
            <a:off x="5029200" y="1737360"/>
            <a:ext cx="3520440" cy="914400"/>
          </a:xfrm>
          <a:prstGeom prst="rect">
            <a:avLst/>
          </a:prstGeom>
          <a:noFill/>
          <a:ln/>
        </p:spPr>
        <p:txBody>
          <a:bodyPr wrap="square" lIns="0" tIns="0" rIns="0" bIns="0" rtlCol="0" anchor="ctr"/>
          <a:lstStyle/>
          <a:p>
            <a:pPr algn="l" indent="0" marL="0">
              <a:buNone/>
            </a:pPr>
            <a:r>
              <a:rPr lang="en-US" sz="2000" b="1" dirty="0">
                <a:solidFill>
                  <a:srgbClr val="FFFFFF"/>
                </a:solidFill>
                <a:latin typeface="Georgia" pitchFamily="34" charset="0"/>
                <a:ea typeface="Georgia" pitchFamily="34" charset="-122"/>
                <a:cs typeface="Georgia" pitchFamily="34" charset="-120"/>
              </a:rPr>
              <a:t>You don't need a different tool.</a:t>
            </a:r>
            <a:endParaRPr lang="en-US" sz="2000" dirty="0"/>
          </a:p>
          <a:p>
            <a:pPr algn="l" indent="0" marL="0">
              <a:buNone/>
            </a:pPr>
            <a:r>
              <a:rPr lang="en-US" sz="2000" b="1" dirty="0">
                <a:solidFill>
                  <a:srgbClr val="FFFFFF"/>
                </a:solidFill>
                <a:latin typeface="Georgia" pitchFamily="34" charset="0"/>
                <a:ea typeface="Georgia" pitchFamily="34" charset="-122"/>
                <a:cs typeface="Georgia" pitchFamily="34" charset="-120"/>
              </a:rPr>
              <a:t>You need the next phase.</a:t>
            </a:r>
            <a:endParaRPr lang="en-US" sz="2000" dirty="0"/>
          </a:p>
        </p:txBody>
      </p:sp>
      <p:sp>
        <p:nvSpPr>
          <p:cNvPr id="17" name="Text 15"/>
          <p:cNvSpPr/>
          <p:nvPr/>
        </p:nvSpPr>
        <p:spPr>
          <a:xfrm>
            <a:off x="5029200" y="2743200"/>
            <a:ext cx="3520440" cy="914400"/>
          </a:xfrm>
          <a:prstGeom prst="rect">
            <a:avLst/>
          </a:prstGeom>
          <a:noFill/>
          <a:ln/>
        </p:spPr>
        <p:txBody>
          <a:bodyPr wrap="square" lIns="0" tIns="0" rIns="0" bIns="0" rtlCol="0" anchor="t"/>
          <a:lstStyle/>
          <a:p>
            <a:pPr algn="l" indent="0" marL="0">
              <a:buNone/>
            </a:pPr>
            <a:r>
              <a:rPr lang="en-US" sz="1300" dirty="0">
                <a:solidFill>
                  <a:srgbClr val="94A3B8"/>
                </a:solidFill>
                <a:latin typeface="Calibri" pitchFamily="34" charset="0"/>
                <a:ea typeface="Calibri" pitchFamily="34" charset="-122"/>
                <a:cs typeface="Calibri" pitchFamily="34" charset="-120"/>
              </a:rPr>
              <a:t>The tool reached its ceiling when perceived gains masked real costs. The prescription is not replacement — it is advancement to workflow automation with measurement.</a:t>
            </a:r>
            <a:endParaRPr lang="en-US" sz="1300" dirty="0"/>
          </a:p>
        </p:txBody>
      </p:sp>
      <p:sp>
        <p:nvSpPr>
          <p:cNvPr id="18" name="Shape 16"/>
          <p:cNvSpPr/>
          <p:nvPr/>
        </p:nvSpPr>
        <p:spPr>
          <a:xfrm>
            <a:off x="5029200" y="3749040"/>
            <a:ext cx="3520440" cy="22860"/>
          </a:xfrm>
          <a:prstGeom prst="rect">
            <a:avLst/>
          </a:prstGeom>
          <a:solidFill>
            <a:srgbClr val="2A3F5E"/>
          </a:solidFill>
          <a:ln w="12700">
            <a:solidFill>
              <a:srgbClr val="2A3F5E"/>
            </a:solidFill>
            <a:prstDash val="solid"/>
          </a:ln>
        </p:spPr>
      </p:sp>
      <p:sp>
        <p:nvSpPr>
          <p:cNvPr id="19" name="Text 17"/>
          <p:cNvSpPr/>
          <p:nvPr/>
        </p:nvSpPr>
        <p:spPr>
          <a:xfrm>
            <a:off x="5029200" y="3822192"/>
            <a:ext cx="3520440" cy="685800"/>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For ChatGPT / Claude: The issue is not a ceiling — it's a blank canvas gap. Broad capability without defined application is still a tool waiting to be pointed.</a:t>
            </a:r>
            <a:endParaRPr lang="en-US" sz="1100" dirty="0"/>
          </a:p>
        </p:txBody>
      </p:sp>
      <p:sp>
        <p:nvSpPr>
          <p:cNvPr id="20" name="Text 18"/>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[10] METR, "Measuring the Impact of Early AI Assistance," 2025.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03  ·  GAP TYPE 2</a:t>
            </a:r>
            <a:endParaRPr lang="en-US" sz="1000" dirty="0"/>
          </a:p>
        </p:txBody>
      </p:sp>
      <p:sp>
        <p:nvSpPr>
          <p:cNvPr id="4" name="Text 2"/>
          <p:cNvSpPr/>
          <p:nvPr/>
        </p:nvSpPr>
        <p:spPr>
          <a:xfrm>
            <a:off x="457200" y="475488"/>
            <a:ext cx="8229600" cy="594360"/>
          </a:xfrm>
          <a:prstGeom prst="rect">
            <a:avLst/>
          </a:prstGeom>
          <a:noFill/>
          <a:ln/>
        </p:spPr>
        <p:txBody>
          <a:bodyPr wrap="square" lIns="0" tIns="0" rIns="0" bIns="0" rtlCol="0" anchor="ctr"/>
          <a:lstStyle/>
          <a:p>
            <a:pPr algn="l" indent="0" marL="0">
              <a:buNone/>
            </a:pPr>
            <a:r>
              <a:rPr lang="en-US" sz="3000" b="1" dirty="0">
                <a:solidFill>
                  <a:srgbClr val="1A1F2E"/>
                </a:solidFill>
                <a:latin typeface="Georgia" pitchFamily="34" charset="0"/>
                <a:ea typeface="Georgia" pitchFamily="34" charset="-122"/>
                <a:cs typeface="Georgia" pitchFamily="34" charset="-120"/>
              </a:rPr>
              <a:t>The Measurement Gap</a:t>
            </a:r>
            <a:endParaRPr lang="en-US" sz="3000" dirty="0"/>
          </a:p>
        </p:txBody>
      </p:sp>
      <p:sp>
        <p:nvSpPr>
          <p:cNvPr id="5" name="Shape 3"/>
          <p:cNvSpPr/>
          <p:nvPr/>
        </p:nvSpPr>
        <p:spPr>
          <a:xfrm>
            <a:off x="365760" y="1188720"/>
            <a:ext cx="8412480" cy="1143000"/>
          </a:xfrm>
          <a:prstGeom prst="rect">
            <a:avLst/>
          </a:prstGeom>
          <a:solidFill>
            <a:srgbClr val="0D1421"/>
          </a:solidFill>
          <a:ln w="12700">
            <a:solidFill>
              <a:srgbClr val="0D1421"/>
            </a:solidFill>
            <a:prstDash val="solid"/>
          </a:ln>
        </p:spPr>
      </p:sp>
      <p:sp>
        <p:nvSpPr>
          <p:cNvPr id="6" name="Shape 4"/>
          <p:cNvSpPr/>
          <p:nvPr/>
        </p:nvSpPr>
        <p:spPr>
          <a:xfrm>
            <a:off x="365760" y="1188720"/>
            <a:ext cx="91440" cy="1143000"/>
          </a:xfrm>
          <a:prstGeom prst="rect">
            <a:avLst/>
          </a:prstGeom>
          <a:solidFill>
            <a:srgbClr val="0D9488"/>
          </a:solidFill>
          <a:ln w="12700">
            <a:solidFill>
              <a:srgbClr val="0D9488"/>
            </a:solidFill>
            <a:prstDash val="solid"/>
          </a:ln>
        </p:spPr>
      </p:sp>
      <p:sp>
        <p:nvSpPr>
          <p:cNvPr id="7" name="Text 5"/>
          <p:cNvSpPr/>
          <p:nvPr/>
        </p:nvSpPr>
        <p:spPr>
          <a:xfrm>
            <a:off x="594360" y="1325880"/>
            <a:ext cx="7863840" cy="594360"/>
          </a:xfrm>
          <a:prstGeom prst="rect">
            <a:avLst/>
          </a:prstGeom>
          <a:noFill/>
          <a:ln/>
        </p:spPr>
        <p:txBody>
          <a:bodyPr wrap="square" lIns="0" tIns="0" rIns="0" bIns="0" rtlCol="0" anchor="ctr"/>
          <a:lstStyle/>
          <a:p>
            <a:pPr algn="l" indent="0" marL="0">
              <a:buNone/>
            </a:pPr>
            <a:r>
              <a:rPr lang="en-US" sz="1800" b="1" i="1" dirty="0">
                <a:solidFill>
                  <a:srgbClr val="FFFFFF"/>
                </a:solidFill>
                <a:latin typeface="Georgia" pitchFamily="34" charset="0"/>
                <a:ea typeface="Georgia" pitchFamily="34" charset="-122"/>
                <a:cs typeface="Georgia" pitchFamily="34" charset="-120"/>
              </a:rPr>
              <a:t>"Level 2 of AI adoption feels like you are done. But you are not done."</a:t>
            </a:r>
            <a:endParaRPr lang="en-US" sz="1800" dirty="0"/>
          </a:p>
        </p:txBody>
      </p:sp>
      <p:sp>
        <p:nvSpPr>
          <p:cNvPr id="8" name="Text 6"/>
          <p:cNvSpPr/>
          <p:nvPr/>
        </p:nvSpPr>
        <p:spPr>
          <a:xfrm>
            <a:off x="594360" y="1938528"/>
            <a:ext cx="786384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pitchFamily="34" charset="0"/>
                <a:ea typeface="Calibri" pitchFamily="34" charset="-122"/>
                <a:cs typeface="Calibri" pitchFamily="34" charset="-120"/>
              </a:rPr>
              <a:t>— Dan Shapiro, "The Five Levels"  ·  ~90% of self-described AI-native practitioners live here (practitioner observation).</a:t>
            </a:r>
            <a:endParaRPr lang="en-US" sz="1100" dirty="0"/>
          </a:p>
        </p:txBody>
      </p:sp>
      <p:sp>
        <p:nvSpPr>
          <p:cNvPr id="9" name="Text 7"/>
          <p:cNvSpPr/>
          <p:nvPr/>
        </p:nvSpPr>
        <p:spPr>
          <a:xfrm>
            <a:off x="457200" y="2514600"/>
            <a:ext cx="8229600" cy="411480"/>
          </a:xfrm>
          <a:prstGeom prst="rect">
            <a:avLst/>
          </a:prstGeom>
          <a:noFill/>
          <a:ln/>
        </p:spPr>
        <p:txBody>
          <a:bodyPr wrap="square" lIns="0" tIns="0" rIns="0" bIns="0" rtlCol="0" anchor="ctr"/>
          <a:lstStyle/>
          <a:p>
            <a:pPr algn="l" indent="0" marL="0">
              <a:buNone/>
            </a:pPr>
            <a:r>
              <a:rPr lang="en-US" sz="1500" b="1" dirty="0">
                <a:solidFill>
                  <a:srgbClr val="1A1F2E"/>
                </a:solidFill>
                <a:latin typeface="Georgia" pitchFamily="34" charset="0"/>
                <a:ea typeface="Georgia" pitchFamily="34" charset="-122"/>
                <a:cs typeface="Georgia" pitchFamily="34" charset="-120"/>
              </a:rPr>
              <a:t>The Prescription: A Three-Pillar Measurement System</a:t>
            </a:r>
            <a:endParaRPr lang="en-US" sz="1500" dirty="0"/>
          </a:p>
        </p:txBody>
      </p:sp>
      <p:sp>
        <p:nvSpPr>
          <p:cNvPr id="10" name="Shape 8"/>
          <p:cNvSpPr/>
          <p:nvPr/>
        </p:nvSpPr>
        <p:spPr>
          <a:xfrm>
            <a:off x="365760" y="3017520"/>
            <a:ext cx="2697480" cy="1828800"/>
          </a:xfrm>
          <a:prstGeom prst="rect">
            <a:avLst/>
          </a:prstGeom>
          <a:solidFill>
            <a:srgbClr val="FFFFFF"/>
          </a:solidFill>
          <a:ln w="12700">
            <a:solidFill>
              <a:srgbClr val="FFFFFF"/>
            </a:solidFill>
            <a:prstDash val="solid"/>
          </a:ln>
        </p:spPr>
      </p:sp>
      <p:sp>
        <p:nvSpPr>
          <p:cNvPr id="11" name="Shape 9"/>
          <p:cNvSpPr/>
          <p:nvPr/>
        </p:nvSpPr>
        <p:spPr>
          <a:xfrm>
            <a:off x="365760" y="3017520"/>
            <a:ext cx="2697480" cy="182880"/>
          </a:xfrm>
          <a:prstGeom prst="rect">
            <a:avLst/>
          </a:prstGeom>
          <a:solidFill>
            <a:srgbClr val="E85D04"/>
          </a:solidFill>
          <a:ln w="12700">
            <a:solidFill>
              <a:srgbClr val="E85D04"/>
            </a:solidFill>
            <a:prstDash val="solid"/>
          </a:ln>
        </p:spPr>
      </p:sp>
      <p:sp>
        <p:nvSpPr>
          <p:cNvPr id="12" name="Text 10"/>
          <p:cNvSpPr/>
          <p:nvPr/>
        </p:nvSpPr>
        <p:spPr>
          <a:xfrm>
            <a:off x="475488" y="3227832"/>
            <a:ext cx="2468880" cy="347472"/>
          </a:xfrm>
          <a:prstGeom prst="rect">
            <a:avLst/>
          </a:prstGeom>
          <a:noFill/>
          <a:ln/>
        </p:spPr>
        <p:txBody>
          <a:bodyPr wrap="square" lIns="0" tIns="0" rIns="0" bIns="0" rtlCol="0" anchor="ctr"/>
          <a:lstStyle/>
          <a:p>
            <a:pPr algn="l" indent="0" marL="0">
              <a:buNone/>
            </a:pPr>
            <a:r>
              <a:rPr lang="en-US" sz="1100" b="1" dirty="0">
                <a:solidFill>
                  <a:srgbClr val="E85D04"/>
                </a:solidFill>
                <a:latin typeface="Calibri" pitchFamily="34" charset="0"/>
                <a:ea typeface="Calibri" pitchFamily="34" charset="-122"/>
                <a:cs typeface="Calibri" pitchFamily="34" charset="-120"/>
              </a:rPr>
              <a:t>01</a:t>
            </a:r>
            <a:endParaRPr lang="en-US" sz="1100" dirty="0"/>
          </a:p>
        </p:txBody>
      </p:sp>
      <p:sp>
        <p:nvSpPr>
          <p:cNvPr id="13" name="Text 11"/>
          <p:cNvSpPr/>
          <p:nvPr/>
        </p:nvSpPr>
        <p:spPr>
          <a:xfrm>
            <a:off x="475488" y="3547872"/>
            <a:ext cx="2468880" cy="411480"/>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Usage + Proficiency</a:t>
            </a:r>
            <a:endParaRPr lang="en-US" sz="1350" dirty="0"/>
          </a:p>
        </p:txBody>
      </p:sp>
      <p:sp>
        <p:nvSpPr>
          <p:cNvPr id="14" name="Text 12"/>
          <p:cNvSpPr/>
          <p:nvPr/>
        </p:nvSpPr>
        <p:spPr>
          <a:xfrm>
            <a:off x="475488" y="3986784"/>
            <a:ext cx="2468880" cy="731520"/>
          </a:xfrm>
          <a:prstGeom prst="rect">
            <a:avLst/>
          </a:prstGeom>
          <a:noFill/>
          <a:ln/>
        </p:spPr>
        <p:txBody>
          <a:bodyPr wrap="square" lIns="0" tIns="0" rIns="0" bIns="0" rtlCol="0" anchor="ctr"/>
          <a:lstStyle/>
          <a:p>
            <a:pPr algn="l" indent="0" marL="0">
              <a:buNone/>
            </a:pPr>
            <a:r>
              <a:rPr lang="en-US" sz="1150" dirty="0">
                <a:solidFill>
                  <a:srgbClr val="6B7280"/>
                </a:solidFill>
                <a:latin typeface="Calibri" pitchFamily="34" charset="0"/>
                <a:ea typeface="Calibri" pitchFamily="34" charset="-122"/>
                <a:cs typeface="Calibri" pitchFamily="34" charset="-120"/>
              </a:rPr>
              <a:t>Who is using AI and how deeply?</a:t>
            </a:r>
            <a:endParaRPr lang="en-US" sz="1150" dirty="0"/>
          </a:p>
          <a:p>
            <a:pPr algn="l" indent="0" marL="0">
              <a:buNone/>
            </a:pPr>
            <a:r>
              <a:rPr lang="en-US" sz="1150" dirty="0">
                <a:solidFill>
                  <a:srgbClr val="6B7280"/>
                </a:solidFill>
                <a:latin typeface="Calibri" pitchFamily="34" charset="0"/>
                <a:ea typeface="Calibri" pitchFamily="34" charset="-122"/>
                <a:cs typeface="Calibri" pitchFamily="34" charset="-120"/>
              </a:rPr>
              <a:t>Leading indicator.</a:t>
            </a:r>
            <a:endParaRPr lang="en-US" sz="1150" dirty="0"/>
          </a:p>
        </p:txBody>
      </p:sp>
      <p:sp>
        <p:nvSpPr>
          <p:cNvPr id="15" name="Text 13"/>
          <p:cNvSpPr/>
          <p:nvPr/>
        </p:nvSpPr>
        <p:spPr>
          <a:xfrm>
            <a:off x="3063240" y="3657600"/>
            <a:ext cx="137160" cy="365760"/>
          </a:xfrm>
          <a:prstGeom prst="rect">
            <a:avLst/>
          </a:prstGeom>
          <a:noFill/>
          <a:ln/>
        </p:spPr>
        <p:txBody>
          <a:bodyPr wrap="square" lIns="0" tIns="0" rIns="0" bIns="0" rtlCol="0" anchor="ctr"/>
          <a:lstStyle/>
          <a:p>
            <a:pPr algn="ctr" indent="0" marL="0">
              <a:buNone/>
            </a:pPr>
            <a:r>
              <a:rPr lang="en-US" sz="1400" b="1" dirty="0">
                <a:solidFill>
                  <a:srgbClr val="E85D04"/>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3200400" y="3017520"/>
            <a:ext cx="2697480" cy="1828800"/>
          </a:xfrm>
          <a:prstGeom prst="rect">
            <a:avLst/>
          </a:prstGeom>
          <a:solidFill>
            <a:srgbClr val="FFFFFF"/>
          </a:solidFill>
          <a:ln w="12700">
            <a:solidFill>
              <a:srgbClr val="FFFFFF"/>
            </a:solidFill>
            <a:prstDash val="solid"/>
          </a:ln>
        </p:spPr>
      </p:sp>
      <p:sp>
        <p:nvSpPr>
          <p:cNvPr id="17" name="Shape 15"/>
          <p:cNvSpPr/>
          <p:nvPr/>
        </p:nvSpPr>
        <p:spPr>
          <a:xfrm>
            <a:off x="3200400" y="3017520"/>
            <a:ext cx="2697480" cy="182880"/>
          </a:xfrm>
          <a:prstGeom prst="rect">
            <a:avLst/>
          </a:prstGeom>
          <a:solidFill>
            <a:srgbClr val="0D9488"/>
          </a:solidFill>
          <a:ln w="12700">
            <a:solidFill>
              <a:srgbClr val="0D9488"/>
            </a:solidFill>
            <a:prstDash val="solid"/>
          </a:ln>
        </p:spPr>
      </p:sp>
      <p:sp>
        <p:nvSpPr>
          <p:cNvPr id="18" name="Text 16"/>
          <p:cNvSpPr/>
          <p:nvPr/>
        </p:nvSpPr>
        <p:spPr>
          <a:xfrm>
            <a:off x="3310128" y="3227832"/>
            <a:ext cx="2468880" cy="347472"/>
          </a:xfrm>
          <a:prstGeom prst="rect">
            <a:avLst/>
          </a:prstGeom>
          <a:noFill/>
          <a:ln/>
        </p:spPr>
        <p:txBody>
          <a:bodyPr wrap="square" lIns="0" tIns="0" rIns="0" bIns="0" rtlCol="0" anchor="ctr"/>
          <a:lstStyle/>
          <a:p>
            <a:pPr algn="l" indent="0" marL="0">
              <a:buNone/>
            </a:pPr>
            <a:r>
              <a:rPr lang="en-US" sz="1100" b="1" dirty="0">
                <a:solidFill>
                  <a:srgbClr val="0D9488"/>
                </a:solidFill>
                <a:latin typeface="Calibri" pitchFamily="34" charset="0"/>
                <a:ea typeface="Calibri" pitchFamily="34" charset="-122"/>
                <a:cs typeface="Calibri" pitchFamily="34" charset="-120"/>
              </a:rPr>
              <a:t>02</a:t>
            </a:r>
            <a:endParaRPr lang="en-US" sz="1100" dirty="0"/>
          </a:p>
        </p:txBody>
      </p:sp>
      <p:sp>
        <p:nvSpPr>
          <p:cNvPr id="19" name="Text 17"/>
          <p:cNvSpPr/>
          <p:nvPr/>
        </p:nvSpPr>
        <p:spPr>
          <a:xfrm>
            <a:off x="3310128" y="3547872"/>
            <a:ext cx="2468880" cy="411480"/>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Automations</a:t>
            </a:r>
            <a:endParaRPr lang="en-US" sz="1350" dirty="0"/>
          </a:p>
        </p:txBody>
      </p:sp>
      <p:sp>
        <p:nvSpPr>
          <p:cNvPr id="20" name="Text 18"/>
          <p:cNvSpPr/>
          <p:nvPr/>
        </p:nvSpPr>
        <p:spPr>
          <a:xfrm>
            <a:off x="3310128" y="3986784"/>
            <a:ext cx="2468880" cy="731520"/>
          </a:xfrm>
          <a:prstGeom prst="rect">
            <a:avLst/>
          </a:prstGeom>
          <a:noFill/>
          <a:ln/>
        </p:spPr>
        <p:txBody>
          <a:bodyPr wrap="square" lIns="0" tIns="0" rIns="0" bIns="0" rtlCol="0" anchor="ctr"/>
          <a:lstStyle/>
          <a:p>
            <a:pPr algn="l" indent="0" marL="0">
              <a:buNone/>
            </a:pPr>
            <a:r>
              <a:rPr lang="en-US" sz="1150" dirty="0">
                <a:solidFill>
                  <a:srgbClr val="6B7280"/>
                </a:solidFill>
                <a:latin typeface="Calibri" pitchFamily="34" charset="0"/>
                <a:ea typeface="Calibri" pitchFamily="34" charset="-122"/>
                <a:cs typeface="Calibri" pitchFamily="34" charset="-120"/>
              </a:rPr>
              <a:t>How many workflows is AI running? Proxy for organizational adoption.</a:t>
            </a:r>
            <a:endParaRPr lang="en-US" sz="1150" dirty="0"/>
          </a:p>
        </p:txBody>
      </p:sp>
      <p:sp>
        <p:nvSpPr>
          <p:cNvPr id="21" name="Text 19"/>
          <p:cNvSpPr/>
          <p:nvPr/>
        </p:nvSpPr>
        <p:spPr>
          <a:xfrm>
            <a:off x="5897880" y="3657600"/>
            <a:ext cx="137160" cy="365760"/>
          </a:xfrm>
          <a:prstGeom prst="rect">
            <a:avLst/>
          </a:prstGeom>
          <a:noFill/>
          <a:ln/>
        </p:spPr>
        <p:txBody>
          <a:bodyPr wrap="square" lIns="0" tIns="0" rIns="0" bIns="0" rtlCol="0" anchor="ctr"/>
          <a:lstStyle/>
          <a:p>
            <a:pPr algn="ctr" indent="0" marL="0">
              <a:buNone/>
            </a:pPr>
            <a:r>
              <a:rPr lang="en-US" sz="1400" b="1" dirty="0">
                <a:solidFill>
                  <a:srgbClr val="E85D04"/>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6035040" y="3017520"/>
            <a:ext cx="2697480" cy="1828800"/>
          </a:xfrm>
          <a:prstGeom prst="rect">
            <a:avLst/>
          </a:prstGeom>
          <a:solidFill>
            <a:srgbClr val="FFFFFF"/>
          </a:solidFill>
          <a:ln w="12700">
            <a:solidFill>
              <a:srgbClr val="FFFFFF"/>
            </a:solidFill>
            <a:prstDash val="solid"/>
          </a:ln>
        </p:spPr>
      </p:sp>
      <p:sp>
        <p:nvSpPr>
          <p:cNvPr id="23" name="Shape 21"/>
          <p:cNvSpPr/>
          <p:nvPr/>
        </p:nvSpPr>
        <p:spPr>
          <a:xfrm>
            <a:off x="6035040" y="3017520"/>
            <a:ext cx="2697480" cy="182880"/>
          </a:xfrm>
          <a:prstGeom prst="rect">
            <a:avLst/>
          </a:prstGeom>
          <a:solidFill>
            <a:srgbClr val="7C3AED"/>
          </a:solidFill>
          <a:ln w="12700">
            <a:solidFill>
              <a:srgbClr val="7C3AED"/>
            </a:solidFill>
            <a:prstDash val="solid"/>
          </a:ln>
        </p:spPr>
      </p:sp>
      <p:sp>
        <p:nvSpPr>
          <p:cNvPr id="24" name="Text 22"/>
          <p:cNvSpPr/>
          <p:nvPr/>
        </p:nvSpPr>
        <p:spPr>
          <a:xfrm>
            <a:off x="6144768" y="3227832"/>
            <a:ext cx="2468880" cy="347472"/>
          </a:xfrm>
          <a:prstGeom prst="rect">
            <a:avLst/>
          </a:prstGeom>
          <a:noFill/>
          <a:ln/>
        </p:spPr>
        <p:txBody>
          <a:bodyPr wrap="square" lIns="0" tIns="0" rIns="0" bIns="0" rtlCol="0" anchor="ctr"/>
          <a:lstStyle/>
          <a:p>
            <a:pPr algn="l" indent="0" marL="0">
              <a:buNone/>
            </a:pPr>
            <a:r>
              <a:rPr lang="en-US" sz="1100" b="1" dirty="0">
                <a:solidFill>
                  <a:srgbClr val="7C3AED"/>
                </a:solidFill>
                <a:latin typeface="Calibri" pitchFamily="34" charset="0"/>
                <a:ea typeface="Calibri" pitchFamily="34" charset="-122"/>
                <a:cs typeface="Calibri" pitchFamily="34" charset="-120"/>
              </a:rPr>
              <a:t>03</a:t>
            </a:r>
            <a:endParaRPr lang="en-US" sz="1100" dirty="0"/>
          </a:p>
        </p:txBody>
      </p:sp>
      <p:sp>
        <p:nvSpPr>
          <p:cNvPr id="25" name="Text 23"/>
          <p:cNvSpPr/>
          <p:nvPr/>
        </p:nvSpPr>
        <p:spPr>
          <a:xfrm>
            <a:off x="6144768" y="3547872"/>
            <a:ext cx="2468880" cy="411480"/>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Dept-Level Impact</a:t>
            </a:r>
            <a:endParaRPr lang="en-US" sz="1350" dirty="0"/>
          </a:p>
        </p:txBody>
      </p:sp>
      <p:sp>
        <p:nvSpPr>
          <p:cNvPr id="26" name="Text 24"/>
          <p:cNvSpPr/>
          <p:nvPr/>
        </p:nvSpPr>
        <p:spPr>
          <a:xfrm>
            <a:off x="6144768" y="3986784"/>
            <a:ext cx="2468880" cy="731520"/>
          </a:xfrm>
          <a:prstGeom prst="rect">
            <a:avLst/>
          </a:prstGeom>
          <a:noFill/>
          <a:ln/>
        </p:spPr>
        <p:txBody>
          <a:bodyPr wrap="square" lIns="0" tIns="0" rIns="0" bIns="0" rtlCol="0" anchor="ctr"/>
          <a:lstStyle/>
          <a:p>
            <a:pPr algn="l" indent="0" marL="0">
              <a:buNone/>
            </a:pPr>
            <a:r>
              <a:rPr lang="en-US" sz="1150" dirty="0">
                <a:solidFill>
                  <a:srgbClr val="6B7280"/>
                </a:solidFill>
                <a:latin typeface="Calibri" pitchFamily="34" charset="0"/>
                <a:ea typeface="Calibri" pitchFamily="34" charset="-122"/>
                <a:cs typeface="Calibri" pitchFamily="34" charset="-120"/>
              </a:rPr>
              <a:t>Revenue, cost savings, time-to-outcome. The lagging outcome.</a:t>
            </a:r>
            <a:endParaRPr lang="en-US" sz="1150" dirty="0"/>
          </a:p>
        </p:txBody>
      </p:sp>
      <p:sp>
        <p:nvSpPr>
          <p:cNvPr id="27" name="Text 25"/>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[11] Dan Shapiro, "The Five Levels," Jan 23, 2026.  [3] Section, "How to Measure AI Success," Spring 2026.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7C3AED"/>
          </a:solidFill>
          <a:ln w="12700">
            <a:solidFill>
              <a:srgbClr val="7C3AED"/>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03  ·  GAP TYPE 3</a:t>
            </a:r>
            <a:endParaRPr lang="en-US" sz="1000" dirty="0"/>
          </a:p>
        </p:txBody>
      </p:sp>
      <p:sp>
        <p:nvSpPr>
          <p:cNvPr id="4" name="Text 2"/>
          <p:cNvSpPr/>
          <p:nvPr/>
        </p:nvSpPr>
        <p:spPr>
          <a:xfrm>
            <a:off x="457200" y="475488"/>
            <a:ext cx="8229600" cy="594360"/>
          </a:xfrm>
          <a:prstGeom prst="rect">
            <a:avLst/>
          </a:prstGeom>
          <a:noFill/>
          <a:ln/>
        </p:spPr>
        <p:txBody>
          <a:bodyPr wrap="square" lIns="0" tIns="0" rIns="0" bIns="0" rtlCol="0" anchor="ctr"/>
          <a:lstStyle/>
          <a:p>
            <a:pPr algn="l" indent="0" marL="0">
              <a:buNone/>
            </a:pPr>
            <a:r>
              <a:rPr lang="en-US" sz="3200" b="1" dirty="0">
                <a:solidFill>
                  <a:srgbClr val="FFFFFF"/>
                </a:solidFill>
                <a:latin typeface="Georgia" pitchFamily="34" charset="0"/>
                <a:ea typeface="Georgia" pitchFamily="34" charset="-122"/>
                <a:cs typeface="Georgia" pitchFamily="34" charset="-120"/>
              </a:rPr>
              <a:t>The Intent Gap</a:t>
            </a:r>
            <a:endParaRPr lang="en-US" sz="3200" dirty="0"/>
          </a:p>
        </p:txBody>
      </p:sp>
      <p:sp>
        <p:nvSpPr>
          <p:cNvPr id="5" name="Text 3"/>
          <p:cNvSpPr/>
          <p:nvPr/>
        </p:nvSpPr>
        <p:spPr>
          <a:xfrm>
            <a:off x="457200" y="1078992"/>
            <a:ext cx="8229600" cy="384048"/>
          </a:xfrm>
          <a:prstGeom prst="rect">
            <a:avLst/>
          </a:prstGeom>
          <a:noFill/>
          <a:ln/>
        </p:spPr>
        <p:txBody>
          <a:bodyPr wrap="square" lIns="0" tIns="0" rIns="0" bIns="0" rtlCol="0" anchor="ctr"/>
          <a:lstStyle/>
          <a:p>
            <a:pPr algn="l" indent="0" marL="0">
              <a:buNone/>
            </a:pPr>
            <a:r>
              <a:rPr lang="en-US" sz="1400" dirty="0">
                <a:solidFill>
                  <a:srgbClr val="94A3B8"/>
                </a:solidFill>
                <a:latin typeface="Calibri" pitchFamily="34" charset="0"/>
                <a:ea typeface="Calibri" pitchFamily="34" charset="-122"/>
                <a:cs typeface="Calibri" pitchFamily="34" charset="-120"/>
              </a:rPr>
              <a:t>The deepest gap. Activity is happening. Nobody defined what it's supposed to accomplish.</a:t>
            </a:r>
            <a:endParaRPr lang="en-US" sz="1400" dirty="0"/>
          </a:p>
        </p:txBody>
      </p:sp>
      <p:sp>
        <p:nvSpPr>
          <p:cNvPr id="6" name="Shape 4"/>
          <p:cNvSpPr/>
          <p:nvPr/>
        </p:nvSpPr>
        <p:spPr>
          <a:xfrm>
            <a:off x="365760" y="1572768"/>
            <a:ext cx="5303520" cy="2606040"/>
          </a:xfrm>
          <a:prstGeom prst="rect">
            <a:avLst/>
          </a:prstGeom>
          <a:solidFill>
            <a:srgbClr val="1A2B44"/>
          </a:solidFill>
          <a:ln w="12700">
            <a:solidFill>
              <a:srgbClr val="1A2B44"/>
            </a:solidFill>
            <a:prstDash val="solid"/>
          </a:ln>
        </p:spPr>
      </p:sp>
      <p:sp>
        <p:nvSpPr>
          <p:cNvPr id="7" name="Shape 5"/>
          <p:cNvSpPr/>
          <p:nvPr/>
        </p:nvSpPr>
        <p:spPr>
          <a:xfrm>
            <a:off x="365760" y="1572768"/>
            <a:ext cx="91440" cy="2606040"/>
          </a:xfrm>
          <a:prstGeom prst="rect">
            <a:avLst/>
          </a:prstGeom>
          <a:solidFill>
            <a:srgbClr val="7C3AED"/>
          </a:solidFill>
          <a:ln w="12700">
            <a:solidFill>
              <a:srgbClr val="7C3AED"/>
            </a:solidFill>
            <a:prstDash val="solid"/>
          </a:ln>
        </p:spPr>
      </p:sp>
      <p:sp>
        <p:nvSpPr>
          <p:cNvPr id="8" name="Text 6"/>
          <p:cNvSpPr/>
          <p:nvPr/>
        </p:nvSpPr>
        <p:spPr>
          <a:xfrm>
            <a:off x="594360" y="1691640"/>
            <a:ext cx="4846320" cy="320040"/>
          </a:xfrm>
          <a:prstGeom prst="rect">
            <a:avLst/>
          </a:prstGeom>
          <a:noFill/>
          <a:ln/>
        </p:spPr>
        <p:txBody>
          <a:bodyPr wrap="square" lIns="0" tIns="0" rIns="0" bIns="0" rtlCol="0" anchor="ctr"/>
          <a:lstStyle/>
          <a:p>
            <a:pPr algn="l" indent="0" marL="0">
              <a:buNone/>
            </a:pPr>
            <a:r>
              <a:rPr lang="en-US" sz="950" b="1" spc="200" kern="0" dirty="0">
                <a:solidFill>
                  <a:srgbClr val="7C3AED"/>
                </a:solidFill>
                <a:latin typeface="Calibri" pitchFamily="34" charset="0"/>
                <a:ea typeface="Calibri" pitchFamily="34" charset="-122"/>
                <a:cs typeface="Calibri" pitchFamily="34" charset="-120"/>
              </a:rPr>
              <a:t>THE KLARNA CASE</a:t>
            </a:r>
            <a:endParaRPr lang="en-US" sz="950" dirty="0"/>
          </a:p>
        </p:txBody>
      </p:sp>
      <p:sp>
        <p:nvSpPr>
          <p:cNvPr id="9" name="Text 7"/>
          <p:cNvSpPr/>
          <p:nvPr/>
        </p:nvSpPr>
        <p:spPr>
          <a:xfrm>
            <a:off x="594360" y="2057400"/>
            <a:ext cx="4846320" cy="1993392"/>
          </a:xfrm>
          <a:prstGeom prst="rect">
            <a:avLst/>
          </a:prstGeom>
          <a:noFill/>
          <a:ln/>
        </p:spPr>
        <p:txBody>
          <a:bodyPr wrap="square" lIns="0" tIns="0" rIns="0" bIns="0" rtlCol="0" anchor="t"/>
          <a:lstStyle/>
          <a:p>
            <a:pPr algn="l" indent="0" marL="0">
              <a:buNone/>
            </a:pPr>
            <a:r>
              <a:rPr lang="en-US" sz="1250" dirty="0">
                <a:solidFill>
                  <a:srgbClr val="FFFFFF"/>
                </a:solidFill>
                <a:latin typeface="Calibri" pitchFamily="34" charset="0"/>
                <a:ea typeface="Calibri" pitchFamily="34" charset="-122"/>
                <a:cs typeface="Calibri" pitchFamily="34" charset="-120"/>
              </a:rPr>
              <a:t>Klarna's AI customer service agent resolved tickets at scale, faster than ever before. By the measurable proxy — tickets resolved — it was a success.</a:t>
            </a:r>
            <a:endParaRPr lang="en-US" sz="1250" dirty="0"/>
          </a:p>
          <a:p>
            <a:pPr algn="l" indent="0" marL="0">
              <a:buNone/>
            </a:pPr>
            <a:endParaRPr lang="en-US" sz="1250" dirty="0"/>
          </a:p>
          <a:p>
            <a:pPr algn="l" indent="0" marL="0">
              <a:buNone/>
            </a:pPr>
            <a:r>
              <a:rPr lang="en-US" sz="1250" dirty="0">
                <a:solidFill>
                  <a:srgbClr val="FFFFFF"/>
                </a:solidFill>
                <a:latin typeface="Calibri" pitchFamily="34" charset="0"/>
                <a:ea typeface="Calibri" pitchFamily="34" charset="-122"/>
                <a:cs typeface="Calibri" pitchFamily="34" charset="-120"/>
              </a:rPr>
              <a:t>It destroyed the customer relationships that drove lifetime value. "Resolve tickets fast" was the measurable objective. "Build lasting customer relationships" was the actual organizational intent.</a:t>
            </a:r>
            <a:endParaRPr lang="en-US" sz="1250" dirty="0"/>
          </a:p>
          <a:p>
            <a:pPr algn="l" indent="0" marL="0">
              <a:buNone/>
            </a:pPr>
            <a:endParaRPr lang="en-US" sz="1250" dirty="0"/>
          </a:p>
          <a:p>
            <a:pPr algn="l" indent="0" marL="0">
              <a:buNone/>
            </a:pPr>
            <a:r>
              <a:rPr lang="en-US" sz="1250" dirty="0">
                <a:solidFill>
                  <a:srgbClr val="FFFFFF"/>
                </a:solidFill>
                <a:latin typeface="Calibri" pitchFamily="34" charset="0"/>
                <a:ea typeface="Calibri" pitchFamily="34" charset="-122"/>
                <a:cs typeface="Calibri" pitchFamily="34" charset="-120"/>
              </a:rPr>
              <a:t>The AI worked. The intent was never encoded.</a:t>
            </a:r>
            <a:endParaRPr lang="en-US" sz="1250" dirty="0"/>
          </a:p>
        </p:txBody>
      </p:sp>
      <p:sp>
        <p:nvSpPr>
          <p:cNvPr id="10" name="Shape 8"/>
          <p:cNvSpPr/>
          <p:nvPr/>
        </p:nvSpPr>
        <p:spPr>
          <a:xfrm>
            <a:off x="5943600" y="1572768"/>
            <a:ext cx="2834640" cy="2606040"/>
          </a:xfrm>
          <a:prstGeom prst="rect">
            <a:avLst/>
          </a:prstGeom>
          <a:solidFill>
            <a:srgbClr val="121E30"/>
          </a:solidFill>
          <a:ln w="12700">
            <a:solidFill>
              <a:srgbClr val="121E30"/>
            </a:solidFill>
            <a:prstDash val="solid"/>
          </a:ln>
        </p:spPr>
      </p:sp>
      <p:sp>
        <p:nvSpPr>
          <p:cNvPr id="11" name="Shape 9"/>
          <p:cNvSpPr/>
          <p:nvPr/>
        </p:nvSpPr>
        <p:spPr>
          <a:xfrm>
            <a:off x="5943600" y="1572768"/>
            <a:ext cx="2834640" cy="54864"/>
          </a:xfrm>
          <a:prstGeom prst="rect">
            <a:avLst/>
          </a:prstGeom>
          <a:solidFill>
            <a:srgbClr val="7C3AED"/>
          </a:solidFill>
          <a:ln w="12700">
            <a:solidFill>
              <a:srgbClr val="7C3AED"/>
            </a:solidFill>
            <a:prstDash val="solid"/>
          </a:ln>
        </p:spPr>
      </p:sp>
      <p:sp>
        <p:nvSpPr>
          <p:cNvPr id="12" name="Text 10"/>
          <p:cNvSpPr/>
          <p:nvPr/>
        </p:nvSpPr>
        <p:spPr>
          <a:xfrm>
            <a:off x="6108192" y="1719072"/>
            <a:ext cx="2514600" cy="347472"/>
          </a:xfrm>
          <a:prstGeom prst="rect">
            <a:avLst/>
          </a:prstGeom>
          <a:noFill/>
          <a:ln/>
        </p:spPr>
        <p:txBody>
          <a:bodyPr wrap="square" lIns="0" tIns="0" rIns="0" bIns="0" rtlCol="0" anchor="ctr"/>
          <a:lstStyle/>
          <a:p>
            <a:pPr algn="l" indent="0" marL="0">
              <a:buNone/>
            </a:pPr>
            <a:r>
              <a:rPr lang="en-US" sz="1300" b="1" dirty="0">
                <a:solidFill>
                  <a:srgbClr val="F9C74F"/>
                </a:solidFill>
                <a:latin typeface="Georgia" pitchFamily="34" charset="0"/>
                <a:ea typeface="Georgia" pitchFamily="34" charset="-122"/>
                <a:cs typeface="Georgia" pitchFamily="34" charset="-120"/>
              </a:rPr>
              <a:t>Root Cause</a:t>
            </a:r>
            <a:endParaRPr lang="en-US" sz="1300" dirty="0"/>
          </a:p>
        </p:txBody>
      </p:sp>
      <p:sp>
        <p:nvSpPr>
          <p:cNvPr id="13" name="Text 11"/>
          <p:cNvSpPr/>
          <p:nvPr/>
        </p:nvSpPr>
        <p:spPr>
          <a:xfrm>
            <a:off x="6108192" y="2103120"/>
            <a:ext cx="2514600" cy="1325880"/>
          </a:xfrm>
          <a:prstGeom prst="rect">
            <a:avLst/>
          </a:prstGeom>
          <a:noFill/>
          <a:ln/>
        </p:spPr>
        <p:txBody>
          <a:bodyPr wrap="square" lIns="0" tIns="0" rIns="0" bIns="0"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"Most organizations have never had to do this. Their goals live in slide decks, in OKR documents that get half-read and referenced at personal reviews once a year."</a:t>
            </a: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 Nate B Jones</a:t>
            </a:r>
            <a:endParaRPr lang="en-US" sz="1150" dirty="0"/>
          </a:p>
        </p:txBody>
      </p:sp>
      <p:sp>
        <p:nvSpPr>
          <p:cNvPr id="14" name="Shape 12"/>
          <p:cNvSpPr/>
          <p:nvPr/>
        </p:nvSpPr>
        <p:spPr>
          <a:xfrm>
            <a:off x="6108192" y="3493008"/>
            <a:ext cx="2514600" cy="18288"/>
          </a:xfrm>
          <a:prstGeom prst="rect">
            <a:avLst/>
          </a:prstGeom>
          <a:solidFill>
            <a:srgbClr val="2A3F5E"/>
          </a:solidFill>
          <a:ln w="12700">
            <a:solidFill>
              <a:srgbClr val="2A3F5E"/>
            </a:solidFill>
            <a:prstDash val="solid"/>
          </a:ln>
        </p:spPr>
      </p:sp>
      <p:sp>
        <p:nvSpPr>
          <p:cNvPr id="15" name="Text 13"/>
          <p:cNvSpPr/>
          <p:nvPr/>
        </p:nvSpPr>
        <p:spPr>
          <a:xfrm>
            <a:off x="6108192" y="3566160"/>
            <a:ext cx="2514600" cy="502920"/>
          </a:xfrm>
          <a:prstGeom prst="rect">
            <a:avLst/>
          </a:prstGeom>
          <a:noFill/>
          <a:ln/>
        </p:spPr>
        <p:txBody>
          <a:bodyPr wrap="square" lIns="0" tIns="0" rIns="0" bIns="0" rtlCol="0" anchor="t"/>
          <a:lstStyle/>
          <a:p>
            <a:pPr algn="l" indent="0" marL="0">
              <a:buNone/>
            </a:pPr>
            <a:r>
              <a:rPr lang="en-US" sz="1150" b="1" dirty="0">
                <a:solidFill>
                  <a:srgbClr val="0D9488"/>
                </a:solidFill>
                <a:latin typeface="Calibri" pitchFamily="34" charset="0"/>
                <a:ea typeface="Calibri" pitchFamily="34" charset="-122"/>
                <a:cs typeface="Calibri" pitchFamily="34" charset="-120"/>
              </a:rPr>
              <a:t>The Fix: Go back and do the intent work (Module 1) before expanding further.</a:t>
            </a:r>
            <a:endParaRPr lang="en-US" sz="1150" dirty="0"/>
          </a:p>
        </p:txBody>
      </p:sp>
      <p:sp>
        <p:nvSpPr>
          <p:cNvPr id="16" name="Shape 14"/>
          <p:cNvSpPr/>
          <p:nvPr/>
        </p:nvSpPr>
        <p:spPr>
          <a:xfrm>
            <a:off x="365760" y="4297680"/>
            <a:ext cx="8412480" cy="438912"/>
          </a:xfrm>
          <a:prstGeom prst="rect">
            <a:avLst/>
          </a:prstGeom>
          <a:solidFill>
            <a:srgbClr val="0A1020"/>
          </a:solidFill>
          <a:ln w="12700">
            <a:solidFill>
              <a:srgbClr val="0A1020"/>
            </a:solidFill>
            <a:prstDash val="solid"/>
          </a:ln>
        </p:spPr>
      </p:sp>
      <p:sp>
        <p:nvSpPr>
          <p:cNvPr id="17" name="Text 15"/>
          <p:cNvSpPr/>
          <p:nvPr/>
        </p:nvSpPr>
        <p:spPr>
          <a:xfrm>
            <a:off x="548640" y="4352544"/>
            <a:ext cx="8229600" cy="347472"/>
          </a:xfrm>
          <a:prstGeom prst="rect">
            <a:avLst/>
          </a:prstGeom>
          <a:noFill/>
          <a:ln/>
        </p:spPr>
        <p:txBody>
          <a:bodyPr wrap="square" lIns="0" tIns="0" rIns="0" bIns="0" rtlCol="0" anchor="ctr"/>
          <a:lstStyle/>
          <a:p>
            <a:pPr algn="l" indent="0" marL="0">
              <a:buNone/>
            </a:pPr>
            <a:r>
              <a:rPr lang="en-US" sz="1200" i="1" dirty="0">
                <a:solidFill>
                  <a:srgbClr val="94A3B8"/>
                </a:solidFill>
                <a:latin typeface="Calibri" pitchFamily="34" charset="0"/>
                <a:ea typeface="Calibri" pitchFamily="34" charset="-122"/>
                <a:cs typeface="Calibri" pitchFamily="34" charset="-120"/>
              </a:rPr>
              <a:t>Humans could always fill in the gaps between stated goals and day-to-day decisions. AI agents cannot. They execute the explicit objective, not the implicit one.</a:t>
            </a:r>
            <a:endParaRPr lang="en-US" sz="1200" dirty="0"/>
          </a:p>
        </p:txBody>
      </p:sp>
      <p:sp>
        <p:nvSpPr>
          <p:cNvPr id="18" name="Text 16"/>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[4] Nate B Jones, "Intent Engineering," AI News &amp; Strategy Daily, Feb 24, 2026.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7706"/>
          </a:solidFill>
          <a:ln w="12700">
            <a:solidFill>
              <a:srgbClr val="D97706"/>
            </a:solidFill>
            <a:prstDash val="solid"/>
          </a:ln>
        </p:spPr>
      </p:sp>
      <p:sp>
        <p:nvSpPr>
          <p:cNvPr id="3" name="Text 1"/>
          <p:cNvSpPr/>
          <p:nvPr/>
        </p:nvSpPr>
        <p:spPr>
          <a:xfrm>
            <a:off x="2743200" y="274320"/>
            <a:ext cx="5943600" cy="4114800"/>
          </a:xfrm>
          <a:prstGeom prst="rect">
            <a:avLst/>
          </a:prstGeom>
          <a:noFill/>
          <a:ln/>
        </p:spPr>
        <p:txBody>
          <a:bodyPr wrap="square" lIns="0" tIns="0" rIns="0" bIns="0" rtlCol="0" anchor="ctr"/>
          <a:lstStyle/>
          <a:p>
            <a:pPr algn="r" indent="0" marL="0">
              <a:buNone/>
            </a:pPr>
            <a:r>
              <a:rPr lang="en-US" sz="20000" b="1" dirty="0">
                <a:solidFill>
                  <a:srgbClr val="0A1525"/>
                </a:solidFill>
                <a:latin typeface="Georgia" pitchFamily="34" charset="0"/>
                <a:ea typeface="Georgia" pitchFamily="34" charset="-122"/>
                <a:cs typeface="Georgia" pitchFamily="34" charset="-120"/>
              </a:rPr>
              <a:t>04</a:t>
            </a:r>
            <a:endParaRPr lang="en-US" sz="20000" dirty="0"/>
          </a:p>
        </p:txBody>
      </p:sp>
      <p:sp>
        <p:nvSpPr>
          <p:cNvPr id="4" name="Text 2"/>
          <p:cNvSpPr/>
          <p:nvPr/>
        </p:nvSpPr>
        <p:spPr>
          <a:xfrm>
            <a:off x="457200" y="1188720"/>
            <a:ext cx="6400800" cy="365760"/>
          </a:xfrm>
          <a:prstGeom prst="rect">
            <a:avLst/>
          </a:prstGeom>
          <a:noFill/>
          <a:ln/>
        </p:spPr>
        <p:txBody>
          <a:bodyPr wrap="square" lIns="0" tIns="0" rIns="0" bIns="0" rtlCol="0" anchor="ctr"/>
          <a:lstStyle/>
          <a:p>
            <a:pPr algn="l" indent="0" marL="0">
              <a:buNone/>
            </a:pPr>
            <a:r>
              <a:rPr lang="en-US" sz="1100" b="1" spc="400" kern="0" dirty="0">
                <a:solidFill>
                  <a:srgbClr val="D97706"/>
                </a:solidFill>
                <a:latin typeface="Calibri" pitchFamily="34" charset="0"/>
                <a:ea typeface="Calibri" pitchFamily="34" charset="-122"/>
                <a:cs typeface="Calibri" pitchFamily="34" charset="-120"/>
              </a:rPr>
              <a:t>MODULE 04</a:t>
            </a:r>
            <a:endParaRPr lang="en-US" sz="1100" dirty="0"/>
          </a:p>
        </p:txBody>
      </p:sp>
      <p:sp>
        <p:nvSpPr>
          <p:cNvPr id="5" name="Text 3"/>
          <p:cNvSpPr/>
          <p:nvPr/>
        </p:nvSpPr>
        <p:spPr>
          <a:xfrm>
            <a:off x="457200" y="1664208"/>
            <a:ext cx="7315200" cy="1097280"/>
          </a:xfrm>
          <a:prstGeom prst="rect">
            <a:avLst/>
          </a:prstGeom>
          <a:noFill/>
          <a:ln/>
        </p:spPr>
        <p:txBody>
          <a:bodyPr wrap="square" lIns="0" tIns="0" rIns="0" bIns="0" rtlCol="0" anchor="ctr"/>
          <a:lstStyle/>
          <a:p>
            <a:pPr algn="l" indent="0" marL="0">
              <a:buNone/>
            </a:pPr>
            <a:r>
              <a:rPr lang="en-US" sz="5600" b="1" dirty="0">
                <a:solidFill>
                  <a:srgbClr val="FFFFFF"/>
                </a:solidFill>
                <a:latin typeface="Georgia" pitchFamily="34" charset="0"/>
                <a:ea typeface="Georgia" pitchFamily="34" charset="-122"/>
                <a:cs typeface="Georgia" pitchFamily="34" charset="-120"/>
              </a:rPr>
              <a:t>Design the Path</a:t>
            </a:r>
            <a:endParaRPr lang="en-US" sz="5600" dirty="0"/>
          </a:p>
        </p:txBody>
      </p:sp>
      <p:sp>
        <p:nvSpPr>
          <p:cNvPr id="6" name="Text 4"/>
          <p:cNvSpPr/>
          <p:nvPr/>
        </p:nvSpPr>
        <p:spPr>
          <a:xfrm>
            <a:off x="457200" y="2907792"/>
            <a:ext cx="7315200" cy="685800"/>
          </a:xfrm>
          <a:prstGeom prst="rect">
            <a:avLst/>
          </a:prstGeom>
          <a:noFill/>
          <a:ln/>
        </p:spPr>
        <p:txBody>
          <a:bodyPr wrap="square" lIns="0" tIns="0" rIns="0" bIns="0" rtlCol="0" anchor="ctr"/>
          <a:lstStyle/>
          <a:p>
            <a:pPr algn="l" indent="0" marL="0">
              <a:buNone/>
            </a:pPr>
            <a:r>
              <a:rPr lang="en-US" sz="1500" dirty="0">
                <a:solidFill>
                  <a:srgbClr val="94A3B8"/>
                </a:solidFill>
                <a:latin typeface="Calibri" pitchFamily="34" charset="0"/>
                <a:ea typeface="Calibri" pitchFamily="34" charset="-122"/>
                <a:cs typeface="Calibri" pitchFamily="34" charset="-120"/>
              </a:rPr>
              <a:t>Short, medium, and long-term moves — with the measurement system that makes progress visible.</a:t>
            </a:r>
            <a:endParaRPr lang="en-US" sz="1500" dirty="0"/>
          </a:p>
        </p:txBody>
      </p:sp>
      <p:sp>
        <p:nvSpPr>
          <p:cNvPr id="7" name="Text 5"/>
          <p:cNvSpPr/>
          <p:nvPr/>
        </p:nvSpPr>
        <p:spPr>
          <a:xfrm>
            <a:off x="457200" y="3703320"/>
            <a:ext cx="7315200" cy="411480"/>
          </a:xfrm>
          <a:prstGeom prst="rect">
            <a:avLst/>
          </a:prstGeom>
          <a:noFill/>
          <a:ln/>
        </p:spPr>
        <p:txBody>
          <a:bodyPr wrap="square" lIns="0" tIns="0" rIns="0" bIns="0" rtlCol="0" anchor="ctr"/>
          <a:lstStyle/>
          <a:p>
            <a:pPr algn="l" indent="0" marL="0">
              <a:buNone/>
            </a:pPr>
            <a:r>
              <a:rPr lang="en-US" sz="1400" dirty="0">
                <a:solidFill>
                  <a:srgbClr val="D97706"/>
                </a:solidFill>
                <a:latin typeface="Calibri" pitchFamily="34" charset="0"/>
                <a:ea typeface="Calibri" pitchFamily="34" charset="-122"/>
                <a:cs typeface="Calibri" pitchFamily="34" charset="-120"/>
              </a:rPr>
              <a:t>Phase 1: Optimize  ·  Phase 2: Accelerate  ·  Phase 3: Reinvent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7706"/>
          </a:solidFill>
          <a:ln w="12700">
            <a:solidFill>
              <a:srgbClr val="D97706"/>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04  ·  DESIGN THE PATH</a:t>
            </a:r>
            <a:endParaRPr lang="en-US" sz="1000" dirty="0"/>
          </a:p>
        </p:txBody>
      </p:sp>
      <p:sp>
        <p:nvSpPr>
          <p:cNvPr id="4" name="Text 2"/>
          <p:cNvSpPr/>
          <p:nvPr/>
        </p:nvSpPr>
        <p:spPr>
          <a:xfrm>
            <a:off x="457200" y="475488"/>
            <a:ext cx="8229600" cy="594360"/>
          </a:xfrm>
          <a:prstGeom prst="rect">
            <a:avLst/>
          </a:prstGeom>
          <a:noFill/>
          <a:ln/>
        </p:spPr>
        <p:txBody>
          <a:bodyPr wrap="square" lIns="0" tIns="0" rIns="0" bIns="0" rtlCol="0" anchor="ctr"/>
          <a:lstStyle/>
          <a:p>
            <a:pPr algn="l" indent="0" marL="0">
              <a:buNone/>
            </a:pPr>
            <a:r>
              <a:rPr lang="en-US" sz="2800" b="1" dirty="0">
                <a:solidFill>
                  <a:srgbClr val="1A1F2E"/>
                </a:solidFill>
                <a:latin typeface="Georgia" pitchFamily="34" charset="0"/>
                <a:ea typeface="Georgia" pitchFamily="34" charset="-122"/>
                <a:cs typeface="Georgia" pitchFamily="34" charset="-120"/>
              </a:rPr>
              <a:t>The Three-Phase Transformation</a:t>
            </a:r>
            <a:endParaRPr lang="en-US" sz="2800" dirty="0"/>
          </a:p>
        </p:txBody>
      </p:sp>
      <p:sp>
        <p:nvSpPr>
          <p:cNvPr id="5" name="Text 3"/>
          <p:cNvSpPr/>
          <p:nvPr/>
        </p:nvSpPr>
        <p:spPr>
          <a:xfrm>
            <a:off x="457200" y="1069848"/>
            <a:ext cx="8229600" cy="347472"/>
          </a:xfrm>
          <a:prstGeom prst="rect">
            <a:avLst/>
          </a:prstGeom>
          <a:noFill/>
          <a:ln/>
        </p:spPr>
        <p:txBody>
          <a:bodyPr wrap="square" lIns="0" tIns="0" rIns="0" bIns="0" rtlCol="0" anchor="ctr"/>
          <a:lstStyle/>
          <a:p>
            <a:pPr algn="l" indent="0" marL="0">
              <a:buNone/>
            </a:pPr>
            <a:r>
              <a:rPr lang="en-US" sz="1300" dirty="0">
                <a:solidFill>
                  <a:srgbClr val="6B7280"/>
                </a:solidFill>
                <a:latin typeface="Calibri" pitchFamily="34" charset="0"/>
                <a:ea typeface="Calibri" pitchFamily="34" charset="-122"/>
                <a:cs typeface="Calibri" pitchFamily="34" charset="-120"/>
              </a:rPr>
              <a:t>The sequencing matters. Jumping phases creates an unstable foundation.</a:t>
            </a:r>
            <a:endParaRPr lang="en-US" sz="1300" dirty="0"/>
          </a:p>
        </p:txBody>
      </p:sp>
      <p:sp>
        <p:nvSpPr>
          <p:cNvPr id="6" name="Shape 4"/>
          <p:cNvSpPr/>
          <p:nvPr/>
        </p:nvSpPr>
        <p:spPr>
          <a:xfrm>
            <a:off x="365760" y="1536192"/>
            <a:ext cx="2697480" cy="3291840"/>
          </a:xfrm>
          <a:prstGeom prst="rect">
            <a:avLst/>
          </a:prstGeom>
          <a:solidFill>
            <a:srgbClr val="FFFFFF"/>
          </a:solidFill>
          <a:ln w="12700">
            <a:solidFill>
              <a:srgbClr val="FFFFFF"/>
            </a:solidFill>
            <a:prstDash val="solid"/>
          </a:ln>
        </p:spPr>
      </p:sp>
      <p:sp>
        <p:nvSpPr>
          <p:cNvPr id="7" name="Shape 5"/>
          <p:cNvSpPr/>
          <p:nvPr/>
        </p:nvSpPr>
        <p:spPr>
          <a:xfrm>
            <a:off x="365760" y="1536192"/>
            <a:ext cx="2697480" cy="256032"/>
          </a:xfrm>
          <a:prstGeom prst="rect">
            <a:avLst/>
          </a:prstGeom>
          <a:solidFill>
            <a:srgbClr val="0D9488"/>
          </a:solidFill>
          <a:ln w="12700">
            <a:solidFill>
              <a:srgbClr val="0D9488"/>
            </a:solidFill>
            <a:prstDash val="solid"/>
          </a:ln>
        </p:spPr>
      </p:sp>
      <p:sp>
        <p:nvSpPr>
          <p:cNvPr id="8" name="Text 6"/>
          <p:cNvSpPr/>
          <p:nvPr/>
        </p:nvSpPr>
        <p:spPr>
          <a:xfrm>
            <a:off x="475488" y="1810512"/>
            <a:ext cx="2468880" cy="292608"/>
          </a:xfrm>
          <a:prstGeom prst="rect">
            <a:avLst/>
          </a:prstGeom>
          <a:noFill/>
          <a:ln/>
        </p:spPr>
        <p:txBody>
          <a:bodyPr wrap="square" lIns="0" tIns="0" rIns="0" bIns="0" rtlCol="0" anchor="ctr"/>
          <a:lstStyle/>
          <a:p>
            <a:pPr algn="l" indent="0" marL="0">
              <a:buNone/>
            </a:pPr>
            <a:r>
              <a:rPr lang="en-US" sz="950" b="1" spc="100" kern="0" dirty="0">
                <a:solidFill>
                  <a:srgbClr val="0D9488"/>
                </a:solidFill>
                <a:latin typeface="Calibri" pitchFamily="34" charset="0"/>
                <a:ea typeface="Calibri" pitchFamily="34" charset="-122"/>
                <a:cs typeface="Calibri" pitchFamily="34" charset="-120"/>
              </a:rPr>
              <a:t>01  OPTIMIZE</a:t>
            </a:r>
            <a:endParaRPr lang="en-US" sz="950" dirty="0"/>
          </a:p>
        </p:txBody>
      </p:sp>
      <p:sp>
        <p:nvSpPr>
          <p:cNvPr id="9" name="Text 7"/>
          <p:cNvSpPr/>
          <p:nvPr/>
        </p:nvSpPr>
        <p:spPr>
          <a:xfrm>
            <a:off x="475488" y="2103120"/>
            <a:ext cx="2468880" cy="777240"/>
          </a:xfrm>
          <a:prstGeom prst="rect">
            <a:avLst/>
          </a:prstGeom>
          <a:noFill/>
          <a:ln/>
        </p:spPr>
        <p:txBody>
          <a:bodyPr wrap="square" lIns="0" tIns="0" rIns="0" bIns="0" rtlCol="0" anchor="ctr"/>
          <a:lstStyle/>
          <a:p>
            <a:pPr algn="l" indent="0" marL="0">
              <a:buNone/>
            </a:pPr>
            <a:r>
              <a:rPr lang="en-US" sz="1600" b="1" dirty="0">
                <a:solidFill>
                  <a:srgbClr val="1A1F2E"/>
                </a:solidFill>
                <a:latin typeface="Georgia" pitchFamily="34" charset="0"/>
                <a:ea typeface="Georgia" pitchFamily="34" charset="-122"/>
                <a:cs typeface="Georgia" pitchFamily="34" charset="-120"/>
              </a:rPr>
              <a:t>Augment</a:t>
            </a:r>
            <a:endParaRPr lang="en-US" sz="1600" dirty="0"/>
          </a:p>
          <a:p>
            <a:pPr algn="l" indent="0" marL="0">
              <a:buNone/>
            </a:pPr>
            <a:r>
              <a:rPr lang="en-US" sz="1600" b="1" dirty="0">
                <a:solidFill>
                  <a:srgbClr val="1A1F2E"/>
                </a:solidFill>
                <a:latin typeface="Georgia" pitchFamily="34" charset="0"/>
                <a:ea typeface="Georgia" pitchFamily="34" charset="-122"/>
                <a:cs typeface="Georgia" pitchFamily="34" charset="-120"/>
              </a:rPr>
              <a:t>Your Workforce</a:t>
            </a:r>
            <a:endParaRPr lang="en-US" sz="1600" dirty="0"/>
          </a:p>
        </p:txBody>
      </p:sp>
      <p:sp>
        <p:nvSpPr>
          <p:cNvPr id="10" name="Shape 8"/>
          <p:cNvSpPr/>
          <p:nvPr/>
        </p:nvSpPr>
        <p:spPr>
          <a:xfrm>
            <a:off x="475488" y="2907792"/>
            <a:ext cx="2468880" cy="22860"/>
          </a:xfrm>
          <a:prstGeom prst="rect">
            <a:avLst/>
          </a:prstGeom>
          <a:solidFill>
            <a:srgbClr val="0D9488"/>
          </a:solidFill>
          <a:ln w="12700">
            <a:solidFill>
              <a:srgbClr val="0D9488"/>
            </a:solidFill>
            <a:prstDash val="solid"/>
          </a:ln>
        </p:spPr>
      </p:sp>
      <p:sp>
        <p:nvSpPr>
          <p:cNvPr id="11" name="Text 9"/>
          <p:cNvSpPr/>
          <p:nvPr/>
        </p:nvSpPr>
        <p:spPr>
          <a:xfrm>
            <a:off x="475488" y="2962656"/>
            <a:ext cx="2468880" cy="274320"/>
          </a:xfrm>
          <a:prstGeom prst="rect">
            <a:avLst/>
          </a:prstGeom>
          <a:noFill/>
          <a:ln/>
        </p:spPr>
        <p:txBody>
          <a:bodyPr wrap="square" lIns="0" tIns="0" rIns="0" bIns="0" rtlCol="0" anchor="ctr"/>
          <a:lstStyle/>
          <a:p>
            <a:pPr algn="l" indent="0" marL="0">
              <a:buNone/>
            </a:pPr>
            <a:r>
              <a:rPr lang="en-US" sz="1050" b="1" dirty="0">
                <a:solidFill>
                  <a:srgbClr val="0D9488"/>
                </a:solidFill>
                <a:latin typeface="Calibri" pitchFamily="34" charset="0"/>
                <a:ea typeface="Calibri" pitchFamily="34" charset="-122"/>
                <a:cs typeface="Calibri" pitchFamily="34" charset="-120"/>
              </a:rPr>
              <a:t>Focus: Usage + Proficiency</a:t>
            </a:r>
            <a:endParaRPr lang="en-US" sz="1050" dirty="0"/>
          </a:p>
        </p:txBody>
      </p:sp>
      <p:sp>
        <p:nvSpPr>
          <p:cNvPr id="12" name="Text 10"/>
          <p:cNvSpPr/>
          <p:nvPr/>
        </p:nvSpPr>
        <p:spPr>
          <a:xfrm>
            <a:off x="475488" y="3273552"/>
            <a:ext cx="2468880" cy="146304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Move the 70% Experimenter majority toward meaningful, repeatable AI use. Build adoption infrastructure: basic proficiency certification, VP/manager champions, regular AI touchpoints. Make Copilot corrections here.</a:t>
            </a:r>
            <a:endParaRPr lang="en-US" sz="1100" dirty="0"/>
          </a:p>
        </p:txBody>
      </p:sp>
      <p:sp>
        <p:nvSpPr>
          <p:cNvPr id="13" name="Shape 11"/>
          <p:cNvSpPr/>
          <p:nvPr/>
        </p:nvSpPr>
        <p:spPr>
          <a:xfrm>
            <a:off x="3108960" y="1536192"/>
            <a:ext cx="2697480" cy="3291840"/>
          </a:xfrm>
          <a:prstGeom prst="rect">
            <a:avLst/>
          </a:prstGeom>
          <a:solidFill>
            <a:srgbClr val="FFFFFF"/>
          </a:solidFill>
          <a:ln w="12700">
            <a:solidFill>
              <a:srgbClr val="FFFFFF"/>
            </a:solidFill>
            <a:prstDash val="solid"/>
          </a:ln>
        </p:spPr>
      </p:sp>
      <p:sp>
        <p:nvSpPr>
          <p:cNvPr id="14" name="Shape 12"/>
          <p:cNvSpPr/>
          <p:nvPr/>
        </p:nvSpPr>
        <p:spPr>
          <a:xfrm>
            <a:off x="3108960" y="1536192"/>
            <a:ext cx="2697480" cy="256032"/>
          </a:xfrm>
          <a:prstGeom prst="rect">
            <a:avLst/>
          </a:prstGeom>
          <a:solidFill>
            <a:srgbClr val="D97706"/>
          </a:solidFill>
          <a:ln w="12700">
            <a:solidFill>
              <a:srgbClr val="D97706"/>
            </a:solidFill>
            <a:prstDash val="solid"/>
          </a:ln>
        </p:spPr>
      </p:sp>
      <p:sp>
        <p:nvSpPr>
          <p:cNvPr id="15" name="Text 13"/>
          <p:cNvSpPr/>
          <p:nvPr/>
        </p:nvSpPr>
        <p:spPr>
          <a:xfrm>
            <a:off x="3218688" y="1810512"/>
            <a:ext cx="2468880" cy="292608"/>
          </a:xfrm>
          <a:prstGeom prst="rect">
            <a:avLst/>
          </a:prstGeom>
          <a:noFill/>
          <a:ln/>
        </p:spPr>
        <p:txBody>
          <a:bodyPr wrap="square" lIns="0" tIns="0" rIns="0" bIns="0" rtlCol="0" anchor="ctr"/>
          <a:lstStyle/>
          <a:p>
            <a:pPr algn="l" indent="0" marL="0">
              <a:buNone/>
            </a:pPr>
            <a:r>
              <a:rPr lang="en-US" sz="950" b="1" spc="100" kern="0" dirty="0">
                <a:solidFill>
                  <a:srgbClr val="D97706"/>
                </a:solidFill>
                <a:latin typeface="Calibri" pitchFamily="34" charset="0"/>
                <a:ea typeface="Calibri" pitchFamily="34" charset="-122"/>
                <a:cs typeface="Calibri" pitchFamily="34" charset="-120"/>
              </a:rPr>
              <a:t>02  ACCELERATE</a:t>
            </a:r>
            <a:endParaRPr lang="en-US" sz="950" dirty="0"/>
          </a:p>
        </p:txBody>
      </p:sp>
      <p:sp>
        <p:nvSpPr>
          <p:cNvPr id="16" name="Text 14"/>
          <p:cNvSpPr/>
          <p:nvPr/>
        </p:nvSpPr>
        <p:spPr>
          <a:xfrm>
            <a:off x="3218688" y="2103120"/>
            <a:ext cx="2468880" cy="777240"/>
          </a:xfrm>
          <a:prstGeom prst="rect">
            <a:avLst/>
          </a:prstGeom>
          <a:noFill/>
          <a:ln/>
        </p:spPr>
        <p:txBody>
          <a:bodyPr wrap="square" lIns="0" tIns="0" rIns="0" bIns="0" rtlCol="0" anchor="ctr"/>
          <a:lstStyle/>
          <a:p>
            <a:pPr algn="l" indent="0" marL="0">
              <a:buNone/>
            </a:pPr>
            <a:r>
              <a:rPr lang="en-US" sz="1600" b="1" dirty="0">
                <a:solidFill>
                  <a:srgbClr val="1A1F2E"/>
                </a:solidFill>
                <a:latin typeface="Georgia" pitchFamily="34" charset="0"/>
                <a:ea typeface="Georgia" pitchFamily="34" charset="-122"/>
                <a:cs typeface="Georgia" pitchFamily="34" charset="-120"/>
              </a:rPr>
              <a:t>Automate</a:t>
            </a:r>
            <a:endParaRPr lang="en-US" sz="1600" dirty="0"/>
          </a:p>
          <a:p>
            <a:pPr algn="l" indent="0" marL="0">
              <a:buNone/>
            </a:pPr>
            <a:r>
              <a:rPr lang="en-US" sz="1600" b="1" dirty="0">
                <a:solidFill>
                  <a:srgbClr val="1A1F2E"/>
                </a:solidFill>
                <a:latin typeface="Georgia" pitchFamily="34" charset="0"/>
                <a:ea typeface="Georgia" pitchFamily="34" charset="-122"/>
                <a:cs typeface="Georgia" pitchFamily="34" charset="-120"/>
              </a:rPr>
              <a:t>Workflows</a:t>
            </a:r>
            <a:endParaRPr lang="en-US" sz="1600" dirty="0"/>
          </a:p>
        </p:txBody>
      </p:sp>
      <p:sp>
        <p:nvSpPr>
          <p:cNvPr id="17" name="Shape 15"/>
          <p:cNvSpPr/>
          <p:nvPr/>
        </p:nvSpPr>
        <p:spPr>
          <a:xfrm>
            <a:off x="3218688" y="2907792"/>
            <a:ext cx="2468880" cy="22860"/>
          </a:xfrm>
          <a:prstGeom prst="rect">
            <a:avLst/>
          </a:prstGeom>
          <a:solidFill>
            <a:srgbClr val="D97706"/>
          </a:solidFill>
          <a:ln w="12700">
            <a:solidFill>
              <a:srgbClr val="D97706"/>
            </a:solidFill>
            <a:prstDash val="solid"/>
          </a:ln>
        </p:spPr>
      </p:sp>
      <p:sp>
        <p:nvSpPr>
          <p:cNvPr id="18" name="Text 16"/>
          <p:cNvSpPr/>
          <p:nvPr/>
        </p:nvSpPr>
        <p:spPr>
          <a:xfrm>
            <a:off x="3218688" y="2962656"/>
            <a:ext cx="2468880" cy="274320"/>
          </a:xfrm>
          <a:prstGeom prst="rect">
            <a:avLst/>
          </a:prstGeom>
          <a:noFill/>
          <a:ln/>
        </p:spPr>
        <p:txBody>
          <a:bodyPr wrap="square" lIns="0" tIns="0" rIns="0" bIns="0" rtlCol="0" anchor="ctr"/>
          <a:lstStyle/>
          <a:p>
            <a:pPr algn="l" indent="0" marL="0">
              <a:buNone/>
            </a:pPr>
            <a:r>
              <a:rPr lang="en-US" sz="1050" b="1" dirty="0">
                <a:solidFill>
                  <a:srgbClr val="D97706"/>
                </a:solidFill>
                <a:latin typeface="Calibri" pitchFamily="34" charset="0"/>
                <a:ea typeface="Calibri" pitchFamily="34" charset="-122"/>
                <a:cs typeface="Calibri" pitchFamily="34" charset="-120"/>
              </a:rPr>
              <a:t>Focus: Automations</a:t>
            </a:r>
            <a:endParaRPr lang="en-US" sz="1050" dirty="0"/>
          </a:p>
        </p:txBody>
      </p:sp>
      <p:sp>
        <p:nvSpPr>
          <p:cNvPr id="19" name="Text 17"/>
          <p:cNvSpPr/>
          <p:nvPr/>
        </p:nvSpPr>
        <p:spPr>
          <a:xfrm>
            <a:off x="3218688" y="3273552"/>
            <a:ext cx="2468880" cy="146304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Move from AI-augmented individuals to AI-automated workflows. Target: 1:1 worker-to-agent ratio. 1–3 major agentic applications per division. A single focused hackathon can move weekly AI users from 10% to 50% (Zapier).</a:t>
            </a:r>
            <a:endParaRPr lang="en-US" sz="1100" dirty="0"/>
          </a:p>
        </p:txBody>
      </p:sp>
      <p:sp>
        <p:nvSpPr>
          <p:cNvPr id="20" name="Shape 18"/>
          <p:cNvSpPr/>
          <p:nvPr/>
        </p:nvSpPr>
        <p:spPr>
          <a:xfrm>
            <a:off x="5852160" y="1536192"/>
            <a:ext cx="2697480" cy="3291840"/>
          </a:xfrm>
          <a:prstGeom prst="rect">
            <a:avLst/>
          </a:prstGeom>
          <a:solidFill>
            <a:srgbClr val="FFFFFF"/>
          </a:solidFill>
          <a:ln w="12700">
            <a:solidFill>
              <a:srgbClr val="FFFFFF"/>
            </a:solidFill>
            <a:prstDash val="solid"/>
          </a:ln>
        </p:spPr>
      </p:sp>
      <p:sp>
        <p:nvSpPr>
          <p:cNvPr id="21" name="Shape 19"/>
          <p:cNvSpPr/>
          <p:nvPr/>
        </p:nvSpPr>
        <p:spPr>
          <a:xfrm>
            <a:off x="5852160" y="1536192"/>
            <a:ext cx="2697480" cy="256032"/>
          </a:xfrm>
          <a:prstGeom prst="rect">
            <a:avLst/>
          </a:prstGeom>
          <a:solidFill>
            <a:srgbClr val="E85D04"/>
          </a:solidFill>
          <a:ln w="12700">
            <a:solidFill>
              <a:srgbClr val="E85D04"/>
            </a:solidFill>
            <a:prstDash val="solid"/>
          </a:ln>
        </p:spPr>
      </p:sp>
      <p:sp>
        <p:nvSpPr>
          <p:cNvPr id="22" name="Text 20"/>
          <p:cNvSpPr/>
          <p:nvPr/>
        </p:nvSpPr>
        <p:spPr>
          <a:xfrm>
            <a:off x="5961888" y="1810512"/>
            <a:ext cx="2468880" cy="292608"/>
          </a:xfrm>
          <a:prstGeom prst="rect">
            <a:avLst/>
          </a:prstGeom>
          <a:noFill/>
          <a:ln/>
        </p:spPr>
        <p:txBody>
          <a:bodyPr wrap="square" lIns="0" tIns="0" rIns="0" bIns="0" rtlCol="0" anchor="ctr"/>
          <a:lstStyle/>
          <a:p>
            <a:pPr algn="l" indent="0" marL="0">
              <a:buNone/>
            </a:pPr>
            <a:r>
              <a:rPr lang="en-US" sz="950" b="1" spc="100" kern="0" dirty="0">
                <a:solidFill>
                  <a:srgbClr val="E85D04"/>
                </a:solidFill>
                <a:latin typeface="Calibri" pitchFamily="34" charset="0"/>
                <a:ea typeface="Calibri" pitchFamily="34" charset="-122"/>
                <a:cs typeface="Calibri" pitchFamily="34" charset="-120"/>
              </a:rPr>
              <a:t>03  REINVENT</a:t>
            </a:r>
            <a:endParaRPr lang="en-US" sz="950" dirty="0"/>
          </a:p>
        </p:txBody>
      </p:sp>
      <p:sp>
        <p:nvSpPr>
          <p:cNvPr id="23" name="Text 21"/>
          <p:cNvSpPr/>
          <p:nvPr/>
        </p:nvSpPr>
        <p:spPr>
          <a:xfrm>
            <a:off x="5961888" y="2103120"/>
            <a:ext cx="2468880" cy="777240"/>
          </a:xfrm>
          <a:prstGeom prst="rect">
            <a:avLst/>
          </a:prstGeom>
          <a:noFill/>
          <a:ln/>
        </p:spPr>
        <p:txBody>
          <a:bodyPr wrap="square" lIns="0" tIns="0" rIns="0" bIns="0" rtlCol="0" anchor="ctr"/>
          <a:lstStyle/>
          <a:p>
            <a:pPr algn="l" indent="0" marL="0">
              <a:buNone/>
            </a:pPr>
            <a:r>
              <a:rPr lang="en-US" sz="1600" b="1" dirty="0">
                <a:solidFill>
                  <a:srgbClr val="1A1F2E"/>
                </a:solidFill>
                <a:latin typeface="Georgia" pitchFamily="34" charset="0"/>
                <a:ea typeface="Georgia" pitchFamily="34" charset="-122"/>
                <a:cs typeface="Georgia" pitchFamily="34" charset="-120"/>
              </a:rPr>
              <a:t>Transform Core</a:t>
            </a:r>
            <a:endParaRPr lang="en-US" sz="1600" dirty="0"/>
          </a:p>
          <a:p>
            <a:pPr algn="l" indent="0" marL="0">
              <a:buNone/>
            </a:pPr>
            <a:r>
              <a:rPr lang="en-US" sz="1600" b="1" dirty="0">
                <a:solidFill>
                  <a:srgbClr val="1A1F2E"/>
                </a:solidFill>
                <a:latin typeface="Georgia" pitchFamily="34" charset="0"/>
                <a:ea typeface="Georgia" pitchFamily="34" charset="-122"/>
                <a:cs typeface="Georgia" pitchFamily="34" charset="-120"/>
              </a:rPr>
              <a:t>Processes</a:t>
            </a:r>
            <a:endParaRPr lang="en-US" sz="1600" dirty="0"/>
          </a:p>
        </p:txBody>
      </p:sp>
      <p:sp>
        <p:nvSpPr>
          <p:cNvPr id="24" name="Shape 22"/>
          <p:cNvSpPr/>
          <p:nvPr/>
        </p:nvSpPr>
        <p:spPr>
          <a:xfrm>
            <a:off x="5961888" y="2907792"/>
            <a:ext cx="2468880" cy="22860"/>
          </a:xfrm>
          <a:prstGeom prst="rect">
            <a:avLst/>
          </a:prstGeom>
          <a:solidFill>
            <a:srgbClr val="E85D04"/>
          </a:solidFill>
          <a:ln w="12700">
            <a:solidFill>
              <a:srgbClr val="E85D04"/>
            </a:solidFill>
            <a:prstDash val="solid"/>
          </a:ln>
        </p:spPr>
      </p:sp>
      <p:sp>
        <p:nvSpPr>
          <p:cNvPr id="25" name="Text 23"/>
          <p:cNvSpPr/>
          <p:nvPr/>
        </p:nvSpPr>
        <p:spPr>
          <a:xfrm>
            <a:off x="5961888" y="2962656"/>
            <a:ext cx="2468880" cy="274320"/>
          </a:xfrm>
          <a:prstGeom prst="rect">
            <a:avLst/>
          </a:prstGeom>
          <a:noFill/>
          <a:ln/>
        </p:spPr>
        <p:txBody>
          <a:bodyPr wrap="square" lIns="0" tIns="0" rIns="0" bIns="0" rtlCol="0" anchor="ctr"/>
          <a:lstStyle/>
          <a:p>
            <a:pPr algn="l" indent="0" marL="0">
              <a:buNone/>
            </a:pPr>
            <a:r>
              <a:rPr lang="en-US" sz="1050" b="1" dirty="0">
                <a:solidFill>
                  <a:srgbClr val="E85D04"/>
                </a:solidFill>
                <a:latin typeface="Calibri" pitchFamily="34" charset="0"/>
                <a:ea typeface="Calibri" pitchFamily="34" charset="-122"/>
                <a:cs typeface="Calibri" pitchFamily="34" charset="-120"/>
              </a:rPr>
              <a:t>Focus: Dept-Level Impact</a:t>
            </a:r>
            <a:endParaRPr lang="en-US" sz="1050" dirty="0"/>
          </a:p>
        </p:txBody>
      </p:sp>
      <p:sp>
        <p:nvSpPr>
          <p:cNvPr id="26" name="Text 24"/>
          <p:cNvSpPr/>
          <p:nvPr/>
        </p:nvSpPr>
        <p:spPr>
          <a:xfrm>
            <a:off x="5961888" y="3273552"/>
            <a:ext cx="2468880" cy="146304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AI moves from productivity conversation to business strategy. Measure at the functional level. Define KPI before deploying AI. Establish 4-week baseline. Measure at 30, 60, 90 days. Vertical agents drive substantial impact; horizontal agents drive incremental gains.</a:t>
            </a:r>
            <a:endParaRPr lang="en-US" sz="1100" dirty="0"/>
          </a:p>
        </p:txBody>
      </p:sp>
      <p:sp>
        <p:nvSpPr>
          <p:cNvPr id="27" name="Text 25"/>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[3] Section, "How to Measure AI Success," Spring 2026.  [9] Section, "AI:ROI Playbook," Spring 2026.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7706"/>
          </a:solidFill>
          <a:ln w="12700">
            <a:solidFill>
              <a:srgbClr val="D97706"/>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04  ·  THE MATH</a:t>
            </a:r>
            <a:endParaRPr lang="en-US" sz="1000" dirty="0"/>
          </a:p>
        </p:txBody>
      </p:sp>
      <p:sp>
        <p:nvSpPr>
          <p:cNvPr id="4" name="Text 2"/>
          <p:cNvSpPr/>
          <p:nvPr/>
        </p:nvSpPr>
        <p:spPr>
          <a:xfrm>
            <a:off x="457200" y="475488"/>
            <a:ext cx="8229600" cy="621792"/>
          </a:xfrm>
          <a:prstGeom prst="rect">
            <a:avLst/>
          </a:prstGeom>
          <a:noFill/>
          <a:ln/>
        </p:spPr>
        <p:txBody>
          <a:bodyPr wrap="square" lIns="0" tIns="0" rIns="0" bIns="0" rtlCol="0" anchor="ctr"/>
          <a:lstStyle/>
          <a:p>
            <a:pPr algn="l" indent="0" marL="0">
              <a:buNone/>
            </a:pPr>
            <a:r>
              <a:rPr lang="en-US" sz="3000" b="1" dirty="0">
                <a:solidFill>
                  <a:srgbClr val="FFFFFF"/>
                </a:solidFill>
                <a:latin typeface="Georgia" pitchFamily="34" charset="0"/>
                <a:ea typeface="Georgia" pitchFamily="34" charset="-122"/>
                <a:cs typeface="Georgia" pitchFamily="34" charset="-120"/>
              </a:rPr>
              <a:t>What ROI Looks Like at Each Phase</a:t>
            </a:r>
            <a:endParaRPr lang="en-US" sz="3000" dirty="0"/>
          </a:p>
        </p:txBody>
      </p:sp>
      <p:sp>
        <p:nvSpPr>
          <p:cNvPr id="5" name="Shape 3"/>
          <p:cNvSpPr/>
          <p:nvPr/>
        </p:nvSpPr>
        <p:spPr>
          <a:xfrm>
            <a:off x="365760" y="1261872"/>
            <a:ext cx="4023360" cy="3493008"/>
          </a:xfrm>
          <a:prstGeom prst="rect">
            <a:avLst/>
          </a:prstGeom>
          <a:solidFill>
            <a:srgbClr val="1A2B44"/>
          </a:solidFill>
          <a:ln w="12700">
            <a:solidFill>
              <a:srgbClr val="1A2B44"/>
            </a:solidFill>
            <a:prstDash val="solid"/>
          </a:ln>
        </p:spPr>
      </p:sp>
      <p:sp>
        <p:nvSpPr>
          <p:cNvPr id="6" name="Shape 4"/>
          <p:cNvSpPr/>
          <p:nvPr/>
        </p:nvSpPr>
        <p:spPr>
          <a:xfrm>
            <a:off x="365760" y="1261872"/>
            <a:ext cx="4023360" cy="256032"/>
          </a:xfrm>
          <a:prstGeom prst="rect">
            <a:avLst/>
          </a:prstGeom>
          <a:solidFill>
            <a:srgbClr val="0D9488"/>
          </a:solidFill>
          <a:ln w="12700">
            <a:solidFill>
              <a:srgbClr val="0D9488"/>
            </a:solidFill>
            <a:prstDash val="solid"/>
          </a:ln>
        </p:spPr>
      </p:sp>
      <p:sp>
        <p:nvSpPr>
          <p:cNvPr id="7" name="Text 5"/>
          <p:cNvSpPr/>
          <p:nvPr/>
        </p:nvSpPr>
        <p:spPr>
          <a:xfrm>
            <a:off x="548640" y="1536192"/>
            <a:ext cx="3611880" cy="292608"/>
          </a:xfrm>
          <a:prstGeom prst="rect">
            <a:avLst/>
          </a:prstGeom>
          <a:noFill/>
          <a:ln/>
        </p:spPr>
        <p:txBody>
          <a:bodyPr wrap="square" lIns="0" tIns="0" rIns="0" bIns="0" rtlCol="0" anchor="ctr"/>
          <a:lstStyle/>
          <a:p>
            <a:pPr algn="l" indent="0" marL="0">
              <a:buNone/>
            </a:pPr>
            <a:r>
              <a:rPr lang="en-US" sz="1000" b="1" spc="150" kern="0" dirty="0">
                <a:solidFill>
                  <a:srgbClr val="0D9488"/>
                </a:solidFill>
                <a:latin typeface="Calibri" pitchFamily="34" charset="0"/>
                <a:ea typeface="Calibri" pitchFamily="34" charset="-122"/>
                <a:cs typeface="Calibri" pitchFamily="34" charset="-120"/>
              </a:rPr>
              <a:t>PHASE 1 · OPTIMIZE</a:t>
            </a:r>
            <a:endParaRPr lang="en-US" sz="1000" dirty="0"/>
          </a:p>
        </p:txBody>
      </p:sp>
      <p:sp>
        <p:nvSpPr>
          <p:cNvPr id="8" name="Text 6"/>
          <p:cNvSpPr/>
          <p:nvPr/>
        </p:nvSpPr>
        <p:spPr>
          <a:xfrm>
            <a:off x="548640" y="1874520"/>
            <a:ext cx="3611880" cy="914400"/>
          </a:xfrm>
          <a:prstGeom prst="rect">
            <a:avLst/>
          </a:prstGeom>
          <a:noFill/>
          <a:ln/>
        </p:spPr>
        <p:txBody>
          <a:bodyPr wrap="square" lIns="0" tIns="0" rIns="0" bIns="0" rtlCol="0" anchor="ctr"/>
          <a:lstStyle/>
          <a:p>
            <a:pPr algn="l" indent="0" marL="0">
              <a:buNone/>
            </a:pPr>
            <a:r>
              <a:rPr lang="en-US" sz="2600" b="1" dirty="0">
                <a:solidFill>
                  <a:srgbClr val="F9C74F"/>
                </a:solidFill>
                <a:latin typeface="Georgia" pitchFamily="34" charset="0"/>
                <a:ea typeface="Georgia" pitchFamily="34" charset="-122"/>
                <a:cs typeface="Georgia" pitchFamily="34" charset="-120"/>
              </a:rPr>
              <a:t>7–8%</a:t>
            </a:r>
            <a:endParaRPr lang="en-US" sz="2600" dirty="0"/>
          </a:p>
          <a:p>
            <a:pPr algn="l" indent="0" marL="0">
              <a:buNone/>
            </a:pPr>
            <a:r>
              <a:rPr lang="en-US" sz="2600" b="1" dirty="0">
                <a:solidFill>
                  <a:srgbClr val="F9C74F"/>
                </a:solidFill>
                <a:latin typeface="Georgia" pitchFamily="34" charset="0"/>
                <a:ea typeface="Georgia" pitchFamily="34" charset="-122"/>
                <a:cs typeface="Georgia" pitchFamily="34" charset="-120"/>
              </a:rPr>
              <a:t>headcount equivalent savings</a:t>
            </a:r>
            <a:endParaRPr lang="en-US" sz="2600" dirty="0"/>
          </a:p>
        </p:txBody>
      </p:sp>
      <p:sp>
        <p:nvSpPr>
          <p:cNvPr id="9" name="Text 7"/>
          <p:cNvSpPr/>
          <p:nvPr/>
        </p:nvSpPr>
        <p:spPr>
          <a:xfrm>
            <a:off x="548640" y="2880360"/>
            <a:ext cx="3611880" cy="914400"/>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Formula: 80% daily active users × 10% productivity gain</a:t>
            </a:r>
            <a:endParaRPr lang="en-US" sz="1200" dirty="0"/>
          </a:p>
          <a:p>
            <a:pPr algn="l" indent="0" marL="0">
              <a:buNone/>
            </a:pP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For a 6,500-person organization: equivalent productivity output of 460 employees</a:t>
            </a:r>
            <a:endParaRPr lang="en-US" sz="1200" dirty="0"/>
          </a:p>
        </p:txBody>
      </p:sp>
      <p:sp>
        <p:nvSpPr>
          <p:cNvPr id="10" name="Text 8"/>
          <p:cNvSpPr/>
          <p:nvPr/>
        </p:nvSpPr>
        <p:spPr>
          <a:xfrm>
            <a:off x="548640" y="3886200"/>
            <a:ext cx="3611880" cy="685800"/>
          </a:xfrm>
          <a:prstGeom prst="rect">
            <a:avLst/>
          </a:prstGeom>
          <a:noFill/>
          <a:ln/>
        </p:spPr>
        <p:txBody>
          <a:bodyPr wrap="square" lIns="0" tIns="0" rIns="0" bIns="0" rtlCol="0" anchor="t"/>
          <a:lstStyle/>
          <a:p>
            <a:pPr algn="l" indent="0" marL="0">
              <a:buNone/>
            </a:pPr>
            <a:r>
              <a:rPr lang="en-US" sz="1050" dirty="0">
                <a:solidFill>
                  <a:srgbClr val="94A3B8"/>
                </a:solidFill>
                <a:latin typeface="Calibri" pitchFamily="34" charset="0"/>
                <a:ea typeface="Calibri" pitchFamily="34" charset="-122"/>
                <a:cs typeface="Calibri" pitchFamily="34" charset="-120"/>
              </a:rPr>
              <a:t>Key driver: Move Experimenters to repeatable AI use. Basic proficiency + champions model adoption.</a:t>
            </a:r>
            <a:endParaRPr lang="en-US" sz="1050" dirty="0"/>
          </a:p>
        </p:txBody>
      </p:sp>
      <p:sp>
        <p:nvSpPr>
          <p:cNvPr id="11" name="Shape 9"/>
          <p:cNvSpPr/>
          <p:nvPr/>
        </p:nvSpPr>
        <p:spPr>
          <a:xfrm>
            <a:off x="4754880" y="1261872"/>
            <a:ext cx="4023360" cy="3493008"/>
          </a:xfrm>
          <a:prstGeom prst="rect">
            <a:avLst/>
          </a:prstGeom>
          <a:solidFill>
            <a:srgbClr val="1A2B44"/>
          </a:solidFill>
          <a:ln w="12700">
            <a:solidFill>
              <a:srgbClr val="1A2B44"/>
            </a:solidFill>
            <a:prstDash val="solid"/>
          </a:ln>
        </p:spPr>
      </p:sp>
      <p:sp>
        <p:nvSpPr>
          <p:cNvPr id="12" name="Shape 10"/>
          <p:cNvSpPr/>
          <p:nvPr/>
        </p:nvSpPr>
        <p:spPr>
          <a:xfrm>
            <a:off x="4754880" y="1261872"/>
            <a:ext cx="4023360" cy="256032"/>
          </a:xfrm>
          <a:prstGeom prst="rect">
            <a:avLst/>
          </a:prstGeom>
          <a:solidFill>
            <a:srgbClr val="D97706"/>
          </a:solidFill>
          <a:ln w="12700">
            <a:solidFill>
              <a:srgbClr val="D97706"/>
            </a:solidFill>
            <a:prstDash val="solid"/>
          </a:ln>
        </p:spPr>
      </p:sp>
      <p:sp>
        <p:nvSpPr>
          <p:cNvPr id="13" name="Text 11"/>
          <p:cNvSpPr/>
          <p:nvPr/>
        </p:nvSpPr>
        <p:spPr>
          <a:xfrm>
            <a:off x="4937760" y="1536192"/>
            <a:ext cx="3611880" cy="292608"/>
          </a:xfrm>
          <a:prstGeom prst="rect">
            <a:avLst/>
          </a:prstGeom>
          <a:noFill/>
          <a:ln/>
        </p:spPr>
        <p:txBody>
          <a:bodyPr wrap="square" lIns="0" tIns="0" rIns="0" bIns="0" rtlCol="0" anchor="ctr"/>
          <a:lstStyle/>
          <a:p>
            <a:pPr algn="l" indent="0" marL="0">
              <a:buNone/>
            </a:pPr>
            <a:r>
              <a:rPr lang="en-US" sz="1000" b="1" spc="150" kern="0" dirty="0">
                <a:solidFill>
                  <a:srgbClr val="D97706"/>
                </a:solidFill>
                <a:latin typeface="Calibri" pitchFamily="34" charset="0"/>
                <a:ea typeface="Calibri" pitchFamily="34" charset="-122"/>
                <a:cs typeface="Calibri" pitchFamily="34" charset="-120"/>
              </a:rPr>
              <a:t>PHASE 2 · ACCELERATE</a:t>
            </a:r>
            <a:endParaRPr lang="en-US" sz="1000" dirty="0"/>
          </a:p>
        </p:txBody>
      </p:sp>
      <p:sp>
        <p:nvSpPr>
          <p:cNvPr id="14" name="Text 12"/>
          <p:cNvSpPr/>
          <p:nvPr/>
        </p:nvSpPr>
        <p:spPr>
          <a:xfrm>
            <a:off x="4937760" y="1874520"/>
            <a:ext cx="3611880" cy="914400"/>
          </a:xfrm>
          <a:prstGeom prst="rect">
            <a:avLst/>
          </a:prstGeom>
          <a:noFill/>
          <a:ln/>
        </p:spPr>
        <p:txBody>
          <a:bodyPr wrap="square" lIns="0" tIns="0" rIns="0" bIns="0" rtlCol="0" anchor="ctr"/>
          <a:lstStyle/>
          <a:p>
            <a:pPr algn="l" indent="0" marL="0">
              <a:buNone/>
            </a:pPr>
            <a:r>
              <a:rPr lang="en-US" sz="2600" b="1" dirty="0">
                <a:solidFill>
                  <a:srgbClr val="F9C74F"/>
                </a:solidFill>
                <a:latin typeface="Georgia" pitchFamily="34" charset="0"/>
                <a:ea typeface="Georgia" pitchFamily="34" charset="-122"/>
                <a:cs typeface="Georgia" pitchFamily="34" charset="-120"/>
              </a:rPr>
              <a:t>50 FTE</a:t>
            </a:r>
            <a:endParaRPr lang="en-US" sz="2600" dirty="0"/>
          </a:p>
          <a:p>
            <a:pPr algn="l" indent="0" marL="0">
              <a:buNone/>
            </a:pPr>
            <a:r>
              <a:rPr lang="en-US" sz="2600" b="1" dirty="0">
                <a:solidFill>
                  <a:srgbClr val="F9C74F"/>
                </a:solidFill>
                <a:latin typeface="Georgia" pitchFamily="34" charset="0"/>
                <a:ea typeface="Georgia" pitchFamily="34" charset="-122"/>
                <a:cs typeface="Georgia" pitchFamily="34" charset="-120"/>
              </a:rPr>
              <a:t>equivalent</a:t>
            </a:r>
            <a:endParaRPr lang="en-US" sz="2600" dirty="0"/>
          </a:p>
        </p:txBody>
      </p:sp>
      <p:sp>
        <p:nvSpPr>
          <p:cNvPr id="15" name="Text 13"/>
          <p:cNvSpPr/>
          <p:nvPr/>
        </p:nvSpPr>
        <p:spPr>
          <a:xfrm>
            <a:off x="4937760" y="2880360"/>
            <a:ext cx="3611880" cy="914400"/>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Formula: 1,000 automations × 2 hrs/week saved = 2,000 hrs/week</a:t>
            </a:r>
            <a:endParaRPr lang="en-US" sz="1200" dirty="0"/>
          </a:p>
          <a:p>
            <a:pPr algn="l" indent="0" marL="0">
              <a:buNone/>
            </a:pP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Target: 1:1 worker-to-agent ratio (custom automations vs. headcount)</a:t>
            </a:r>
            <a:endParaRPr lang="en-US" sz="1200" dirty="0"/>
          </a:p>
        </p:txBody>
      </p:sp>
      <p:sp>
        <p:nvSpPr>
          <p:cNvPr id="16" name="Text 14"/>
          <p:cNvSpPr/>
          <p:nvPr/>
        </p:nvSpPr>
        <p:spPr>
          <a:xfrm>
            <a:off x="4937760" y="3886200"/>
            <a:ext cx="3611880" cy="685800"/>
          </a:xfrm>
          <a:prstGeom prst="rect">
            <a:avLst/>
          </a:prstGeom>
          <a:noFill/>
          <a:ln/>
        </p:spPr>
        <p:txBody>
          <a:bodyPr wrap="square" lIns="0" tIns="0" rIns="0" bIns="0" rtlCol="0" anchor="t"/>
          <a:lstStyle/>
          <a:p>
            <a:pPr algn="l" indent="0" marL="0">
              <a:buNone/>
            </a:pPr>
            <a:r>
              <a:rPr lang="en-US" sz="1050" dirty="0">
                <a:solidFill>
                  <a:srgbClr val="94A3B8"/>
                </a:solidFill>
                <a:latin typeface="Calibri" pitchFamily="34" charset="0"/>
                <a:ea typeface="Calibri" pitchFamily="34" charset="-122"/>
                <a:cs typeface="Calibri" pitchFamily="34" charset="-120"/>
              </a:rPr>
              <a:t>Goal: 1–3 major agentic applications per division, each with consistent weekly usage.</a:t>
            </a:r>
            <a:endParaRPr lang="en-US" sz="1050" dirty="0"/>
          </a:p>
        </p:txBody>
      </p:sp>
      <p:sp>
        <p:nvSpPr>
          <p:cNvPr id="17" name="Text 15"/>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[3] Section ROI Framework, "How to Measure AI Success," Spring 2026.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04  ·  PHASE 3: REINVENT</a:t>
            </a:r>
            <a:endParaRPr lang="en-US" sz="1000" dirty="0"/>
          </a:p>
        </p:txBody>
      </p:sp>
      <p:sp>
        <p:nvSpPr>
          <p:cNvPr id="4" name="Text 2"/>
          <p:cNvSpPr/>
          <p:nvPr/>
        </p:nvSpPr>
        <p:spPr>
          <a:xfrm>
            <a:off x="457200" y="475488"/>
            <a:ext cx="8229600" cy="594360"/>
          </a:xfrm>
          <a:prstGeom prst="rect">
            <a:avLst/>
          </a:prstGeom>
          <a:noFill/>
          <a:ln/>
        </p:spPr>
        <p:txBody>
          <a:bodyPr wrap="square" lIns="0" tIns="0" rIns="0" bIns="0" rtlCol="0" anchor="ctr"/>
          <a:lstStyle/>
          <a:p>
            <a:pPr algn="l" indent="0" marL="0">
              <a:buNone/>
            </a:pPr>
            <a:r>
              <a:rPr lang="en-US" sz="2600" b="1" dirty="0">
                <a:solidFill>
                  <a:srgbClr val="1A1F2E"/>
                </a:solidFill>
                <a:latin typeface="Georgia" pitchFamily="34" charset="0"/>
                <a:ea typeface="Georgia" pitchFamily="34" charset="-122"/>
                <a:cs typeface="Georgia" pitchFamily="34" charset="-120"/>
              </a:rPr>
              <a:t>What Transformation-Phase Results Look Like</a:t>
            </a:r>
            <a:endParaRPr lang="en-US" sz="2600" dirty="0"/>
          </a:p>
        </p:txBody>
      </p:sp>
      <p:sp>
        <p:nvSpPr>
          <p:cNvPr id="5" name="Shape 3"/>
          <p:cNvSpPr/>
          <p:nvPr/>
        </p:nvSpPr>
        <p:spPr>
          <a:xfrm>
            <a:off x="365760" y="1170432"/>
            <a:ext cx="4069080" cy="3474720"/>
          </a:xfrm>
          <a:prstGeom prst="rect">
            <a:avLst/>
          </a:prstGeom>
          <a:solidFill>
            <a:srgbClr val="FFFFFF"/>
          </a:solidFill>
          <a:ln w="12700">
            <a:solidFill>
              <a:srgbClr val="FFFFFF"/>
            </a:solidFill>
            <a:prstDash val="solid"/>
          </a:ln>
        </p:spPr>
      </p:sp>
      <p:sp>
        <p:nvSpPr>
          <p:cNvPr id="6" name="Shape 4"/>
          <p:cNvSpPr/>
          <p:nvPr/>
        </p:nvSpPr>
        <p:spPr>
          <a:xfrm>
            <a:off x="365760" y="1170432"/>
            <a:ext cx="91440" cy="3474720"/>
          </a:xfrm>
          <a:prstGeom prst="rect">
            <a:avLst/>
          </a:prstGeom>
          <a:solidFill>
            <a:srgbClr val="E85D04"/>
          </a:solidFill>
          <a:ln w="12700">
            <a:solidFill>
              <a:srgbClr val="E85D04"/>
            </a:solidFill>
            <a:prstDash val="solid"/>
          </a:ln>
        </p:spPr>
      </p:sp>
      <p:sp>
        <p:nvSpPr>
          <p:cNvPr id="7" name="Text 5"/>
          <p:cNvSpPr/>
          <p:nvPr/>
        </p:nvSpPr>
        <p:spPr>
          <a:xfrm>
            <a:off x="594360" y="1280160"/>
            <a:ext cx="3657600" cy="365760"/>
          </a:xfrm>
          <a:prstGeom prst="rect">
            <a:avLst/>
          </a:prstGeom>
          <a:noFill/>
          <a:ln/>
        </p:spPr>
        <p:txBody>
          <a:bodyPr wrap="square" lIns="0" tIns="0" rIns="0" bIns="0" rtlCol="0" anchor="ctr"/>
          <a:lstStyle/>
          <a:p>
            <a:pPr algn="l" indent="0" marL="0">
              <a:buNone/>
            </a:pPr>
            <a:r>
              <a:rPr lang="en-US" sz="1400" b="1" dirty="0">
                <a:solidFill>
                  <a:srgbClr val="E85D04"/>
                </a:solidFill>
                <a:latin typeface="Georgia" pitchFamily="34" charset="0"/>
                <a:ea typeface="Georgia" pitchFamily="34" charset="-122"/>
                <a:cs typeface="Georgia" pitchFamily="34" charset="-120"/>
              </a:rPr>
              <a:t>Siemens / Mendix Customer Case</a:t>
            </a:r>
            <a:endParaRPr lang="en-US" sz="1400" dirty="0"/>
          </a:p>
        </p:txBody>
      </p:sp>
      <p:sp>
        <p:nvSpPr>
          <p:cNvPr id="8" name="Text 6"/>
          <p:cNvSpPr/>
          <p:nvPr/>
        </p:nvSpPr>
        <p:spPr>
          <a:xfrm>
            <a:off x="594360" y="1691640"/>
            <a:ext cx="3657600" cy="41148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Vertically focused virtual engineer agent built on Mendix platform</a:t>
            </a:r>
            <a:endParaRPr lang="en-US" sz="1200" dirty="0"/>
          </a:p>
        </p:txBody>
      </p:sp>
      <p:sp>
        <p:nvSpPr>
          <p:cNvPr id="9" name="Text 7"/>
          <p:cNvSpPr/>
          <p:nvPr/>
        </p:nvSpPr>
        <p:spPr>
          <a:xfrm>
            <a:off x="594360" y="2148840"/>
            <a:ext cx="1828800" cy="1645920"/>
          </a:xfrm>
          <a:prstGeom prst="rect">
            <a:avLst/>
          </a:prstGeom>
          <a:noFill/>
          <a:ln/>
        </p:spPr>
        <p:txBody>
          <a:bodyPr wrap="square" lIns="0" tIns="0" rIns="0" bIns="0" rtlCol="0" anchor="ctr"/>
          <a:lstStyle/>
          <a:p>
            <a:pPr algn="l" indent="0" marL="0">
              <a:buNone/>
            </a:pPr>
            <a:r>
              <a:rPr lang="en-US" sz="5200" b="1" dirty="0">
                <a:solidFill>
                  <a:srgbClr val="E85D04"/>
                </a:solidFill>
                <a:latin typeface="Georgia" pitchFamily="34" charset="0"/>
                <a:ea typeface="Georgia" pitchFamily="34" charset="-122"/>
                <a:cs typeface="Georgia" pitchFamily="34" charset="-120"/>
              </a:rPr>
              <a:t>85%</a:t>
            </a:r>
            <a:pPr algn="l" indent="0" marL="0">
              <a:buNone/>
            </a:pPr>
            <a:endParaRPr lang="en-US" sz="5200" dirty="0"/>
          </a:p>
          <a:p>
            <a:pPr algn="l" indent="0" marL="0">
              <a:buNone/>
            </a:pPr>
            <a:r>
              <a:rPr lang="en-US" sz="1400" dirty="0">
                <a:solidFill>
                  <a:srgbClr val="1A1F2E"/>
                </a:solidFill>
                <a:latin typeface="Georgia" pitchFamily="34" charset="0"/>
                <a:ea typeface="Georgia" pitchFamily="34" charset="-122"/>
                <a:cs typeface="Georgia" pitchFamily="34" charset="-120"/>
              </a:rPr>
              <a:t>reduction in</a:t>
            </a:r>
            <a:endParaRPr lang="en-US" sz="5200" dirty="0"/>
          </a:p>
          <a:p>
            <a:pPr algn="l" indent="0" marL="0">
              <a:buNone/>
            </a:pPr>
            <a:r>
              <a:rPr lang="en-US" sz="1400" dirty="0">
                <a:solidFill>
                  <a:srgbClr val="1A1F2E"/>
                </a:solidFill>
                <a:latin typeface="Georgia" pitchFamily="34" charset="0"/>
                <a:ea typeface="Georgia" pitchFamily="34" charset="-122"/>
                <a:cs typeface="Georgia" pitchFamily="34" charset="-120"/>
              </a:rPr>
              <a:t>downtime fix time</a:t>
            </a:r>
            <a:endParaRPr lang="en-US" sz="5200" dirty="0"/>
          </a:p>
        </p:txBody>
      </p:sp>
      <p:sp>
        <p:nvSpPr>
          <p:cNvPr id="10" name="Text 8"/>
          <p:cNvSpPr/>
          <p:nvPr/>
        </p:nvSpPr>
        <p:spPr>
          <a:xfrm>
            <a:off x="2514600" y="2148840"/>
            <a:ext cx="1737360" cy="1645920"/>
          </a:xfrm>
          <a:prstGeom prst="rect">
            <a:avLst/>
          </a:prstGeom>
          <a:noFill/>
          <a:ln/>
        </p:spPr>
        <p:txBody>
          <a:bodyPr wrap="square" lIns="0" tIns="0" rIns="0" bIns="0" rtlCol="0" anchor="ctr"/>
          <a:lstStyle/>
          <a:p>
            <a:pPr algn="l" indent="0" marL="0">
              <a:buNone/>
            </a:pPr>
            <a:r>
              <a:rPr lang="en-US" sz="3600" b="1" dirty="0">
                <a:solidFill>
                  <a:srgbClr val="E85D04"/>
                </a:solidFill>
                <a:latin typeface="Georgia" pitchFamily="34" charset="0"/>
                <a:ea typeface="Georgia" pitchFamily="34" charset="-122"/>
                <a:cs typeface="Georgia" pitchFamily="34" charset="-120"/>
              </a:rPr>
              <a:t>6,000</a:t>
            </a:r>
            <a:pPr algn="l" indent="0" marL="0">
              <a:buNone/>
            </a:pPr>
            <a:endParaRPr lang="en-US" sz="3600" dirty="0"/>
          </a:p>
          <a:p>
            <a:pPr algn="l" indent="0" marL="0">
              <a:buNone/>
            </a:pPr>
            <a:r>
              <a:rPr lang="en-US" sz="1400" dirty="0">
                <a:solidFill>
                  <a:srgbClr val="1A1F2E"/>
                </a:solidFill>
                <a:latin typeface="Georgia" pitchFamily="34" charset="0"/>
                <a:ea typeface="Georgia" pitchFamily="34" charset="-122"/>
                <a:cs typeface="Georgia" pitchFamily="34" charset="-120"/>
              </a:rPr>
              <a:t>hours</a:t>
            </a:r>
            <a:endParaRPr lang="en-US" sz="3600" dirty="0"/>
          </a:p>
          <a:p>
            <a:pPr algn="l" indent="0" marL="0">
              <a:buNone/>
            </a:pPr>
            <a:r>
              <a:rPr lang="en-US" sz="1400" dirty="0">
                <a:solidFill>
                  <a:srgbClr val="1A1F2E"/>
                </a:solidFill>
                <a:latin typeface="Georgia" pitchFamily="34" charset="0"/>
                <a:ea typeface="Georgia" pitchFamily="34" charset="-122"/>
                <a:cs typeface="Georgia" pitchFamily="34" charset="-120"/>
              </a:rPr>
              <a:t>saved</a:t>
            </a:r>
            <a:endParaRPr lang="en-US" sz="3600" dirty="0"/>
          </a:p>
        </p:txBody>
      </p:sp>
      <p:sp>
        <p:nvSpPr>
          <p:cNvPr id="11" name="Shape 9"/>
          <p:cNvSpPr/>
          <p:nvPr/>
        </p:nvSpPr>
        <p:spPr>
          <a:xfrm>
            <a:off x="594360" y="3886200"/>
            <a:ext cx="3657600" cy="22860"/>
          </a:xfrm>
          <a:prstGeom prst="rect">
            <a:avLst/>
          </a:prstGeom>
          <a:solidFill>
            <a:srgbClr val="E2E8F0"/>
          </a:solidFill>
          <a:ln w="12700">
            <a:solidFill>
              <a:srgbClr val="E2E8F0"/>
            </a:solidFill>
            <a:prstDash val="solid"/>
          </a:ln>
        </p:spPr>
      </p:sp>
      <p:sp>
        <p:nvSpPr>
          <p:cNvPr id="12" name="Text 10"/>
          <p:cNvSpPr/>
          <p:nvPr/>
        </p:nvSpPr>
        <p:spPr>
          <a:xfrm>
            <a:off x="594360" y="3931920"/>
            <a:ext cx="3657600" cy="594360"/>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The lesson: Horizontal agents drove incremental gains. The vertical agent — a Mendix customer deployment on one specific high-value workflow — drove substantial business impact.</a:t>
            </a:r>
            <a:endParaRPr lang="en-US" sz="1050" dirty="0"/>
          </a:p>
        </p:txBody>
      </p:sp>
      <p:sp>
        <p:nvSpPr>
          <p:cNvPr id="13" name="Shape 11"/>
          <p:cNvSpPr/>
          <p:nvPr/>
        </p:nvSpPr>
        <p:spPr>
          <a:xfrm>
            <a:off x="4800600" y="1170432"/>
            <a:ext cx="3931920" cy="3474720"/>
          </a:xfrm>
          <a:prstGeom prst="rect">
            <a:avLst/>
          </a:prstGeom>
          <a:solidFill>
            <a:srgbClr val="FFFFFF"/>
          </a:solidFill>
          <a:ln w="12700">
            <a:solidFill>
              <a:srgbClr val="FFFFFF"/>
            </a:solidFill>
            <a:prstDash val="solid"/>
          </a:ln>
        </p:spPr>
      </p:sp>
      <p:sp>
        <p:nvSpPr>
          <p:cNvPr id="14" name="Shape 12"/>
          <p:cNvSpPr/>
          <p:nvPr/>
        </p:nvSpPr>
        <p:spPr>
          <a:xfrm>
            <a:off x="4800600" y="1170432"/>
            <a:ext cx="91440" cy="3474720"/>
          </a:xfrm>
          <a:prstGeom prst="rect">
            <a:avLst/>
          </a:prstGeom>
          <a:solidFill>
            <a:srgbClr val="0D9488"/>
          </a:solidFill>
          <a:ln w="12700">
            <a:solidFill>
              <a:srgbClr val="0D9488"/>
            </a:solidFill>
            <a:prstDash val="solid"/>
          </a:ln>
        </p:spPr>
      </p:sp>
      <p:sp>
        <p:nvSpPr>
          <p:cNvPr id="15" name="Text 13"/>
          <p:cNvSpPr/>
          <p:nvPr/>
        </p:nvSpPr>
        <p:spPr>
          <a:xfrm>
            <a:off x="5029200" y="1280160"/>
            <a:ext cx="3520440" cy="365760"/>
          </a:xfrm>
          <a:prstGeom prst="rect">
            <a:avLst/>
          </a:prstGeom>
          <a:noFill/>
          <a:ln/>
        </p:spPr>
        <p:txBody>
          <a:bodyPr wrap="square" lIns="0" tIns="0" rIns="0" bIns="0" rtlCol="0" anchor="ctr"/>
          <a:lstStyle/>
          <a:p>
            <a:pPr algn="l" indent="0" marL="0">
              <a:buNone/>
            </a:pPr>
            <a:r>
              <a:rPr lang="en-US" sz="1400" b="1" dirty="0">
                <a:solidFill>
                  <a:srgbClr val="0D9488"/>
                </a:solidFill>
                <a:latin typeface="Georgia" pitchFamily="34" charset="0"/>
                <a:ea typeface="Georgia" pitchFamily="34" charset="-122"/>
                <a:cs typeface="Georgia" pitchFamily="34" charset="-120"/>
              </a:rPr>
              <a:t>ServiceNow Internal Deployment</a:t>
            </a:r>
            <a:endParaRPr lang="en-US" sz="1400" dirty="0"/>
          </a:p>
        </p:txBody>
      </p:sp>
      <p:sp>
        <p:nvSpPr>
          <p:cNvPr id="16" name="Text 14"/>
          <p:cNvSpPr/>
          <p:nvPr/>
        </p:nvSpPr>
        <p:spPr>
          <a:xfrm>
            <a:off x="5029200" y="1737360"/>
            <a:ext cx="1691640" cy="594360"/>
          </a:xfrm>
          <a:prstGeom prst="rect">
            <a:avLst/>
          </a:prstGeom>
          <a:noFill/>
          <a:ln/>
        </p:spPr>
        <p:txBody>
          <a:bodyPr wrap="square" lIns="0" tIns="0" rIns="0" bIns="0" rtlCol="0" anchor="ctr"/>
          <a:lstStyle/>
          <a:p>
            <a:pPr algn="l" indent="0" marL="0">
              <a:buNone/>
            </a:pPr>
            <a:r>
              <a:rPr lang="en-US" sz="3400" b="1" dirty="0">
                <a:solidFill>
                  <a:srgbClr val="0D9488"/>
                </a:solidFill>
                <a:latin typeface="Georgia" pitchFamily="34" charset="0"/>
                <a:ea typeface="Georgia" pitchFamily="34" charset="-122"/>
                <a:cs typeface="Georgia" pitchFamily="34" charset="-120"/>
              </a:rPr>
              <a:t>54%</a:t>
            </a:r>
            <a:endParaRPr lang="en-US" sz="3400" dirty="0"/>
          </a:p>
        </p:txBody>
      </p:sp>
      <p:sp>
        <p:nvSpPr>
          <p:cNvPr id="17" name="Text 15"/>
          <p:cNvSpPr/>
          <p:nvPr/>
        </p:nvSpPr>
        <p:spPr>
          <a:xfrm>
            <a:off x="5029200" y="2331720"/>
            <a:ext cx="1691640" cy="502920"/>
          </a:xfrm>
          <a:prstGeom prst="rect">
            <a:avLst/>
          </a:prstGeom>
          <a:noFill/>
          <a:ln/>
        </p:spPr>
        <p:txBody>
          <a:bodyPr wrap="square" lIns="0" tIns="0" rIns="0" bIns="0" rtlCol="0" anchor="ctr"/>
          <a:lstStyle/>
          <a:p>
            <a:pPr algn="l" indent="0" marL="0">
              <a:buNone/>
            </a:pPr>
            <a:r>
              <a:rPr lang="en-US" sz="1100" dirty="0">
                <a:solidFill>
                  <a:srgbClr val="1A1F2E"/>
                </a:solidFill>
                <a:latin typeface="Calibri" pitchFamily="34" charset="0"/>
                <a:ea typeface="Calibri" pitchFamily="34" charset="-122"/>
                <a:cs typeface="Calibri" pitchFamily="34" charset="-120"/>
              </a:rPr>
              <a:t>of support tickets</a:t>
            </a:r>
            <a:endParaRPr lang="en-US" sz="1100" dirty="0"/>
          </a:p>
          <a:p>
            <a:pPr algn="l" indent="0" marL="0">
              <a:buNone/>
            </a:pPr>
            <a:r>
              <a:rPr lang="en-US" sz="1100" dirty="0">
                <a:solidFill>
                  <a:srgbClr val="1A1F2E"/>
                </a:solidFill>
                <a:latin typeface="Calibri" pitchFamily="34" charset="0"/>
                <a:ea typeface="Calibri" pitchFamily="34" charset="-122"/>
                <a:cs typeface="Calibri" pitchFamily="34" charset="-120"/>
              </a:rPr>
              <a:t>deflected by AI</a:t>
            </a:r>
            <a:endParaRPr lang="en-US" sz="1100" dirty="0"/>
          </a:p>
        </p:txBody>
      </p:sp>
      <p:sp>
        <p:nvSpPr>
          <p:cNvPr id="18" name="Text 16"/>
          <p:cNvSpPr/>
          <p:nvPr/>
        </p:nvSpPr>
        <p:spPr>
          <a:xfrm>
            <a:off x="6858000" y="1737360"/>
            <a:ext cx="1691640" cy="594360"/>
          </a:xfrm>
          <a:prstGeom prst="rect">
            <a:avLst/>
          </a:prstGeom>
          <a:noFill/>
          <a:ln/>
        </p:spPr>
        <p:txBody>
          <a:bodyPr wrap="square" lIns="0" tIns="0" rIns="0" bIns="0" rtlCol="0" anchor="ctr"/>
          <a:lstStyle/>
          <a:p>
            <a:pPr algn="l" indent="0" marL="0">
              <a:buNone/>
            </a:pPr>
            <a:r>
              <a:rPr lang="en-US" sz="3400" b="1" dirty="0">
                <a:solidFill>
                  <a:srgbClr val="0D9488"/>
                </a:solidFill>
                <a:latin typeface="Georgia" pitchFamily="34" charset="0"/>
                <a:ea typeface="Georgia" pitchFamily="34" charset="-122"/>
                <a:cs typeface="Georgia" pitchFamily="34" charset="-120"/>
              </a:rPr>
              <a:t>~20%</a:t>
            </a:r>
            <a:endParaRPr lang="en-US" sz="3400" dirty="0"/>
          </a:p>
        </p:txBody>
      </p:sp>
      <p:sp>
        <p:nvSpPr>
          <p:cNvPr id="19" name="Text 17"/>
          <p:cNvSpPr/>
          <p:nvPr/>
        </p:nvSpPr>
        <p:spPr>
          <a:xfrm>
            <a:off x="6858000" y="2331720"/>
            <a:ext cx="1691640" cy="502920"/>
          </a:xfrm>
          <a:prstGeom prst="rect">
            <a:avLst/>
          </a:prstGeom>
          <a:noFill/>
          <a:ln/>
        </p:spPr>
        <p:txBody>
          <a:bodyPr wrap="square" lIns="0" tIns="0" rIns="0" bIns="0" rtlCol="0" anchor="ctr"/>
          <a:lstStyle/>
          <a:p>
            <a:pPr algn="l" indent="0" marL="0">
              <a:buNone/>
            </a:pPr>
            <a:r>
              <a:rPr lang="en-US" sz="1100" dirty="0">
                <a:solidFill>
                  <a:srgbClr val="1A1F2E"/>
                </a:solidFill>
                <a:latin typeface="Calibri" pitchFamily="34" charset="0"/>
                <a:ea typeface="Calibri" pitchFamily="34" charset="-122"/>
                <a:cs typeface="Calibri" pitchFamily="34" charset="-120"/>
              </a:rPr>
              <a:t>of cases avoided</a:t>
            </a:r>
            <a:endParaRPr lang="en-US" sz="1100" dirty="0"/>
          </a:p>
          <a:p>
            <a:pPr algn="l" indent="0" marL="0">
              <a:buNone/>
            </a:pPr>
            <a:r>
              <a:rPr lang="en-US" sz="1100" dirty="0">
                <a:solidFill>
                  <a:srgbClr val="1A1F2E"/>
                </a:solidFill>
                <a:latin typeface="Calibri" pitchFamily="34" charset="0"/>
                <a:ea typeface="Calibri" pitchFamily="34" charset="-122"/>
                <a:cs typeface="Calibri" pitchFamily="34" charset="-120"/>
              </a:rPr>
              <a:t>entirely</a:t>
            </a:r>
            <a:endParaRPr lang="en-US" sz="1100" dirty="0"/>
          </a:p>
        </p:txBody>
      </p:sp>
      <p:sp>
        <p:nvSpPr>
          <p:cNvPr id="20" name="Text 18"/>
          <p:cNvSpPr/>
          <p:nvPr/>
        </p:nvSpPr>
        <p:spPr>
          <a:xfrm>
            <a:off x="5029200" y="3017520"/>
            <a:ext cx="1691640" cy="594360"/>
          </a:xfrm>
          <a:prstGeom prst="rect">
            <a:avLst/>
          </a:prstGeom>
          <a:noFill/>
          <a:ln/>
        </p:spPr>
        <p:txBody>
          <a:bodyPr wrap="square" lIns="0" tIns="0" rIns="0" bIns="0" rtlCol="0" anchor="ctr"/>
          <a:lstStyle/>
          <a:p>
            <a:pPr algn="l" indent="0" marL="0">
              <a:buNone/>
            </a:pPr>
            <a:r>
              <a:rPr lang="en-US" sz="3400" b="1" dirty="0">
                <a:solidFill>
                  <a:srgbClr val="0D9488"/>
                </a:solidFill>
                <a:latin typeface="Georgia" pitchFamily="34" charset="0"/>
                <a:ea typeface="Georgia" pitchFamily="34" charset="-122"/>
                <a:cs typeface="Georgia" pitchFamily="34" charset="-120"/>
              </a:rPr>
              <a:t>$5.5M</a:t>
            </a:r>
            <a:endParaRPr lang="en-US" sz="3400" dirty="0"/>
          </a:p>
        </p:txBody>
      </p:sp>
      <p:sp>
        <p:nvSpPr>
          <p:cNvPr id="21" name="Text 19"/>
          <p:cNvSpPr/>
          <p:nvPr/>
        </p:nvSpPr>
        <p:spPr>
          <a:xfrm>
            <a:off x="5029200" y="3611880"/>
            <a:ext cx="1691640" cy="502920"/>
          </a:xfrm>
          <a:prstGeom prst="rect">
            <a:avLst/>
          </a:prstGeom>
          <a:noFill/>
          <a:ln/>
        </p:spPr>
        <p:txBody>
          <a:bodyPr wrap="square" lIns="0" tIns="0" rIns="0" bIns="0" rtlCol="0" anchor="ctr"/>
          <a:lstStyle/>
          <a:p>
            <a:pPr algn="l" indent="0" marL="0">
              <a:buNone/>
            </a:pPr>
            <a:r>
              <a:rPr lang="en-US" sz="1100" dirty="0">
                <a:solidFill>
                  <a:srgbClr val="1A1F2E"/>
                </a:solidFill>
                <a:latin typeface="Calibri" pitchFamily="34" charset="0"/>
                <a:ea typeface="Calibri" pitchFamily="34" charset="-122"/>
                <a:cs typeface="Calibri" pitchFamily="34" charset="-120"/>
              </a:rPr>
              <a:t>annual savings from</a:t>
            </a:r>
            <a:endParaRPr lang="en-US" sz="1100" dirty="0"/>
          </a:p>
          <a:p>
            <a:pPr algn="l" indent="0" marL="0">
              <a:buNone/>
            </a:pPr>
            <a:r>
              <a:rPr lang="en-US" sz="1100" dirty="0">
                <a:solidFill>
                  <a:srgbClr val="1A1F2E"/>
                </a:solidFill>
                <a:latin typeface="Calibri" pitchFamily="34" charset="0"/>
                <a:ea typeface="Calibri" pitchFamily="34" charset="-122"/>
                <a:cs typeface="Calibri" pitchFamily="34" charset="-120"/>
              </a:rPr>
              <a:t>avoided cases</a:t>
            </a:r>
            <a:endParaRPr lang="en-US" sz="1100" dirty="0"/>
          </a:p>
        </p:txBody>
      </p:sp>
      <p:sp>
        <p:nvSpPr>
          <p:cNvPr id="22" name="Text 20"/>
          <p:cNvSpPr/>
          <p:nvPr/>
        </p:nvSpPr>
        <p:spPr>
          <a:xfrm>
            <a:off x="6858000" y="3017520"/>
            <a:ext cx="1691640" cy="594360"/>
          </a:xfrm>
          <a:prstGeom prst="rect">
            <a:avLst/>
          </a:prstGeom>
          <a:noFill/>
          <a:ln/>
        </p:spPr>
        <p:txBody>
          <a:bodyPr wrap="square" lIns="0" tIns="0" rIns="0" bIns="0" rtlCol="0" anchor="ctr"/>
          <a:lstStyle/>
          <a:p>
            <a:pPr algn="l" indent="0" marL="0">
              <a:buNone/>
            </a:pPr>
            <a:r>
              <a:rPr lang="en-US" sz="3400" b="1" dirty="0">
                <a:solidFill>
                  <a:srgbClr val="0D9488"/>
                </a:solidFill>
                <a:latin typeface="Georgia" pitchFamily="34" charset="0"/>
                <a:ea typeface="Georgia" pitchFamily="34" charset="-122"/>
                <a:cs typeface="Georgia" pitchFamily="34" charset="-120"/>
              </a:rPr>
              <a:t>½</a:t>
            </a:r>
            <a:endParaRPr lang="en-US" sz="3400" dirty="0"/>
          </a:p>
        </p:txBody>
      </p:sp>
      <p:sp>
        <p:nvSpPr>
          <p:cNvPr id="23" name="Text 21"/>
          <p:cNvSpPr/>
          <p:nvPr/>
        </p:nvSpPr>
        <p:spPr>
          <a:xfrm>
            <a:off x="6858000" y="3611880"/>
            <a:ext cx="1691640" cy="502920"/>
          </a:xfrm>
          <a:prstGeom prst="rect">
            <a:avLst/>
          </a:prstGeom>
          <a:noFill/>
          <a:ln/>
        </p:spPr>
        <p:txBody>
          <a:bodyPr wrap="square" lIns="0" tIns="0" rIns="0" bIns="0" rtlCol="0" anchor="ctr"/>
          <a:lstStyle/>
          <a:p>
            <a:pPr algn="l" indent="0" marL="0">
              <a:buNone/>
            </a:pPr>
            <a:r>
              <a:rPr lang="en-US" sz="1100" dirty="0">
                <a:solidFill>
                  <a:srgbClr val="1A1F2E"/>
                </a:solidFill>
                <a:latin typeface="Calibri" pitchFamily="34" charset="0"/>
                <a:ea typeface="Calibri" pitchFamily="34" charset="-122"/>
                <a:cs typeface="Calibri" pitchFamily="34" charset="-120"/>
              </a:rPr>
              <a:t>the time to close</a:t>
            </a:r>
            <a:endParaRPr lang="en-US" sz="1100" dirty="0"/>
          </a:p>
          <a:p>
            <a:pPr algn="l" indent="0" marL="0">
              <a:buNone/>
            </a:pPr>
            <a:r>
              <a:rPr lang="en-US" sz="1100" dirty="0">
                <a:solidFill>
                  <a:srgbClr val="1A1F2E"/>
                </a:solidFill>
                <a:latin typeface="Calibri" pitchFamily="34" charset="0"/>
                <a:ea typeface="Calibri" pitchFamily="34" charset="-122"/>
                <a:cs typeface="Calibri" pitchFamily="34" charset="-120"/>
              </a:rPr>
              <a:t>an incident</a:t>
            </a:r>
            <a:endParaRPr lang="en-US" sz="1100" dirty="0"/>
          </a:p>
        </p:txBody>
      </p:sp>
      <p:sp>
        <p:nvSpPr>
          <p:cNvPr id="24" name="Shape 22"/>
          <p:cNvSpPr/>
          <p:nvPr/>
        </p:nvSpPr>
        <p:spPr>
          <a:xfrm>
            <a:off x="5029200" y="4343400"/>
            <a:ext cx="3520440" cy="22860"/>
          </a:xfrm>
          <a:prstGeom prst="rect">
            <a:avLst/>
          </a:prstGeom>
          <a:solidFill>
            <a:srgbClr val="E2E8F0"/>
          </a:solidFill>
          <a:ln w="12700">
            <a:solidFill>
              <a:srgbClr val="E2E8F0"/>
            </a:solidFill>
            <a:prstDash val="solid"/>
          </a:ln>
        </p:spPr>
      </p:sp>
      <p:sp>
        <p:nvSpPr>
          <p:cNvPr id="25" name="Text 23"/>
          <p:cNvSpPr/>
          <p:nvPr/>
        </p:nvSpPr>
        <p:spPr>
          <a:xfrm>
            <a:off x="5029200" y="4389120"/>
            <a:ext cx="3520440" cy="201168"/>
          </a:xfrm>
          <a:prstGeom prst="rect">
            <a:avLst/>
          </a:prstGeom>
          <a:noFill/>
          <a:ln/>
        </p:spPr>
        <p:txBody>
          <a:bodyPr wrap="square" lIns="0" tIns="0" rIns="0" bIns="0" rtlCol="0" anchor="ctr"/>
          <a:lstStyle/>
          <a:p>
            <a:pPr algn="l" indent="0" marL="0">
              <a:buNone/>
            </a:pPr>
            <a:r>
              <a:rPr lang="en-US" sz="1100" i="1" dirty="0">
                <a:solidFill>
                  <a:srgbClr val="0D9488"/>
                </a:solidFill>
                <a:latin typeface="Calibri" pitchFamily="34" charset="0"/>
                <a:ea typeface="Calibri" pitchFamily="34" charset="-122"/>
                <a:cs typeface="Calibri" pitchFamily="34" charset="-120"/>
              </a:rPr>
              <a:t>These are not productivity statistics. They are business outcomes.</a:t>
            </a:r>
            <a:endParaRPr lang="en-US" sz="1100" dirty="0"/>
          </a:p>
        </p:txBody>
      </p:sp>
      <p:sp>
        <p:nvSpPr>
          <p:cNvPr id="26" name="Text 24"/>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[9] Hans de Visser (CPO, Mendix/Siemens), Section AI:ROI Conference.  [3] Section, "How to Measure AI Success," Spring 2026.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D4ED8"/>
          </a:solidFill>
          <a:ln w="12700">
            <a:solidFill>
              <a:srgbClr val="1D4ED8"/>
            </a:solidFill>
            <a:prstDash val="solid"/>
          </a:ln>
        </p:spPr>
      </p:sp>
      <p:sp>
        <p:nvSpPr>
          <p:cNvPr id="3" name="Text 1"/>
          <p:cNvSpPr/>
          <p:nvPr/>
        </p:nvSpPr>
        <p:spPr>
          <a:xfrm>
            <a:off x="2743200" y="274320"/>
            <a:ext cx="5943600" cy="4114800"/>
          </a:xfrm>
          <a:prstGeom prst="rect">
            <a:avLst/>
          </a:prstGeom>
          <a:noFill/>
          <a:ln/>
        </p:spPr>
        <p:txBody>
          <a:bodyPr wrap="square" lIns="0" tIns="0" rIns="0" bIns="0" rtlCol="0" anchor="ctr"/>
          <a:lstStyle/>
          <a:p>
            <a:pPr algn="r" indent="0" marL="0">
              <a:buNone/>
            </a:pPr>
            <a:r>
              <a:rPr lang="en-US" sz="20000" b="1" dirty="0">
                <a:solidFill>
                  <a:srgbClr val="0A1525"/>
                </a:solidFill>
                <a:latin typeface="Georgia" pitchFamily="34" charset="0"/>
                <a:ea typeface="Georgia" pitchFamily="34" charset="-122"/>
                <a:cs typeface="Georgia" pitchFamily="34" charset="-120"/>
              </a:rPr>
              <a:t>05</a:t>
            </a:r>
            <a:endParaRPr lang="en-US" sz="20000" dirty="0"/>
          </a:p>
        </p:txBody>
      </p:sp>
      <p:sp>
        <p:nvSpPr>
          <p:cNvPr id="4" name="Text 2"/>
          <p:cNvSpPr/>
          <p:nvPr/>
        </p:nvSpPr>
        <p:spPr>
          <a:xfrm>
            <a:off x="457200" y="1188720"/>
            <a:ext cx="6400800" cy="365760"/>
          </a:xfrm>
          <a:prstGeom prst="rect">
            <a:avLst/>
          </a:prstGeom>
          <a:noFill/>
          <a:ln/>
        </p:spPr>
        <p:txBody>
          <a:bodyPr wrap="square" lIns="0" tIns="0" rIns="0" bIns="0" rtlCol="0" anchor="ctr"/>
          <a:lstStyle/>
          <a:p>
            <a:pPr algn="l" indent="0" marL="0">
              <a:buNone/>
            </a:pPr>
            <a:r>
              <a:rPr lang="en-US" sz="1100" b="1" spc="400" kern="0" dirty="0">
                <a:solidFill>
                  <a:srgbClr val="1D4ED8"/>
                </a:solidFill>
                <a:latin typeface="Calibri" pitchFamily="34" charset="0"/>
                <a:ea typeface="Calibri" pitchFamily="34" charset="-122"/>
                <a:cs typeface="Calibri" pitchFamily="34" charset="-120"/>
              </a:rPr>
              <a:t>MODULE 05</a:t>
            </a:r>
            <a:endParaRPr lang="en-US" sz="1100" dirty="0"/>
          </a:p>
        </p:txBody>
      </p:sp>
      <p:sp>
        <p:nvSpPr>
          <p:cNvPr id="5" name="Text 3"/>
          <p:cNvSpPr/>
          <p:nvPr/>
        </p:nvSpPr>
        <p:spPr>
          <a:xfrm>
            <a:off x="457200" y="1664208"/>
            <a:ext cx="7315200" cy="1737360"/>
          </a:xfrm>
          <a:prstGeom prst="rect">
            <a:avLst/>
          </a:prstGeom>
          <a:noFill/>
          <a:ln/>
        </p:spPr>
        <p:txBody>
          <a:bodyPr wrap="square" lIns="0" tIns="0" rIns="0" bIns="0" rtlCol="0" anchor="ctr"/>
          <a:lstStyle/>
          <a:p>
            <a:pPr algn="l" indent="0" marL="0">
              <a:buNone/>
            </a:pPr>
            <a:r>
              <a:rPr lang="en-US" sz="5200" b="1" dirty="0">
                <a:solidFill>
                  <a:srgbClr val="FFFFFF"/>
                </a:solidFill>
                <a:latin typeface="Georgia" pitchFamily="34" charset="0"/>
                <a:ea typeface="Georgia" pitchFamily="34" charset="-122"/>
                <a:cs typeface="Georgia" pitchFamily="34" charset="-120"/>
              </a:rPr>
              <a:t>Build for</a:t>
            </a:r>
            <a:endParaRPr lang="en-US" sz="5200" dirty="0"/>
          </a:p>
          <a:p>
            <a:pPr algn="l" indent="0" marL="0">
              <a:buNone/>
            </a:pPr>
            <a:r>
              <a:rPr lang="en-US" sz="5200" b="1" dirty="0">
                <a:solidFill>
                  <a:srgbClr val="FFFFFF"/>
                </a:solidFill>
                <a:latin typeface="Georgia" pitchFamily="34" charset="0"/>
                <a:ea typeface="Georgia" pitchFamily="34" charset="-122"/>
                <a:cs typeface="Georgia" pitchFamily="34" charset="-120"/>
              </a:rPr>
              <a:t>What's Coming</a:t>
            </a:r>
            <a:endParaRPr lang="en-US" sz="5200" dirty="0"/>
          </a:p>
        </p:txBody>
      </p:sp>
      <p:sp>
        <p:nvSpPr>
          <p:cNvPr id="6" name="Text 4"/>
          <p:cNvSpPr/>
          <p:nvPr/>
        </p:nvSpPr>
        <p:spPr>
          <a:xfrm>
            <a:off x="457200" y="3547872"/>
            <a:ext cx="6858000" cy="685800"/>
          </a:xfrm>
          <a:prstGeom prst="rect">
            <a:avLst/>
          </a:prstGeom>
          <a:noFill/>
          <a:ln/>
        </p:spPr>
        <p:txBody>
          <a:bodyPr wrap="square" lIns="0" tIns="0" rIns="0" bIns="0" rtlCol="0" anchor="ctr"/>
          <a:lstStyle/>
          <a:p>
            <a:pPr algn="l" indent="0" marL="0">
              <a:buNone/>
            </a:pPr>
            <a:r>
              <a:rPr lang="en-US" sz="1500" dirty="0">
                <a:solidFill>
                  <a:srgbClr val="94A3B8"/>
                </a:solidFill>
                <a:latin typeface="Calibri" pitchFamily="34" charset="0"/>
                <a:ea typeface="Calibri" pitchFamily="34" charset="-122"/>
                <a:cs typeface="Calibri" pitchFamily="34" charset="-120"/>
              </a:rPr>
              <a:t>AI is not a destination. It is a moving system.</a:t>
            </a:r>
            <a:endParaRPr lang="en-US" sz="1500" dirty="0"/>
          </a:p>
          <a:p>
            <a:pPr algn="l" indent="0" marL="0">
              <a:buNone/>
            </a:pPr>
            <a:r>
              <a:rPr lang="en-US" sz="1500" dirty="0">
                <a:solidFill>
                  <a:srgbClr val="94A3B8"/>
                </a:solidFill>
                <a:latin typeface="Calibri" pitchFamily="34" charset="0"/>
                <a:ea typeface="Calibri" pitchFamily="34" charset="-122"/>
                <a:cs typeface="Calibri" pitchFamily="34" charset="-120"/>
              </a:rPr>
              <a:t>Your organization needs to be able to move with it.</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D4ED8"/>
          </a:solidFill>
          <a:ln w="12700">
            <a:solidFill>
              <a:srgbClr val="1D4ED8"/>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05  ·  BUILD FOR WHAT'S COMING</a:t>
            </a:r>
            <a:endParaRPr lang="en-US" sz="1000" dirty="0"/>
          </a:p>
        </p:txBody>
      </p:sp>
      <p:sp>
        <p:nvSpPr>
          <p:cNvPr id="4" name="Shape 2"/>
          <p:cNvSpPr/>
          <p:nvPr/>
        </p:nvSpPr>
        <p:spPr>
          <a:xfrm>
            <a:off x="365760" y="292608"/>
            <a:ext cx="8412480" cy="777240"/>
          </a:xfrm>
          <a:prstGeom prst="rect">
            <a:avLst/>
          </a:prstGeom>
          <a:solidFill>
            <a:srgbClr val="0D1421"/>
          </a:solidFill>
          <a:ln w="12700">
            <a:solidFill>
              <a:srgbClr val="0D1421"/>
            </a:solidFill>
            <a:prstDash val="solid"/>
          </a:ln>
        </p:spPr>
      </p:sp>
      <p:sp>
        <p:nvSpPr>
          <p:cNvPr id="5" name="Shape 3"/>
          <p:cNvSpPr/>
          <p:nvPr/>
        </p:nvSpPr>
        <p:spPr>
          <a:xfrm>
            <a:off x="365760" y="292608"/>
            <a:ext cx="91440" cy="777240"/>
          </a:xfrm>
          <a:prstGeom prst="rect">
            <a:avLst/>
          </a:prstGeom>
          <a:solidFill>
            <a:srgbClr val="1D4ED8"/>
          </a:solidFill>
          <a:ln w="12700">
            <a:solidFill>
              <a:srgbClr val="1D4ED8"/>
            </a:solidFill>
            <a:prstDash val="solid"/>
          </a:ln>
        </p:spPr>
      </p:sp>
      <p:sp>
        <p:nvSpPr>
          <p:cNvPr id="6" name="Text 4"/>
          <p:cNvSpPr/>
          <p:nvPr/>
        </p:nvSpPr>
        <p:spPr>
          <a:xfrm>
            <a:off x="594360" y="384048"/>
            <a:ext cx="8138160" cy="566928"/>
          </a:xfrm>
          <a:prstGeom prst="rect">
            <a:avLst/>
          </a:prstGeom>
          <a:noFill/>
          <a:ln/>
        </p:spPr>
        <p:txBody>
          <a:bodyPr wrap="square" lIns="0" tIns="0" rIns="0" bIns="0" rtlCol="0" anchor="ctr"/>
          <a:lstStyle/>
          <a:p>
            <a:pPr algn="l" indent="0" marL="0">
              <a:buNone/>
            </a:pPr>
            <a:r>
              <a:rPr lang="en-US" sz="1350" i="1" dirty="0">
                <a:solidFill>
                  <a:srgbClr val="FFFFFF"/>
                </a:solidFill>
                <a:latin typeface="Georgia" pitchFamily="34" charset="0"/>
                <a:ea typeface="Georgia" pitchFamily="34" charset="-122"/>
                <a:cs typeface="Georgia" pitchFamily="34" charset="-120"/>
              </a:rPr>
              <a:t>"We have left the era of AI that speaks with us — to enter the era of AI that works for us."  — Brice Challamel, OpenAI (Section AI:ROI Conference)</a:t>
            </a:r>
            <a:endParaRPr lang="en-US" sz="1350" dirty="0"/>
          </a:p>
        </p:txBody>
      </p:sp>
      <p:sp>
        <p:nvSpPr>
          <p:cNvPr id="7" name="Text 5"/>
          <p:cNvSpPr/>
          <p:nvPr/>
        </p:nvSpPr>
        <p:spPr>
          <a:xfrm>
            <a:off x="457200" y="1188720"/>
            <a:ext cx="8229600" cy="438912"/>
          </a:xfrm>
          <a:prstGeom prst="rect">
            <a:avLst/>
          </a:prstGeom>
          <a:noFill/>
          <a:ln/>
        </p:spPr>
        <p:txBody>
          <a:bodyPr wrap="square" lIns="0" tIns="0" rIns="0" bIns="0" rtlCol="0" anchor="ctr"/>
          <a:lstStyle/>
          <a:p>
            <a:pPr algn="l" indent="0" marL="0">
              <a:buNone/>
            </a:pPr>
            <a:r>
              <a:rPr lang="en-US" sz="2000" b="1" dirty="0">
                <a:solidFill>
                  <a:srgbClr val="1A1F2E"/>
                </a:solidFill>
                <a:latin typeface="Georgia" pitchFamily="34" charset="0"/>
                <a:ea typeface="Georgia" pitchFamily="34" charset="-122"/>
                <a:cs typeface="Georgia" pitchFamily="34" charset="-120"/>
              </a:rPr>
              <a:t>The Three Foundation Components</a:t>
            </a:r>
            <a:endParaRPr lang="en-US" sz="2000" dirty="0"/>
          </a:p>
        </p:txBody>
      </p:sp>
      <p:sp>
        <p:nvSpPr>
          <p:cNvPr id="8" name="Shape 6"/>
          <p:cNvSpPr/>
          <p:nvPr/>
        </p:nvSpPr>
        <p:spPr>
          <a:xfrm>
            <a:off x="365760" y="1508760"/>
            <a:ext cx="8412480" cy="932688"/>
          </a:xfrm>
          <a:prstGeom prst="rect">
            <a:avLst/>
          </a:prstGeom>
          <a:solidFill>
            <a:srgbClr val="FFFFFF"/>
          </a:solidFill>
          <a:ln w="12700">
            <a:solidFill>
              <a:srgbClr val="FFFFFF"/>
            </a:solidFill>
            <a:prstDash val="solid"/>
          </a:ln>
        </p:spPr>
      </p:sp>
      <p:sp>
        <p:nvSpPr>
          <p:cNvPr id="9" name="Shape 7"/>
          <p:cNvSpPr/>
          <p:nvPr/>
        </p:nvSpPr>
        <p:spPr>
          <a:xfrm>
            <a:off x="365760" y="1508760"/>
            <a:ext cx="91440" cy="932688"/>
          </a:xfrm>
          <a:prstGeom prst="rect">
            <a:avLst/>
          </a:prstGeom>
          <a:solidFill>
            <a:srgbClr val="1D4ED8"/>
          </a:solidFill>
          <a:ln w="12700">
            <a:solidFill>
              <a:srgbClr val="1D4ED8"/>
            </a:solidFill>
            <a:prstDash val="solid"/>
          </a:ln>
        </p:spPr>
      </p:sp>
      <p:sp>
        <p:nvSpPr>
          <p:cNvPr id="10" name="Text 8"/>
          <p:cNvSpPr/>
          <p:nvPr/>
        </p:nvSpPr>
        <p:spPr>
          <a:xfrm>
            <a:off x="594360" y="1600200"/>
            <a:ext cx="7863840" cy="329184"/>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01  Organizational Intent Infrastructure</a:t>
            </a:r>
            <a:endParaRPr lang="en-US" sz="1350" dirty="0"/>
          </a:p>
        </p:txBody>
      </p:sp>
      <p:sp>
        <p:nvSpPr>
          <p:cNvPr id="11" name="Text 9"/>
          <p:cNvSpPr/>
          <p:nvPr/>
        </p:nvSpPr>
        <p:spPr>
          <a:xfrm>
            <a:off x="594360" y="1947672"/>
            <a:ext cx="7863840" cy="438912"/>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The organizations that win won't have the best models — they'll have organizational intent encoded in a form that AI agents can act on. OKRs were built for humans who fill in gaps with judgment. Agents execute what they are given. "The race is an intent race." — Nate B Jones, AI Strategist &amp; Product Leader, fmr. PM at Amazon</a:t>
            </a:r>
            <a:endParaRPr lang="en-US" sz="1050" dirty="0"/>
          </a:p>
        </p:txBody>
      </p:sp>
      <p:sp>
        <p:nvSpPr>
          <p:cNvPr id="12" name="Shape 10"/>
          <p:cNvSpPr/>
          <p:nvPr/>
        </p:nvSpPr>
        <p:spPr>
          <a:xfrm>
            <a:off x="365760" y="2532888"/>
            <a:ext cx="8412480" cy="932688"/>
          </a:xfrm>
          <a:prstGeom prst="rect">
            <a:avLst/>
          </a:prstGeom>
          <a:solidFill>
            <a:srgbClr val="FFFFFF"/>
          </a:solidFill>
          <a:ln w="12700">
            <a:solidFill>
              <a:srgbClr val="FFFFFF"/>
            </a:solidFill>
            <a:prstDash val="solid"/>
          </a:ln>
        </p:spPr>
      </p:sp>
      <p:sp>
        <p:nvSpPr>
          <p:cNvPr id="13" name="Shape 11"/>
          <p:cNvSpPr/>
          <p:nvPr/>
        </p:nvSpPr>
        <p:spPr>
          <a:xfrm>
            <a:off x="365760" y="2532888"/>
            <a:ext cx="91440" cy="932688"/>
          </a:xfrm>
          <a:prstGeom prst="rect">
            <a:avLst/>
          </a:prstGeom>
          <a:solidFill>
            <a:srgbClr val="0D9488"/>
          </a:solidFill>
          <a:ln w="12700">
            <a:solidFill>
              <a:srgbClr val="0D9488"/>
            </a:solidFill>
            <a:prstDash val="solid"/>
          </a:ln>
        </p:spPr>
      </p:sp>
      <p:sp>
        <p:nvSpPr>
          <p:cNvPr id="14" name="Text 12"/>
          <p:cNvSpPr/>
          <p:nvPr/>
        </p:nvSpPr>
        <p:spPr>
          <a:xfrm>
            <a:off x="594360" y="2624328"/>
            <a:ext cx="7863840" cy="329184"/>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02  Governance as Architecture</a:t>
            </a:r>
            <a:endParaRPr lang="en-US" sz="1350" dirty="0"/>
          </a:p>
        </p:txBody>
      </p:sp>
      <p:sp>
        <p:nvSpPr>
          <p:cNvPr id="15" name="Text 13"/>
          <p:cNvSpPr/>
          <p:nvPr/>
        </p:nvSpPr>
        <p:spPr>
          <a:xfrm>
            <a:off x="594360" y="2971800"/>
            <a:ext cx="7863840" cy="438912"/>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Governance built into workflow architecture is an accelerant, not a speed bump. Cisco's principle: discover what AI is being used for, detect where risk concentrates, protect where it matters. Organizations that treat governance as a cost of business will find it slows them down.</a:t>
            </a:r>
            <a:endParaRPr lang="en-US" sz="1050" dirty="0"/>
          </a:p>
        </p:txBody>
      </p:sp>
      <p:sp>
        <p:nvSpPr>
          <p:cNvPr id="16" name="Shape 14"/>
          <p:cNvSpPr/>
          <p:nvPr/>
        </p:nvSpPr>
        <p:spPr>
          <a:xfrm>
            <a:off x="365760" y="3557016"/>
            <a:ext cx="8412480" cy="932688"/>
          </a:xfrm>
          <a:prstGeom prst="rect">
            <a:avLst/>
          </a:prstGeom>
          <a:solidFill>
            <a:srgbClr val="FFFFFF"/>
          </a:solidFill>
          <a:ln w="12700">
            <a:solidFill>
              <a:srgbClr val="FFFFFF"/>
            </a:solidFill>
            <a:prstDash val="solid"/>
          </a:ln>
        </p:spPr>
      </p:sp>
      <p:sp>
        <p:nvSpPr>
          <p:cNvPr id="17" name="Shape 15"/>
          <p:cNvSpPr/>
          <p:nvPr/>
        </p:nvSpPr>
        <p:spPr>
          <a:xfrm>
            <a:off x="365760" y="3557016"/>
            <a:ext cx="91440" cy="932688"/>
          </a:xfrm>
          <a:prstGeom prst="rect">
            <a:avLst/>
          </a:prstGeom>
          <a:solidFill>
            <a:srgbClr val="E85D04"/>
          </a:solidFill>
          <a:ln w="12700">
            <a:solidFill>
              <a:srgbClr val="E85D04"/>
            </a:solidFill>
            <a:prstDash val="solid"/>
          </a:ln>
        </p:spPr>
      </p:sp>
      <p:sp>
        <p:nvSpPr>
          <p:cNvPr id="18" name="Text 16"/>
          <p:cNvSpPr/>
          <p:nvPr/>
        </p:nvSpPr>
        <p:spPr>
          <a:xfrm>
            <a:off x="594360" y="3648456"/>
            <a:ext cx="7863840" cy="329184"/>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03  The Sustainability Imperative</a:t>
            </a:r>
            <a:endParaRPr lang="en-US" sz="1350" dirty="0"/>
          </a:p>
        </p:txBody>
      </p:sp>
      <p:sp>
        <p:nvSpPr>
          <p:cNvPr id="19" name="Text 17"/>
          <p:cNvSpPr/>
          <p:nvPr/>
        </p:nvSpPr>
        <p:spPr>
          <a:xfrm>
            <a:off x="594360" y="3995928"/>
            <a:ext cx="7863840" cy="438912"/>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AI intensifies work — it does not reduce it. Treat human workforce capacity as a design constraint, not an afterthought. Without governing how AI reshapes the pace of human work, you create a self-reinforcing acceleration cycle that is not sustainable.</a:t>
            </a:r>
            <a:endParaRPr lang="en-US" sz="1050" dirty="0"/>
          </a:p>
        </p:txBody>
      </p:sp>
      <p:sp>
        <p:nvSpPr>
          <p:cNvPr id="20" name="Text 18"/>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[4] Nate B Jones, AI Strategist &amp; Product Leader.  [9] Section, "AI:ROI Conference" (Cisco, OpenAI segments).</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D4ED8"/>
          </a:solidFill>
          <a:ln w="12700">
            <a:solidFill>
              <a:srgbClr val="1D4ED8"/>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05  ·  THE LONG VIEW</a:t>
            </a:r>
            <a:endParaRPr lang="en-US" sz="1000" dirty="0"/>
          </a:p>
        </p:txBody>
      </p:sp>
      <p:sp>
        <p:nvSpPr>
          <p:cNvPr id="4" name="Text 2"/>
          <p:cNvSpPr/>
          <p:nvPr/>
        </p:nvSpPr>
        <p:spPr>
          <a:xfrm>
            <a:off x="457200" y="475488"/>
            <a:ext cx="8229600" cy="621792"/>
          </a:xfrm>
          <a:prstGeom prst="rect">
            <a:avLst/>
          </a:prstGeom>
          <a:noFill/>
          <a:ln/>
        </p:spPr>
        <p:txBody>
          <a:bodyPr wrap="square" lIns="0" tIns="0" rIns="0" bIns="0" rtlCol="0" anchor="ctr"/>
          <a:lstStyle/>
          <a:p>
            <a:pPr algn="l" indent="0" marL="0">
              <a:buNone/>
            </a:pPr>
            <a:r>
              <a:rPr lang="en-US" sz="3400" b="1" dirty="0">
                <a:solidFill>
                  <a:srgbClr val="FFFFFF"/>
                </a:solidFill>
                <a:latin typeface="Georgia" pitchFamily="34" charset="0"/>
                <a:ea typeface="Georgia" pitchFamily="34" charset="-122"/>
                <a:cs typeface="Georgia" pitchFamily="34" charset="-120"/>
              </a:rPr>
              <a:t>The Allocation Economy</a:t>
            </a:r>
            <a:endParaRPr lang="en-US" sz="3400" dirty="0"/>
          </a:p>
        </p:txBody>
      </p:sp>
      <p:sp>
        <p:nvSpPr>
          <p:cNvPr id="5" name="Shape 3"/>
          <p:cNvSpPr/>
          <p:nvPr/>
        </p:nvSpPr>
        <p:spPr>
          <a:xfrm>
            <a:off x="365760" y="1261872"/>
            <a:ext cx="8412480" cy="1188720"/>
          </a:xfrm>
          <a:prstGeom prst="rect">
            <a:avLst/>
          </a:prstGeom>
          <a:solidFill>
            <a:srgbClr val="1A2B44"/>
          </a:solidFill>
          <a:ln w="12700">
            <a:solidFill>
              <a:srgbClr val="1A2B44"/>
            </a:solidFill>
            <a:prstDash val="solid"/>
          </a:ln>
        </p:spPr>
      </p:sp>
      <p:sp>
        <p:nvSpPr>
          <p:cNvPr id="6" name="Shape 4"/>
          <p:cNvSpPr/>
          <p:nvPr/>
        </p:nvSpPr>
        <p:spPr>
          <a:xfrm>
            <a:off x="365760" y="1261872"/>
            <a:ext cx="91440" cy="1188720"/>
          </a:xfrm>
          <a:prstGeom prst="rect">
            <a:avLst/>
          </a:prstGeom>
          <a:solidFill>
            <a:srgbClr val="1D4ED8"/>
          </a:solidFill>
          <a:ln w="12700">
            <a:solidFill>
              <a:srgbClr val="1D4ED8"/>
            </a:solidFill>
            <a:prstDash val="solid"/>
          </a:ln>
        </p:spPr>
      </p:sp>
      <p:sp>
        <p:nvSpPr>
          <p:cNvPr id="7" name="Text 5"/>
          <p:cNvSpPr/>
          <p:nvPr/>
        </p:nvSpPr>
        <p:spPr>
          <a:xfrm>
            <a:off x="594360" y="1371600"/>
            <a:ext cx="7909560" cy="960120"/>
          </a:xfrm>
          <a:prstGeom prst="rect">
            <a:avLst/>
          </a:prstGeom>
          <a:noFill/>
          <a:ln/>
        </p:spPr>
        <p:txBody>
          <a:bodyPr wrap="square" lIns="0" tIns="0" rIns="0" bIns="0" rtlCol="0" anchor="ctr"/>
          <a:lstStyle/>
          <a:p>
            <a:pPr algn="l" indent="0" marL="0">
              <a:buNone/>
            </a:pPr>
            <a:r>
              <a:rPr lang="en-US" sz="1800" b="1" dirty="0">
                <a:solidFill>
                  <a:srgbClr val="FFFFFF"/>
                </a:solidFill>
                <a:latin typeface="Georgia" pitchFamily="34" charset="0"/>
                <a:ea typeface="Georgia" pitchFamily="34" charset="-122"/>
                <a:cs typeface="Georgia" pitchFamily="34" charset="-120"/>
              </a:rPr>
              <a:t>Individuals are increasingly judged not by the limits of their subject matter expertise, but by how well they can allocate and manage AI resources to get work done.</a:t>
            </a:r>
            <a:endParaRPr lang="en-US" sz="1800" dirty="0"/>
          </a:p>
        </p:txBody>
      </p:sp>
      <p:sp>
        <p:nvSpPr>
          <p:cNvPr id="8" name="Shape 6"/>
          <p:cNvSpPr/>
          <p:nvPr/>
        </p:nvSpPr>
        <p:spPr>
          <a:xfrm>
            <a:off x="365760" y="2606040"/>
            <a:ext cx="8412480" cy="1965960"/>
          </a:xfrm>
          <a:prstGeom prst="rect">
            <a:avLst/>
          </a:prstGeom>
          <a:solidFill>
            <a:srgbClr val="101828"/>
          </a:solidFill>
          <a:ln w="12700">
            <a:solidFill>
              <a:srgbClr val="101828"/>
            </a:solidFill>
            <a:prstDash val="solid"/>
          </a:ln>
        </p:spPr>
      </p:sp>
      <p:sp>
        <p:nvSpPr>
          <p:cNvPr id="9" name="Shape 7"/>
          <p:cNvSpPr/>
          <p:nvPr/>
        </p:nvSpPr>
        <p:spPr>
          <a:xfrm>
            <a:off x="365760" y="2606040"/>
            <a:ext cx="91440" cy="1965960"/>
          </a:xfrm>
          <a:prstGeom prst="rect">
            <a:avLst/>
          </a:prstGeom>
          <a:solidFill>
            <a:srgbClr val="F9C74F"/>
          </a:solidFill>
          <a:ln w="12700">
            <a:solidFill>
              <a:srgbClr val="F9C74F"/>
            </a:solidFill>
            <a:prstDash val="solid"/>
          </a:ln>
        </p:spPr>
      </p:sp>
      <p:sp>
        <p:nvSpPr>
          <p:cNvPr id="10" name="Text 8"/>
          <p:cNvSpPr/>
          <p:nvPr/>
        </p:nvSpPr>
        <p:spPr>
          <a:xfrm>
            <a:off x="594360" y="2697480"/>
            <a:ext cx="7863840" cy="384048"/>
          </a:xfrm>
          <a:prstGeom prst="rect">
            <a:avLst/>
          </a:prstGeom>
          <a:noFill/>
          <a:ln/>
        </p:spPr>
        <p:txBody>
          <a:bodyPr wrap="square" lIns="0" tIns="0" rIns="0" bIns="0" rtlCol="0" anchor="ctr"/>
          <a:lstStyle/>
          <a:p>
            <a:pPr algn="l" indent="0" marL="0">
              <a:buNone/>
            </a:pPr>
            <a:r>
              <a:rPr lang="en-US" sz="1500" b="1" dirty="0">
                <a:solidFill>
                  <a:srgbClr val="F9C74F"/>
                </a:solidFill>
                <a:latin typeface="Georgia" pitchFamily="34" charset="0"/>
                <a:ea typeface="Georgia" pitchFamily="34" charset="-122"/>
                <a:cs typeface="Georgia" pitchFamily="34" charset="-120"/>
              </a:rPr>
              <a:t>Engineering as a Leading Indicator</a:t>
            </a:r>
            <a:endParaRPr lang="en-US" sz="1500" dirty="0"/>
          </a:p>
        </p:txBody>
      </p:sp>
      <p:sp>
        <p:nvSpPr>
          <p:cNvPr id="11" name="Text 9"/>
          <p:cNvSpPr/>
          <p:nvPr/>
        </p:nvSpPr>
        <p:spPr>
          <a:xfrm>
            <a:off x="594360" y="3127248"/>
            <a:ext cx="7863840" cy="1325880"/>
          </a:xfrm>
          <a:prstGeom prst="rect">
            <a:avLst/>
          </a:prstGeom>
          <a:noFill/>
          <a:ln/>
        </p:spPr>
        <p:txBody>
          <a:bodyPr wrap="square" lIns="0" tIns="0" rIns="0" bIns="0" rtlCol="0" anchor="t"/>
          <a:lstStyle/>
          <a:p>
            <a:pPr algn="l" indent="0" marL="0">
              <a:buNone/>
            </a:pPr>
            <a:r>
              <a:rPr lang="en-US" sz="1250" dirty="0">
                <a:solidFill>
                  <a:srgbClr val="94A3B8"/>
                </a:solidFill>
                <a:latin typeface="Calibri" pitchFamily="34" charset="0"/>
                <a:ea typeface="Calibri" pitchFamily="34" charset="-122"/>
                <a:cs typeface="Calibri" pitchFamily="34" charset="-120"/>
              </a:rPr>
              <a:t>Engineers have already made this transition: from writing code to directing AI agents that write code. The same shift is coming for every white-collar function — sales, marketing, finance, operations, HR.</a:t>
            </a:r>
            <a:endParaRPr lang="en-US" sz="1250" dirty="0"/>
          </a:p>
          <a:p>
            <a:pPr algn="l" indent="0" marL="0">
              <a:buNone/>
            </a:pPr>
            <a:endParaRPr lang="en-US" sz="1250" dirty="0"/>
          </a:p>
          <a:p>
            <a:pPr algn="l" indent="0" marL="0">
              <a:buNone/>
            </a:pPr>
            <a:r>
              <a:rPr lang="en-US" sz="1250" dirty="0">
                <a:solidFill>
                  <a:srgbClr val="94A3B8"/>
                </a:solidFill>
                <a:latin typeface="Calibri" pitchFamily="34" charset="0"/>
                <a:ea typeface="Calibri" pitchFamily="34" charset="-122"/>
                <a:cs typeface="Calibri" pitchFamily="34" charset="-120"/>
              </a:rPr>
              <a:t>Organizations that build workforce capability for the allocation economy now — in parallel with tool deployment and workflow automation — will have a durable advantage. Those treating AI purely as a productivity layer will find that advantage evaporates as the tools commoditize.</a:t>
            </a:r>
            <a:endParaRPr lang="en-US" sz="1250" dirty="0"/>
          </a:p>
        </p:txBody>
      </p:sp>
      <p:sp>
        <p:nvSpPr>
          <p:cNvPr id="12" name="Text 10"/>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[12] Natalia Quintero, "The Next Chapter of Every Consulting," Every, Feb 3, 2026.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rgbClr val="1A1F2E"/>
                </a:solidFill>
                <a:latin typeface="Georgia" pitchFamily="34" charset="0"/>
                <a:ea typeface="Georgia" pitchFamily="34" charset="-122"/>
                <a:cs typeface="Georgia" pitchFamily="34" charset="-120"/>
              </a:rPr>
              <a:t>Getting Started</a:t>
            </a:r>
            <a:endParaRPr lang="en-US" sz="2600" dirty="0"/>
          </a:p>
        </p:txBody>
      </p:sp>
      <p:sp>
        <p:nvSpPr>
          <p:cNvPr id="4" name="Text 2"/>
          <p:cNvSpPr/>
          <p:nvPr/>
        </p:nvSpPr>
        <p:spPr>
          <a:xfrm>
            <a:off x="457200" y="886968"/>
            <a:ext cx="8229600" cy="365760"/>
          </a:xfrm>
          <a:prstGeom prst="rect">
            <a:avLst/>
          </a:prstGeom>
          <a:noFill/>
          <a:ln/>
        </p:spPr>
        <p:txBody>
          <a:bodyPr wrap="square" lIns="0" tIns="0" rIns="0" bIns="0" rtlCol="0" anchor="ctr"/>
          <a:lstStyle/>
          <a:p>
            <a:pPr algn="l" indent="0" marL="0">
              <a:buNone/>
            </a:pPr>
            <a:r>
              <a:rPr lang="en-US" sz="1350" dirty="0">
                <a:solidFill>
                  <a:srgbClr val="6B7280"/>
                </a:solidFill>
                <a:latin typeface="Calibri" pitchFamily="34" charset="0"/>
                <a:ea typeface="Calibri" pitchFamily="34" charset="-122"/>
                <a:cs typeface="Calibri" pitchFamily="34" charset="-120"/>
              </a:rPr>
              <a:t>The full framework moves from conversation to roadmap in four to six weeks.</a:t>
            </a:r>
            <a:endParaRPr lang="en-US" sz="1350" dirty="0"/>
          </a:p>
        </p:txBody>
      </p:sp>
      <p:sp>
        <p:nvSpPr>
          <p:cNvPr id="5" name="Shape 3"/>
          <p:cNvSpPr/>
          <p:nvPr/>
        </p:nvSpPr>
        <p:spPr>
          <a:xfrm>
            <a:off x="365760" y="1417320"/>
            <a:ext cx="1572768" cy="3108960"/>
          </a:xfrm>
          <a:prstGeom prst="rect">
            <a:avLst/>
          </a:prstGeom>
          <a:solidFill>
            <a:srgbClr val="FFFFFF"/>
          </a:solidFill>
          <a:ln w="12700">
            <a:solidFill>
              <a:srgbClr val="FFFFFF"/>
            </a:solidFill>
            <a:prstDash val="solid"/>
          </a:ln>
        </p:spPr>
      </p:sp>
      <p:sp>
        <p:nvSpPr>
          <p:cNvPr id="6" name="Shape 4"/>
          <p:cNvSpPr/>
          <p:nvPr/>
        </p:nvSpPr>
        <p:spPr>
          <a:xfrm>
            <a:off x="365760" y="1417320"/>
            <a:ext cx="1572768" cy="274320"/>
          </a:xfrm>
          <a:prstGeom prst="rect">
            <a:avLst/>
          </a:prstGeom>
          <a:solidFill>
            <a:srgbClr val="0D9488"/>
          </a:solidFill>
          <a:ln w="12700">
            <a:solidFill>
              <a:srgbClr val="0D9488"/>
            </a:solidFill>
            <a:prstDash val="solid"/>
          </a:ln>
        </p:spPr>
      </p:sp>
      <p:sp>
        <p:nvSpPr>
          <p:cNvPr id="7" name="Text 5"/>
          <p:cNvSpPr/>
          <p:nvPr/>
        </p:nvSpPr>
        <p:spPr>
          <a:xfrm>
            <a:off x="457200" y="1737360"/>
            <a:ext cx="1389888" cy="274320"/>
          </a:xfrm>
          <a:prstGeom prst="rect">
            <a:avLst/>
          </a:prstGeom>
          <a:noFill/>
          <a:ln/>
        </p:spPr>
        <p:txBody>
          <a:bodyPr wrap="square" lIns="0" tIns="0" rIns="0" bIns="0" rtlCol="0" anchor="ctr"/>
          <a:lstStyle/>
          <a:p>
            <a:pPr algn="l" indent="0" marL="0">
              <a:buNone/>
            </a:pPr>
            <a:r>
              <a:rPr lang="en-US" sz="950" b="1" dirty="0">
                <a:solidFill>
                  <a:srgbClr val="0D9488"/>
                </a:solidFill>
                <a:latin typeface="Calibri" pitchFamily="34" charset="0"/>
                <a:ea typeface="Calibri" pitchFamily="34" charset="-122"/>
                <a:cs typeface="Calibri" pitchFamily="34" charset="-120"/>
              </a:rPr>
              <a:t>Week 0</a:t>
            </a:r>
            <a:endParaRPr lang="en-US" sz="950" dirty="0"/>
          </a:p>
        </p:txBody>
      </p:sp>
      <p:sp>
        <p:nvSpPr>
          <p:cNvPr id="8" name="Text 6"/>
          <p:cNvSpPr/>
          <p:nvPr/>
        </p:nvSpPr>
        <p:spPr>
          <a:xfrm>
            <a:off x="457200" y="2039112"/>
            <a:ext cx="1389888" cy="713232"/>
          </a:xfrm>
          <a:prstGeom prst="rect">
            <a:avLst/>
          </a:prstGeom>
          <a:noFill/>
          <a:ln/>
        </p:spPr>
        <p:txBody>
          <a:bodyPr wrap="square" lIns="0" tIns="0" rIns="0" bIns="0" rtlCol="0" anchor="ctr"/>
          <a:lstStyle/>
          <a:p>
            <a:pPr algn="l" indent="0" marL="0">
              <a:buNone/>
            </a:pPr>
            <a:r>
              <a:rPr lang="en-US" sz="1500" b="1" dirty="0">
                <a:solidFill>
                  <a:srgbClr val="1A1F2E"/>
                </a:solidFill>
                <a:latin typeface="Georgia" pitchFamily="34" charset="0"/>
                <a:ea typeface="Georgia" pitchFamily="34" charset="-122"/>
                <a:cs typeface="Georgia" pitchFamily="34" charset="-120"/>
              </a:rPr>
              <a:t>90-min</a:t>
            </a:r>
            <a:endParaRPr lang="en-US" sz="1500" dirty="0"/>
          </a:p>
          <a:p>
            <a:pPr algn="l" indent="0" marL="0">
              <a:buNone/>
            </a:pPr>
            <a:r>
              <a:rPr lang="en-US" sz="1500" b="1" dirty="0">
                <a:solidFill>
                  <a:srgbClr val="1A1F2E"/>
                </a:solidFill>
                <a:latin typeface="Georgia" pitchFamily="34" charset="0"/>
                <a:ea typeface="Georgia" pitchFamily="34" charset="-122"/>
                <a:cs typeface="Georgia" pitchFamily="34" charset="-120"/>
              </a:rPr>
              <a:t>Session</a:t>
            </a:r>
            <a:endParaRPr lang="en-US" sz="1500" dirty="0"/>
          </a:p>
        </p:txBody>
      </p:sp>
      <p:sp>
        <p:nvSpPr>
          <p:cNvPr id="9" name="Shape 7"/>
          <p:cNvSpPr/>
          <p:nvPr/>
        </p:nvSpPr>
        <p:spPr>
          <a:xfrm>
            <a:off x="457200" y="2788920"/>
            <a:ext cx="1389888" cy="18288"/>
          </a:xfrm>
          <a:prstGeom prst="rect">
            <a:avLst/>
          </a:prstGeom>
          <a:solidFill>
            <a:srgbClr val="E2E8F0"/>
          </a:solidFill>
          <a:ln w="12700">
            <a:solidFill>
              <a:srgbClr val="E2E8F0"/>
            </a:solidFill>
            <a:prstDash val="solid"/>
          </a:ln>
        </p:spPr>
      </p:sp>
      <p:sp>
        <p:nvSpPr>
          <p:cNvPr id="10" name="Text 8"/>
          <p:cNvSpPr/>
          <p:nvPr/>
        </p:nvSpPr>
        <p:spPr>
          <a:xfrm>
            <a:off x="457200" y="2880360"/>
            <a:ext cx="1389888" cy="1554480"/>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Module 1: Define your AI intent. Output: a clear statement of organizational AI intent.</a:t>
            </a:r>
            <a:endParaRPr lang="en-US" sz="1050" dirty="0"/>
          </a:p>
        </p:txBody>
      </p:sp>
      <p:sp>
        <p:nvSpPr>
          <p:cNvPr id="11" name="Text 9"/>
          <p:cNvSpPr/>
          <p:nvPr/>
        </p:nvSpPr>
        <p:spPr>
          <a:xfrm>
            <a:off x="1938528" y="2834640"/>
            <a:ext cx="137160" cy="365760"/>
          </a:xfrm>
          <a:prstGeom prst="rect">
            <a:avLst/>
          </a:prstGeom>
          <a:noFill/>
          <a:ln/>
        </p:spPr>
        <p:txBody>
          <a:bodyPr wrap="square" lIns="0" tIns="0" rIns="0" bIns="0" rtlCol="0" anchor="ctr"/>
          <a:lstStyle/>
          <a:p>
            <a:pPr algn="ctr" indent="0" marL="0">
              <a:buNone/>
            </a:pPr>
            <a:r>
              <a:rPr lang="en-US" sz="1300" b="1" dirty="0">
                <a:solidFill>
                  <a:srgbClr val="E85D04"/>
                </a:solidFill>
                <a:latin typeface="Calibri" pitchFamily="34" charset="0"/>
                <a:ea typeface="Calibri" pitchFamily="34" charset="-122"/>
                <a:cs typeface="Calibri" pitchFamily="34" charset="-120"/>
              </a:rPr>
              <a:t>→</a:t>
            </a:r>
            <a:endParaRPr lang="en-US" sz="1300" dirty="0"/>
          </a:p>
        </p:txBody>
      </p:sp>
      <p:sp>
        <p:nvSpPr>
          <p:cNvPr id="12" name="Shape 10"/>
          <p:cNvSpPr/>
          <p:nvPr/>
        </p:nvSpPr>
        <p:spPr>
          <a:xfrm>
            <a:off x="2075688" y="1417320"/>
            <a:ext cx="1572768" cy="3108960"/>
          </a:xfrm>
          <a:prstGeom prst="rect">
            <a:avLst/>
          </a:prstGeom>
          <a:solidFill>
            <a:srgbClr val="FFFFFF"/>
          </a:solidFill>
          <a:ln w="12700">
            <a:solidFill>
              <a:srgbClr val="FFFFFF"/>
            </a:solidFill>
            <a:prstDash val="solid"/>
          </a:ln>
        </p:spPr>
      </p:sp>
      <p:sp>
        <p:nvSpPr>
          <p:cNvPr id="13" name="Shape 11"/>
          <p:cNvSpPr/>
          <p:nvPr/>
        </p:nvSpPr>
        <p:spPr>
          <a:xfrm>
            <a:off x="2075688" y="1417320"/>
            <a:ext cx="1572768" cy="274320"/>
          </a:xfrm>
          <a:prstGeom prst="rect">
            <a:avLst/>
          </a:prstGeom>
          <a:solidFill>
            <a:srgbClr val="0D9488"/>
          </a:solidFill>
          <a:ln w="12700">
            <a:solidFill>
              <a:srgbClr val="0D9488"/>
            </a:solidFill>
            <a:prstDash val="solid"/>
          </a:ln>
        </p:spPr>
      </p:sp>
      <p:sp>
        <p:nvSpPr>
          <p:cNvPr id="14" name="Text 12"/>
          <p:cNvSpPr/>
          <p:nvPr/>
        </p:nvSpPr>
        <p:spPr>
          <a:xfrm>
            <a:off x="2167128" y="1737360"/>
            <a:ext cx="1389888" cy="274320"/>
          </a:xfrm>
          <a:prstGeom prst="rect">
            <a:avLst/>
          </a:prstGeom>
          <a:noFill/>
          <a:ln/>
        </p:spPr>
        <p:txBody>
          <a:bodyPr wrap="square" lIns="0" tIns="0" rIns="0" bIns="0" rtlCol="0" anchor="ctr"/>
          <a:lstStyle/>
          <a:p>
            <a:pPr algn="l" indent="0" marL="0">
              <a:buNone/>
            </a:pPr>
            <a:r>
              <a:rPr lang="en-US" sz="950" b="1" dirty="0">
                <a:solidFill>
                  <a:srgbClr val="0D9488"/>
                </a:solidFill>
                <a:latin typeface="Calibri" pitchFamily="34" charset="0"/>
                <a:ea typeface="Calibri" pitchFamily="34" charset="-122"/>
                <a:cs typeface="Calibri" pitchFamily="34" charset="-120"/>
              </a:rPr>
              <a:t>Weeks 1–3</a:t>
            </a:r>
            <a:endParaRPr lang="en-US" sz="950" dirty="0"/>
          </a:p>
        </p:txBody>
      </p:sp>
      <p:sp>
        <p:nvSpPr>
          <p:cNvPr id="15" name="Text 13"/>
          <p:cNvSpPr/>
          <p:nvPr/>
        </p:nvSpPr>
        <p:spPr>
          <a:xfrm>
            <a:off x="2167128" y="2039112"/>
            <a:ext cx="1389888" cy="713232"/>
          </a:xfrm>
          <a:prstGeom prst="rect">
            <a:avLst/>
          </a:prstGeom>
          <a:noFill/>
          <a:ln/>
        </p:spPr>
        <p:txBody>
          <a:bodyPr wrap="square" lIns="0" tIns="0" rIns="0" bIns="0" rtlCol="0" anchor="ctr"/>
          <a:lstStyle/>
          <a:p>
            <a:pPr algn="l" indent="0" marL="0">
              <a:buNone/>
            </a:pPr>
            <a:r>
              <a:rPr lang="en-US" sz="1500" b="1" dirty="0">
                <a:solidFill>
                  <a:srgbClr val="1A1F2E"/>
                </a:solidFill>
                <a:latin typeface="Georgia" pitchFamily="34" charset="0"/>
                <a:ea typeface="Georgia" pitchFamily="34" charset="-122"/>
                <a:cs typeface="Georgia" pitchFamily="34" charset="-120"/>
              </a:rPr>
              <a:t>The</a:t>
            </a:r>
            <a:endParaRPr lang="en-US" sz="1500" dirty="0"/>
          </a:p>
          <a:p>
            <a:pPr algn="l" indent="0" marL="0">
              <a:buNone/>
            </a:pPr>
            <a:r>
              <a:rPr lang="en-US" sz="1500" b="1" dirty="0">
                <a:solidFill>
                  <a:srgbClr val="1A1F2E"/>
                </a:solidFill>
                <a:latin typeface="Georgia" pitchFamily="34" charset="0"/>
                <a:ea typeface="Georgia" pitchFamily="34" charset="-122"/>
                <a:cs typeface="Georgia" pitchFamily="34" charset="-120"/>
              </a:rPr>
              <a:t>Audit</a:t>
            </a:r>
            <a:endParaRPr lang="en-US" sz="1500" dirty="0"/>
          </a:p>
        </p:txBody>
      </p:sp>
      <p:sp>
        <p:nvSpPr>
          <p:cNvPr id="16" name="Shape 14"/>
          <p:cNvSpPr/>
          <p:nvPr/>
        </p:nvSpPr>
        <p:spPr>
          <a:xfrm>
            <a:off x="2167128" y="2788920"/>
            <a:ext cx="1389888" cy="18288"/>
          </a:xfrm>
          <a:prstGeom prst="rect">
            <a:avLst/>
          </a:prstGeom>
          <a:solidFill>
            <a:srgbClr val="E2E8F0"/>
          </a:solidFill>
          <a:ln w="12700">
            <a:solidFill>
              <a:srgbClr val="E2E8F0"/>
            </a:solidFill>
            <a:prstDash val="solid"/>
          </a:ln>
        </p:spPr>
      </p:sp>
      <p:sp>
        <p:nvSpPr>
          <p:cNvPr id="17" name="Text 15"/>
          <p:cNvSpPr/>
          <p:nvPr/>
        </p:nvSpPr>
        <p:spPr>
          <a:xfrm>
            <a:off x="2167128" y="2880360"/>
            <a:ext cx="1389888" cy="1554480"/>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Module 2: Three-layer audit of tools, proficiency, and measurement.</a:t>
            </a:r>
            <a:endParaRPr lang="en-US" sz="1050" dirty="0"/>
          </a:p>
        </p:txBody>
      </p:sp>
      <p:sp>
        <p:nvSpPr>
          <p:cNvPr id="18" name="Text 16"/>
          <p:cNvSpPr/>
          <p:nvPr/>
        </p:nvSpPr>
        <p:spPr>
          <a:xfrm>
            <a:off x="3648456" y="2834640"/>
            <a:ext cx="137160" cy="365760"/>
          </a:xfrm>
          <a:prstGeom prst="rect">
            <a:avLst/>
          </a:prstGeom>
          <a:noFill/>
          <a:ln/>
        </p:spPr>
        <p:txBody>
          <a:bodyPr wrap="square" lIns="0" tIns="0" rIns="0" bIns="0" rtlCol="0" anchor="ctr"/>
          <a:lstStyle/>
          <a:p>
            <a:pPr algn="ctr" indent="0" marL="0">
              <a:buNone/>
            </a:pPr>
            <a:r>
              <a:rPr lang="en-US" sz="1300" b="1" dirty="0">
                <a:solidFill>
                  <a:srgbClr val="E85D04"/>
                </a:solidFill>
                <a:latin typeface="Calibri" pitchFamily="34" charset="0"/>
                <a:ea typeface="Calibri" pitchFamily="34" charset="-122"/>
                <a:cs typeface="Calibri" pitchFamily="34" charset="-120"/>
              </a:rPr>
              <a:t>→</a:t>
            </a:r>
            <a:endParaRPr lang="en-US" sz="1300" dirty="0"/>
          </a:p>
        </p:txBody>
      </p:sp>
      <p:sp>
        <p:nvSpPr>
          <p:cNvPr id="19" name="Shape 17"/>
          <p:cNvSpPr/>
          <p:nvPr/>
        </p:nvSpPr>
        <p:spPr>
          <a:xfrm>
            <a:off x="3785616" y="1417320"/>
            <a:ext cx="1572768" cy="3108960"/>
          </a:xfrm>
          <a:prstGeom prst="rect">
            <a:avLst/>
          </a:prstGeom>
          <a:solidFill>
            <a:srgbClr val="FFFFFF"/>
          </a:solidFill>
          <a:ln w="12700">
            <a:solidFill>
              <a:srgbClr val="FFFFFF"/>
            </a:solidFill>
            <a:prstDash val="solid"/>
          </a:ln>
        </p:spPr>
      </p:sp>
      <p:sp>
        <p:nvSpPr>
          <p:cNvPr id="20" name="Shape 18"/>
          <p:cNvSpPr/>
          <p:nvPr/>
        </p:nvSpPr>
        <p:spPr>
          <a:xfrm>
            <a:off x="3785616" y="1417320"/>
            <a:ext cx="1572768" cy="274320"/>
          </a:xfrm>
          <a:prstGeom prst="rect">
            <a:avLst/>
          </a:prstGeom>
          <a:solidFill>
            <a:srgbClr val="7C3AED"/>
          </a:solidFill>
          <a:ln w="12700">
            <a:solidFill>
              <a:srgbClr val="7C3AED"/>
            </a:solidFill>
            <a:prstDash val="solid"/>
          </a:ln>
        </p:spPr>
      </p:sp>
      <p:sp>
        <p:nvSpPr>
          <p:cNvPr id="21" name="Text 19"/>
          <p:cNvSpPr/>
          <p:nvPr/>
        </p:nvSpPr>
        <p:spPr>
          <a:xfrm>
            <a:off x="3877056" y="1737360"/>
            <a:ext cx="1389888" cy="274320"/>
          </a:xfrm>
          <a:prstGeom prst="rect">
            <a:avLst/>
          </a:prstGeom>
          <a:noFill/>
          <a:ln/>
        </p:spPr>
        <p:txBody>
          <a:bodyPr wrap="square" lIns="0" tIns="0" rIns="0" bIns="0" rtlCol="0" anchor="ctr"/>
          <a:lstStyle/>
          <a:p>
            <a:pPr algn="l" indent="0" marL="0">
              <a:buNone/>
            </a:pPr>
            <a:r>
              <a:rPr lang="en-US" sz="950" b="1" dirty="0">
                <a:solidFill>
                  <a:srgbClr val="7C3AED"/>
                </a:solidFill>
                <a:latin typeface="Calibri" pitchFamily="34" charset="0"/>
                <a:ea typeface="Calibri" pitchFamily="34" charset="-122"/>
                <a:cs typeface="Calibri" pitchFamily="34" charset="-120"/>
              </a:rPr>
              <a:t>Week 4</a:t>
            </a:r>
            <a:endParaRPr lang="en-US" sz="950" dirty="0"/>
          </a:p>
        </p:txBody>
      </p:sp>
      <p:sp>
        <p:nvSpPr>
          <p:cNvPr id="22" name="Text 20"/>
          <p:cNvSpPr/>
          <p:nvPr/>
        </p:nvSpPr>
        <p:spPr>
          <a:xfrm>
            <a:off x="3877056" y="2039112"/>
            <a:ext cx="1389888" cy="713232"/>
          </a:xfrm>
          <a:prstGeom prst="rect">
            <a:avLst/>
          </a:prstGeom>
          <a:noFill/>
          <a:ln/>
        </p:spPr>
        <p:txBody>
          <a:bodyPr wrap="square" lIns="0" tIns="0" rIns="0" bIns="0" rtlCol="0" anchor="ctr"/>
          <a:lstStyle/>
          <a:p>
            <a:pPr algn="l" indent="0" marL="0">
              <a:buNone/>
            </a:pPr>
            <a:r>
              <a:rPr lang="en-US" sz="1500" b="1" dirty="0">
                <a:solidFill>
                  <a:srgbClr val="1A1F2E"/>
                </a:solidFill>
                <a:latin typeface="Georgia" pitchFamily="34" charset="0"/>
                <a:ea typeface="Georgia" pitchFamily="34" charset="-122"/>
                <a:cs typeface="Georgia" pitchFamily="34" charset="-120"/>
              </a:rPr>
              <a:t>Diagnosis</a:t>
            </a:r>
            <a:endParaRPr lang="en-US" sz="1500" dirty="0"/>
          </a:p>
          <a:p>
            <a:pPr algn="l" indent="0" marL="0">
              <a:buNone/>
            </a:pPr>
            <a:r>
              <a:rPr lang="en-US" sz="1500" b="1" dirty="0">
                <a:solidFill>
                  <a:srgbClr val="1A1F2E"/>
                </a:solidFill>
                <a:latin typeface="Georgia" pitchFamily="34" charset="0"/>
                <a:ea typeface="Georgia" pitchFamily="34" charset="-122"/>
                <a:cs typeface="Georgia" pitchFamily="34" charset="-120"/>
              </a:rPr>
              <a:t>Session</a:t>
            </a:r>
            <a:endParaRPr lang="en-US" sz="1500" dirty="0"/>
          </a:p>
        </p:txBody>
      </p:sp>
      <p:sp>
        <p:nvSpPr>
          <p:cNvPr id="23" name="Shape 21"/>
          <p:cNvSpPr/>
          <p:nvPr/>
        </p:nvSpPr>
        <p:spPr>
          <a:xfrm>
            <a:off x="3877056" y="2788920"/>
            <a:ext cx="1389888" cy="18288"/>
          </a:xfrm>
          <a:prstGeom prst="rect">
            <a:avLst/>
          </a:prstGeom>
          <a:solidFill>
            <a:srgbClr val="E2E8F0"/>
          </a:solidFill>
          <a:ln w="12700">
            <a:solidFill>
              <a:srgbClr val="E2E8F0"/>
            </a:solidFill>
            <a:prstDash val="solid"/>
          </a:ln>
        </p:spPr>
      </p:sp>
      <p:sp>
        <p:nvSpPr>
          <p:cNvPr id="24" name="Text 22"/>
          <p:cNvSpPr/>
          <p:nvPr/>
        </p:nvSpPr>
        <p:spPr>
          <a:xfrm>
            <a:off x="3877056" y="2880360"/>
            <a:ext cx="1389888" cy="1554480"/>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Module 3: Name the gap — tool ceiling, measurement gap, or intent gap.</a:t>
            </a:r>
            <a:endParaRPr lang="en-US" sz="1050" dirty="0"/>
          </a:p>
        </p:txBody>
      </p:sp>
      <p:sp>
        <p:nvSpPr>
          <p:cNvPr id="25" name="Text 23"/>
          <p:cNvSpPr/>
          <p:nvPr/>
        </p:nvSpPr>
        <p:spPr>
          <a:xfrm>
            <a:off x="5358384" y="2834640"/>
            <a:ext cx="137160" cy="365760"/>
          </a:xfrm>
          <a:prstGeom prst="rect">
            <a:avLst/>
          </a:prstGeom>
          <a:noFill/>
          <a:ln/>
        </p:spPr>
        <p:txBody>
          <a:bodyPr wrap="square" lIns="0" tIns="0" rIns="0" bIns="0" rtlCol="0" anchor="ctr"/>
          <a:lstStyle/>
          <a:p>
            <a:pPr algn="ctr" indent="0" marL="0">
              <a:buNone/>
            </a:pPr>
            <a:r>
              <a:rPr lang="en-US" sz="1300" b="1" dirty="0">
                <a:solidFill>
                  <a:srgbClr val="E85D04"/>
                </a:solidFill>
                <a:latin typeface="Calibri" pitchFamily="34" charset="0"/>
                <a:ea typeface="Calibri" pitchFamily="34" charset="-122"/>
                <a:cs typeface="Calibri" pitchFamily="34" charset="-120"/>
              </a:rPr>
              <a:t>→</a:t>
            </a:r>
            <a:endParaRPr lang="en-US" sz="1300" dirty="0"/>
          </a:p>
        </p:txBody>
      </p:sp>
      <p:sp>
        <p:nvSpPr>
          <p:cNvPr id="26" name="Shape 24"/>
          <p:cNvSpPr/>
          <p:nvPr/>
        </p:nvSpPr>
        <p:spPr>
          <a:xfrm>
            <a:off x="5495544" y="1417320"/>
            <a:ext cx="1572768" cy="3108960"/>
          </a:xfrm>
          <a:prstGeom prst="rect">
            <a:avLst/>
          </a:prstGeom>
          <a:solidFill>
            <a:srgbClr val="FFFFFF"/>
          </a:solidFill>
          <a:ln w="12700">
            <a:solidFill>
              <a:srgbClr val="FFFFFF"/>
            </a:solidFill>
            <a:prstDash val="solid"/>
          </a:ln>
        </p:spPr>
      </p:sp>
      <p:sp>
        <p:nvSpPr>
          <p:cNvPr id="27" name="Shape 25"/>
          <p:cNvSpPr/>
          <p:nvPr/>
        </p:nvSpPr>
        <p:spPr>
          <a:xfrm>
            <a:off x="5495544" y="1417320"/>
            <a:ext cx="1572768" cy="274320"/>
          </a:xfrm>
          <a:prstGeom prst="rect">
            <a:avLst/>
          </a:prstGeom>
          <a:solidFill>
            <a:srgbClr val="D97706"/>
          </a:solidFill>
          <a:ln w="12700">
            <a:solidFill>
              <a:srgbClr val="D97706"/>
            </a:solidFill>
            <a:prstDash val="solid"/>
          </a:ln>
        </p:spPr>
      </p:sp>
      <p:sp>
        <p:nvSpPr>
          <p:cNvPr id="28" name="Text 26"/>
          <p:cNvSpPr/>
          <p:nvPr/>
        </p:nvSpPr>
        <p:spPr>
          <a:xfrm>
            <a:off x="5586984" y="1737360"/>
            <a:ext cx="1389888" cy="274320"/>
          </a:xfrm>
          <a:prstGeom prst="rect">
            <a:avLst/>
          </a:prstGeom>
          <a:noFill/>
          <a:ln/>
        </p:spPr>
        <p:txBody>
          <a:bodyPr wrap="square" lIns="0" tIns="0" rIns="0" bIns="0" rtlCol="0" anchor="ctr"/>
          <a:lstStyle/>
          <a:p>
            <a:pPr algn="l" indent="0" marL="0">
              <a:buNone/>
            </a:pPr>
            <a:r>
              <a:rPr lang="en-US" sz="950" b="1" dirty="0">
                <a:solidFill>
                  <a:srgbClr val="D97706"/>
                </a:solidFill>
                <a:latin typeface="Calibri" pitchFamily="34" charset="0"/>
                <a:ea typeface="Calibri" pitchFamily="34" charset="-122"/>
                <a:cs typeface="Calibri" pitchFamily="34" charset="-120"/>
              </a:rPr>
              <a:t>Weeks 5–6</a:t>
            </a:r>
            <a:endParaRPr lang="en-US" sz="950" dirty="0"/>
          </a:p>
        </p:txBody>
      </p:sp>
      <p:sp>
        <p:nvSpPr>
          <p:cNvPr id="29" name="Text 27"/>
          <p:cNvSpPr/>
          <p:nvPr/>
        </p:nvSpPr>
        <p:spPr>
          <a:xfrm>
            <a:off x="5586984" y="2039112"/>
            <a:ext cx="1389888" cy="713232"/>
          </a:xfrm>
          <a:prstGeom prst="rect">
            <a:avLst/>
          </a:prstGeom>
          <a:noFill/>
          <a:ln/>
        </p:spPr>
        <p:txBody>
          <a:bodyPr wrap="square" lIns="0" tIns="0" rIns="0" bIns="0" rtlCol="0" anchor="ctr"/>
          <a:lstStyle/>
          <a:p>
            <a:pPr algn="l" indent="0" marL="0">
              <a:buNone/>
            </a:pPr>
            <a:r>
              <a:rPr lang="en-US" sz="1500" b="1" dirty="0">
                <a:solidFill>
                  <a:srgbClr val="1A1F2E"/>
                </a:solidFill>
                <a:latin typeface="Georgia" pitchFamily="34" charset="0"/>
                <a:ea typeface="Georgia" pitchFamily="34" charset="-122"/>
                <a:cs typeface="Georgia" pitchFamily="34" charset="-120"/>
              </a:rPr>
              <a:t>Path Design</a:t>
            </a:r>
            <a:endParaRPr lang="en-US" sz="1500" dirty="0"/>
          </a:p>
          <a:p>
            <a:pPr algn="l" indent="0" marL="0">
              <a:buNone/>
            </a:pPr>
            <a:r>
              <a:rPr lang="en-US" sz="1500" b="1" dirty="0">
                <a:solidFill>
                  <a:srgbClr val="1A1F2E"/>
                </a:solidFill>
                <a:latin typeface="Georgia" pitchFamily="34" charset="0"/>
                <a:ea typeface="Georgia" pitchFamily="34" charset="-122"/>
                <a:cs typeface="Georgia" pitchFamily="34" charset="-120"/>
              </a:rPr>
              <a:t>Workshop</a:t>
            </a:r>
            <a:endParaRPr lang="en-US" sz="1500" dirty="0"/>
          </a:p>
        </p:txBody>
      </p:sp>
      <p:sp>
        <p:nvSpPr>
          <p:cNvPr id="30" name="Shape 28"/>
          <p:cNvSpPr/>
          <p:nvPr/>
        </p:nvSpPr>
        <p:spPr>
          <a:xfrm>
            <a:off x="5586984" y="2788920"/>
            <a:ext cx="1389888" cy="18288"/>
          </a:xfrm>
          <a:prstGeom prst="rect">
            <a:avLst/>
          </a:prstGeom>
          <a:solidFill>
            <a:srgbClr val="E2E8F0"/>
          </a:solidFill>
          <a:ln w="12700">
            <a:solidFill>
              <a:srgbClr val="E2E8F0"/>
            </a:solidFill>
            <a:prstDash val="solid"/>
          </a:ln>
        </p:spPr>
      </p:sp>
      <p:sp>
        <p:nvSpPr>
          <p:cNvPr id="31" name="Text 29"/>
          <p:cNvSpPr/>
          <p:nvPr/>
        </p:nvSpPr>
        <p:spPr>
          <a:xfrm>
            <a:off x="5586984" y="2880360"/>
            <a:ext cx="1389888" cy="1554480"/>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Module 4: Design the three-phase path with measurement system and first actions.</a:t>
            </a:r>
            <a:endParaRPr lang="en-US" sz="1050" dirty="0"/>
          </a:p>
        </p:txBody>
      </p:sp>
      <p:sp>
        <p:nvSpPr>
          <p:cNvPr id="32" name="Text 30"/>
          <p:cNvSpPr/>
          <p:nvPr/>
        </p:nvSpPr>
        <p:spPr>
          <a:xfrm>
            <a:off x="7068312" y="2834640"/>
            <a:ext cx="137160" cy="365760"/>
          </a:xfrm>
          <a:prstGeom prst="rect">
            <a:avLst/>
          </a:prstGeom>
          <a:noFill/>
          <a:ln/>
        </p:spPr>
        <p:txBody>
          <a:bodyPr wrap="square" lIns="0" tIns="0" rIns="0" bIns="0" rtlCol="0" anchor="ctr"/>
          <a:lstStyle/>
          <a:p>
            <a:pPr algn="ctr" indent="0" marL="0">
              <a:buNone/>
            </a:pPr>
            <a:r>
              <a:rPr lang="en-US" sz="1300" b="1" dirty="0">
                <a:solidFill>
                  <a:srgbClr val="E85D04"/>
                </a:solidFill>
                <a:latin typeface="Calibri" pitchFamily="34" charset="0"/>
                <a:ea typeface="Calibri" pitchFamily="34" charset="-122"/>
                <a:cs typeface="Calibri" pitchFamily="34" charset="-120"/>
              </a:rPr>
              <a:t>→</a:t>
            </a:r>
            <a:endParaRPr lang="en-US" sz="1300" dirty="0"/>
          </a:p>
        </p:txBody>
      </p:sp>
      <p:sp>
        <p:nvSpPr>
          <p:cNvPr id="33" name="Shape 31"/>
          <p:cNvSpPr/>
          <p:nvPr/>
        </p:nvSpPr>
        <p:spPr>
          <a:xfrm>
            <a:off x="7205472" y="1417320"/>
            <a:ext cx="1572768" cy="3108960"/>
          </a:xfrm>
          <a:prstGeom prst="rect">
            <a:avLst/>
          </a:prstGeom>
          <a:solidFill>
            <a:srgbClr val="FFFFFF"/>
          </a:solidFill>
          <a:ln w="12700">
            <a:solidFill>
              <a:srgbClr val="FFFFFF"/>
            </a:solidFill>
            <a:prstDash val="solid"/>
          </a:ln>
        </p:spPr>
      </p:sp>
      <p:sp>
        <p:nvSpPr>
          <p:cNvPr id="34" name="Shape 32"/>
          <p:cNvSpPr/>
          <p:nvPr/>
        </p:nvSpPr>
        <p:spPr>
          <a:xfrm>
            <a:off x="7205472" y="1417320"/>
            <a:ext cx="1572768" cy="274320"/>
          </a:xfrm>
          <a:prstGeom prst="rect">
            <a:avLst/>
          </a:prstGeom>
          <a:solidFill>
            <a:srgbClr val="1D4ED8"/>
          </a:solidFill>
          <a:ln w="12700">
            <a:solidFill>
              <a:srgbClr val="1D4ED8"/>
            </a:solidFill>
            <a:prstDash val="solid"/>
          </a:ln>
        </p:spPr>
      </p:sp>
      <p:sp>
        <p:nvSpPr>
          <p:cNvPr id="35" name="Text 33"/>
          <p:cNvSpPr/>
          <p:nvPr/>
        </p:nvSpPr>
        <p:spPr>
          <a:xfrm>
            <a:off x="7296912" y="1737360"/>
            <a:ext cx="1389888" cy="274320"/>
          </a:xfrm>
          <a:prstGeom prst="rect">
            <a:avLst/>
          </a:prstGeom>
          <a:noFill/>
          <a:ln/>
        </p:spPr>
        <p:txBody>
          <a:bodyPr wrap="square" lIns="0" tIns="0" rIns="0" bIns="0" rtlCol="0" anchor="ctr"/>
          <a:lstStyle/>
          <a:p>
            <a:pPr algn="l" indent="0" marL="0">
              <a:buNone/>
            </a:pPr>
            <a:r>
              <a:rPr lang="en-US" sz="950" b="1" dirty="0">
                <a:solidFill>
                  <a:srgbClr val="1D4ED8"/>
                </a:solidFill>
                <a:latin typeface="Calibri" pitchFamily="34" charset="0"/>
                <a:ea typeface="Calibri" pitchFamily="34" charset="-122"/>
                <a:cs typeface="Calibri" pitchFamily="34" charset="-120"/>
              </a:rPr>
              <a:t>Ongoing</a:t>
            </a:r>
            <a:endParaRPr lang="en-US" sz="950" dirty="0"/>
          </a:p>
        </p:txBody>
      </p:sp>
      <p:sp>
        <p:nvSpPr>
          <p:cNvPr id="36" name="Text 34"/>
          <p:cNvSpPr/>
          <p:nvPr/>
        </p:nvSpPr>
        <p:spPr>
          <a:xfrm>
            <a:off x="7296912" y="2039112"/>
            <a:ext cx="1389888" cy="713232"/>
          </a:xfrm>
          <a:prstGeom prst="rect">
            <a:avLst/>
          </a:prstGeom>
          <a:noFill/>
          <a:ln/>
        </p:spPr>
        <p:txBody>
          <a:bodyPr wrap="square" lIns="0" tIns="0" rIns="0" bIns="0" rtlCol="0" anchor="ctr"/>
          <a:lstStyle/>
          <a:p>
            <a:pPr algn="l" indent="0" marL="0">
              <a:buNone/>
            </a:pPr>
            <a:r>
              <a:rPr lang="en-US" sz="1500" b="1" dirty="0">
                <a:solidFill>
                  <a:srgbClr val="1A1F2E"/>
                </a:solidFill>
                <a:latin typeface="Georgia" pitchFamily="34" charset="0"/>
                <a:ea typeface="Georgia" pitchFamily="34" charset="-122"/>
                <a:cs typeface="Georgia" pitchFamily="34" charset="-120"/>
              </a:rPr>
              <a:t>Build for</a:t>
            </a:r>
            <a:endParaRPr lang="en-US" sz="1500" dirty="0"/>
          </a:p>
          <a:p>
            <a:pPr algn="l" indent="0" marL="0">
              <a:buNone/>
            </a:pPr>
            <a:r>
              <a:rPr lang="en-US" sz="1500" b="1" dirty="0">
                <a:solidFill>
                  <a:srgbClr val="1A1F2E"/>
                </a:solidFill>
                <a:latin typeface="Georgia" pitchFamily="34" charset="0"/>
                <a:ea typeface="Georgia" pitchFamily="34" charset="-122"/>
                <a:cs typeface="Georgia" pitchFamily="34" charset="-120"/>
              </a:rPr>
              <a:t>What's Coming</a:t>
            </a:r>
            <a:endParaRPr lang="en-US" sz="1500" dirty="0"/>
          </a:p>
        </p:txBody>
      </p:sp>
      <p:sp>
        <p:nvSpPr>
          <p:cNvPr id="37" name="Shape 35"/>
          <p:cNvSpPr/>
          <p:nvPr/>
        </p:nvSpPr>
        <p:spPr>
          <a:xfrm>
            <a:off x="7296912" y="2788920"/>
            <a:ext cx="1389888" cy="18288"/>
          </a:xfrm>
          <a:prstGeom prst="rect">
            <a:avLst/>
          </a:prstGeom>
          <a:solidFill>
            <a:srgbClr val="E2E8F0"/>
          </a:solidFill>
          <a:ln w="12700">
            <a:solidFill>
              <a:srgbClr val="E2E8F0"/>
            </a:solidFill>
            <a:prstDash val="solid"/>
          </a:ln>
        </p:spPr>
      </p:sp>
      <p:sp>
        <p:nvSpPr>
          <p:cNvPr id="38" name="Text 36"/>
          <p:cNvSpPr/>
          <p:nvPr/>
        </p:nvSpPr>
        <p:spPr>
          <a:xfrm>
            <a:off x="7296912" y="2880360"/>
            <a:ext cx="1389888" cy="1554480"/>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Module 5: Org intent infrastructure, governance architecture, sustainability planning.</a:t>
            </a:r>
            <a:endParaRPr lang="en-US" sz="1050" dirty="0"/>
          </a:p>
        </p:txBody>
      </p:sp>
      <p:sp>
        <p:nvSpPr>
          <p:cNvPr id="39" name="Shape 37"/>
          <p:cNvSpPr/>
          <p:nvPr/>
        </p:nvSpPr>
        <p:spPr>
          <a:xfrm>
            <a:off x="365760" y="4645152"/>
            <a:ext cx="8412480" cy="384048"/>
          </a:xfrm>
          <a:prstGeom prst="rect">
            <a:avLst/>
          </a:prstGeom>
          <a:solidFill>
            <a:srgbClr val="0D1421"/>
          </a:solidFill>
          <a:ln w="12700">
            <a:solidFill>
              <a:srgbClr val="0D1421"/>
            </a:solidFill>
            <a:prstDash val="solid"/>
          </a:ln>
        </p:spPr>
      </p:sp>
      <p:sp>
        <p:nvSpPr>
          <p:cNvPr id="40" name="Text 38"/>
          <p:cNvSpPr/>
          <p:nvPr/>
        </p:nvSpPr>
        <p:spPr>
          <a:xfrm>
            <a:off x="594360" y="4700016"/>
            <a:ext cx="7955280" cy="274320"/>
          </a:xfrm>
          <a:prstGeom prst="rect">
            <a:avLst/>
          </a:prstGeom>
          <a:noFill/>
          <a:ln/>
        </p:spPr>
        <p:txBody>
          <a:bodyPr wrap="square" lIns="0" tIns="0" rIns="0" bIns="0" rtlCol="0" anchor="ctr"/>
          <a:lstStyle/>
          <a:p>
            <a:pPr algn="l" indent="0" marL="0">
              <a:buNone/>
            </a:pPr>
            <a:r>
              <a:rPr lang="en-US" sz="1250" dirty="0">
                <a:solidFill>
                  <a:srgbClr val="FFFFFF"/>
                </a:solidFill>
                <a:latin typeface="Calibri" pitchFamily="34" charset="0"/>
                <a:ea typeface="Calibri" pitchFamily="34" charset="-122"/>
                <a:cs typeface="Calibri" pitchFamily="34" charset="-120"/>
              </a:rPr>
              <a:t>The entry point is a conversation. Every organization's path is different. The framework is the same.</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Shape 1"/>
          <p:cNvSpPr/>
          <p:nvPr/>
        </p:nvSpPr>
        <p:spPr>
          <a:xfrm>
            <a:off x="6858000" y="0"/>
            <a:ext cx="2286000" cy="5143500"/>
          </a:xfrm>
          <a:prstGeom prst="rect">
            <a:avLst/>
          </a:prstGeom>
          <a:solidFill>
            <a:srgbClr val="090F1A"/>
          </a:solidFill>
          <a:ln w="12700">
            <a:solidFill>
              <a:srgbClr val="090F1A"/>
            </a:solidFill>
            <a:prstDash val="solid"/>
          </a:ln>
        </p:spPr>
      </p:sp>
      <p:sp>
        <p:nvSpPr>
          <p:cNvPr id="4" name="Text 2"/>
          <p:cNvSpPr/>
          <p:nvPr/>
        </p:nvSpPr>
        <p:spPr>
          <a:xfrm>
            <a:off x="457200" y="502920"/>
            <a:ext cx="5943600" cy="347472"/>
          </a:xfrm>
          <a:prstGeom prst="rect">
            <a:avLst/>
          </a:prstGeom>
          <a:noFill/>
          <a:ln/>
        </p:spPr>
        <p:txBody>
          <a:bodyPr wrap="square" lIns="0" tIns="0" rIns="0" bIns="0" rtlCol="0" anchor="ctr"/>
          <a:lstStyle/>
          <a:p>
            <a:pPr algn="l" indent="0" marL="0">
              <a:buNone/>
            </a:pPr>
            <a:r>
              <a:rPr lang="en-US" sz="1100" b="1" spc="350" kern="0" dirty="0">
                <a:solidFill>
                  <a:srgbClr val="E85D04"/>
                </a:solidFill>
                <a:latin typeface="Calibri" pitchFamily="34" charset="0"/>
                <a:ea typeface="Calibri" pitchFamily="34" charset="-122"/>
                <a:cs typeface="Calibri" pitchFamily="34" charset="-120"/>
              </a:rPr>
              <a:t>SUPER BY DESIGN</a:t>
            </a:r>
            <a:endParaRPr lang="en-US" sz="1100" dirty="0"/>
          </a:p>
        </p:txBody>
      </p:sp>
      <p:sp>
        <p:nvSpPr>
          <p:cNvPr id="5" name="Text 3"/>
          <p:cNvSpPr/>
          <p:nvPr/>
        </p:nvSpPr>
        <p:spPr>
          <a:xfrm>
            <a:off x="457200" y="960120"/>
            <a:ext cx="5943600" cy="621792"/>
          </a:xfrm>
          <a:prstGeom prst="rect">
            <a:avLst/>
          </a:prstGeom>
          <a:noFill/>
          <a:ln/>
        </p:spPr>
        <p:txBody>
          <a:bodyPr wrap="square" lIns="0" tIns="0" rIns="0" bIns="0" rtlCol="0" anchor="ctr"/>
          <a:lstStyle/>
          <a:p>
            <a:pPr algn="l" indent="0" marL="0">
              <a:buNone/>
            </a:pPr>
            <a:r>
              <a:rPr lang="en-US" sz="3800" b="1" dirty="0">
                <a:solidFill>
                  <a:srgbClr val="FFFFFF"/>
                </a:solidFill>
                <a:latin typeface="Georgia" pitchFamily="34" charset="0"/>
                <a:ea typeface="Georgia" pitchFamily="34" charset="-122"/>
                <a:cs typeface="Georgia" pitchFamily="34" charset="-120"/>
              </a:rPr>
              <a:t>Maicol Parker-Chavez</a:t>
            </a:r>
            <a:endParaRPr lang="en-US" sz="3800" dirty="0"/>
          </a:p>
        </p:txBody>
      </p:sp>
      <p:sp>
        <p:nvSpPr>
          <p:cNvPr id="6" name="Shape 4"/>
          <p:cNvSpPr/>
          <p:nvPr/>
        </p:nvSpPr>
        <p:spPr>
          <a:xfrm>
            <a:off x="457200" y="1691640"/>
            <a:ext cx="5943600" cy="27432"/>
          </a:xfrm>
          <a:prstGeom prst="rect">
            <a:avLst/>
          </a:prstGeom>
          <a:solidFill>
            <a:srgbClr val="E85D04"/>
          </a:solidFill>
          <a:ln w="12700">
            <a:solidFill>
              <a:srgbClr val="E85D04"/>
            </a:solidFill>
            <a:prstDash val="solid"/>
          </a:ln>
        </p:spPr>
      </p:sp>
      <p:sp>
        <p:nvSpPr>
          <p:cNvPr id="7" name="Text 5"/>
          <p:cNvSpPr/>
          <p:nvPr/>
        </p:nvSpPr>
        <p:spPr>
          <a:xfrm>
            <a:off x="457200" y="1828800"/>
            <a:ext cx="5943600" cy="1188720"/>
          </a:xfrm>
          <a:prstGeom prst="rect">
            <a:avLst/>
          </a:prstGeom>
          <a:noFill/>
          <a:ln/>
        </p:spPr>
        <p:txBody>
          <a:bodyPr wrap="square" lIns="0" tIns="0" rIns="0" bIns="0" rtlCol="0" anchor="t"/>
          <a:lstStyle/>
          <a:p>
            <a:pPr algn="l" indent="0" marL="0">
              <a:buNone/>
            </a:pPr>
            <a:r>
              <a:rPr lang="en-US" sz="1350" dirty="0">
                <a:solidFill>
                  <a:srgbClr val="8BA3C0"/>
                </a:solidFill>
                <a:latin typeface="Calibri" pitchFamily="34" charset="0"/>
                <a:ea typeface="Calibri" pitchFamily="34" charset="-122"/>
                <a:cs typeface="Calibri" pitchFamily="34" charset="-120"/>
              </a:rPr>
              <a:t>Product and innovation strategist with 24 years in product design and design thinking facilitation. Focused on helping enterprise organizations turn AI investment into organizational results — bridging business goals, technical feasibility, and human experience.</a:t>
            </a:r>
            <a:endParaRPr lang="en-US" sz="1350" dirty="0"/>
          </a:p>
        </p:txBody>
      </p:sp>
      <p:sp>
        <p:nvSpPr>
          <p:cNvPr id="8" name="Text 6"/>
          <p:cNvSpPr/>
          <p:nvPr/>
        </p:nvSpPr>
        <p:spPr>
          <a:xfrm>
            <a:off x="457200" y="3127248"/>
            <a:ext cx="5943600" cy="347472"/>
          </a:xfrm>
          <a:prstGeom prst="rect">
            <a:avLst/>
          </a:prstGeom>
          <a:noFill/>
          <a:ln/>
        </p:spPr>
        <p:txBody>
          <a:bodyPr wrap="square" lIns="0" tIns="0" rIns="0" bIns="0" rtlCol="0" anchor="ctr"/>
          <a:lstStyle/>
          <a:p>
            <a:pPr algn="l" indent="0" marL="0">
              <a:buNone/>
            </a:pPr>
            <a:r>
              <a:rPr lang="en-US" sz="1400" b="1" dirty="0">
                <a:solidFill>
                  <a:srgbClr val="FFFFFF"/>
                </a:solidFill>
                <a:latin typeface="Georgia" pitchFamily="34" charset="0"/>
                <a:ea typeface="Georgia" pitchFamily="34" charset="-122"/>
                <a:cs typeface="Georgia" pitchFamily="34" charset="-120"/>
              </a:rPr>
              <a:t>What Super by Design offers:</a:t>
            </a:r>
            <a:endParaRPr lang="en-US" sz="1400" dirty="0"/>
          </a:p>
        </p:txBody>
      </p:sp>
      <p:sp>
        <p:nvSpPr>
          <p:cNvPr id="9" name="Text 7"/>
          <p:cNvSpPr/>
          <p:nvPr/>
        </p:nvSpPr>
        <p:spPr>
          <a:xfrm>
            <a:off x="457200" y="3520440"/>
            <a:ext cx="5943600" cy="868680"/>
          </a:xfrm>
          <a:prstGeom prst="rect">
            <a:avLst/>
          </a:prstGeom>
          <a:noFill/>
          <a:ln/>
        </p:spPr>
        <p:txBody>
          <a:bodyPr wrap="square" lIns="0" tIns="0" rIns="0" bIns="0" rtlCol="0" anchor="ctr"/>
          <a:lstStyle/>
          <a:p>
            <a:pPr algn="l" indent="0" marL="0">
              <a:buNone/>
            </a:pPr>
            <a:r>
              <a:rPr lang="en-US" sz="1300" dirty="0">
                <a:solidFill>
                  <a:srgbClr val="94A3B8"/>
                </a:solidFill>
                <a:latin typeface="Calibri" pitchFamily="34" charset="0"/>
                <a:ea typeface="Calibri" pitchFamily="34" charset="-122"/>
                <a:cs typeface="Calibri" pitchFamily="34" charset="-120"/>
              </a:rPr>
              <a:t>· Facilitated Intent Architecture workshops</a:t>
            </a:r>
            <a:endParaRPr lang="en-US" sz="1300" dirty="0"/>
          </a:p>
          <a:p>
            <a:pPr algn="l" indent="0" marL="0">
              <a:buNone/>
            </a:pPr>
            <a:r>
              <a:rPr lang="en-US" sz="1300" dirty="0">
                <a:solidFill>
                  <a:srgbClr val="94A3B8"/>
                </a:solidFill>
                <a:latin typeface="Calibri" pitchFamily="34" charset="0"/>
                <a:ea typeface="Calibri" pitchFamily="34" charset="-122"/>
                <a:cs typeface="Calibri" pitchFamily="34" charset="-120"/>
              </a:rPr>
              <a:t>· AI strategy audits and gap diagnosis</a:t>
            </a:r>
            <a:endParaRPr lang="en-US" sz="1300" dirty="0"/>
          </a:p>
          <a:p>
            <a:pPr algn="l" indent="0" marL="0">
              <a:buNone/>
            </a:pPr>
            <a:r>
              <a:rPr lang="en-US" sz="1300" dirty="0">
                <a:solidFill>
                  <a:srgbClr val="94A3B8"/>
                </a:solidFill>
                <a:latin typeface="Calibri" pitchFamily="34" charset="0"/>
                <a:ea typeface="Calibri" pitchFamily="34" charset="-122"/>
                <a:cs typeface="Calibri" pitchFamily="34" charset="-120"/>
              </a:rPr>
              <a:t>· Roadmap design for pilot-to-scale transformation</a:t>
            </a:r>
            <a:endParaRPr lang="en-US" sz="1300" dirty="0"/>
          </a:p>
        </p:txBody>
      </p:sp>
      <p:sp>
        <p:nvSpPr>
          <p:cNvPr id="10" name="Shape 8"/>
          <p:cNvSpPr/>
          <p:nvPr/>
        </p:nvSpPr>
        <p:spPr>
          <a:xfrm>
            <a:off x="457200" y="4498848"/>
            <a:ext cx="5943600" cy="438912"/>
          </a:xfrm>
          <a:prstGeom prst="rect">
            <a:avLst/>
          </a:prstGeom>
          <a:solidFill>
            <a:srgbClr val="1A2B44"/>
          </a:solidFill>
          <a:ln w="12700">
            <a:solidFill>
              <a:srgbClr val="1A2B44"/>
            </a:solidFill>
            <a:prstDash val="solid"/>
          </a:ln>
        </p:spPr>
      </p:sp>
      <p:sp>
        <p:nvSpPr>
          <p:cNvPr id="11" name="Text 9"/>
          <p:cNvSpPr/>
          <p:nvPr/>
        </p:nvSpPr>
        <p:spPr>
          <a:xfrm>
            <a:off x="594360" y="4572000"/>
            <a:ext cx="5669280" cy="292608"/>
          </a:xfrm>
          <a:prstGeom prst="rect">
            <a:avLst/>
          </a:prstGeom>
          <a:noFill/>
          <a:ln/>
        </p:spPr>
        <p:txBody>
          <a:bodyPr wrap="square" lIns="0" tIns="0" rIns="0" bIns="0" rtlCol="0" anchor="ctr"/>
          <a:lstStyle/>
          <a:p>
            <a:pPr algn="l" indent="0" marL="0">
              <a:buNone/>
            </a:pPr>
            <a:r>
              <a:rPr lang="en-US" sz="1200" dirty="0">
                <a:solidFill>
                  <a:srgbClr val="E85D04"/>
                </a:solidFill>
                <a:latin typeface="Calibri" pitchFamily="34" charset="0"/>
                <a:ea typeface="Calibri" pitchFamily="34" charset="-122"/>
                <a:cs typeface="Calibri" pitchFamily="34" charset="-120"/>
              </a:rPr>
              <a:t>superbydesign.com  ·  mparkerchavez@gmail.com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Intent Architecture</dc:title>
  <dc:subject>PptxGenJS Presentation</dc:subject>
  <dc:creator>Maicol Parker-Chavez</dc:creator>
  <cp:lastModifiedBy>Maicol Parker-Chavez</cp:lastModifiedBy>
  <cp:revision>1</cp:revision>
  <dcterms:created xsi:type="dcterms:W3CDTF">2026-03-07T03:55:24Z</dcterms:created>
  <dcterms:modified xsi:type="dcterms:W3CDTF">2026-03-07T03:55:24Z</dcterms:modified>
</cp:coreProperties>
</file>